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304" r:id="rId4"/>
    <p:sldId id="300" r:id="rId5"/>
    <p:sldId id="299" r:id="rId6"/>
    <p:sldId id="297" r:id="rId7"/>
    <p:sldId id="298" r:id="rId8"/>
    <p:sldId id="294" r:id="rId9"/>
    <p:sldId id="291" r:id="rId10"/>
    <p:sldId id="292" r:id="rId11"/>
    <p:sldId id="293" r:id="rId12"/>
    <p:sldId id="301" r:id="rId13"/>
    <p:sldId id="296" r:id="rId14"/>
    <p:sldId id="295" r:id="rId15"/>
    <p:sldId id="287" r:id="rId16"/>
    <p:sldId id="289" r:id="rId17"/>
    <p:sldId id="288" r:id="rId18"/>
    <p:sldId id="284" r:id="rId19"/>
    <p:sldId id="285" r:id="rId20"/>
    <p:sldId id="278" r:id="rId21"/>
    <p:sldId id="279" r:id="rId22"/>
    <p:sldId id="280" r:id="rId23"/>
    <p:sldId id="277" r:id="rId24"/>
    <p:sldId id="275" r:id="rId25"/>
    <p:sldId id="276" r:id="rId26"/>
    <p:sldId id="281" r:id="rId27"/>
    <p:sldId id="282" r:id="rId28"/>
    <p:sldId id="256" r:id="rId29"/>
    <p:sldId id="259" r:id="rId30"/>
    <p:sldId id="257" r:id="rId31"/>
    <p:sldId id="262" r:id="rId32"/>
    <p:sldId id="258" r:id="rId33"/>
    <p:sldId id="260" r:id="rId34"/>
    <p:sldId id="261" r:id="rId35"/>
    <p:sldId id="263" r:id="rId36"/>
    <p:sldId id="264" r:id="rId37"/>
    <p:sldId id="265" r:id="rId38"/>
    <p:sldId id="266" r:id="rId39"/>
    <p:sldId id="269" r:id="rId40"/>
    <p:sldId id="267" r:id="rId41"/>
    <p:sldId id="268" r:id="rId42"/>
    <p:sldId id="270" r:id="rId43"/>
    <p:sldId id="271" r:id="rId44"/>
    <p:sldId id="272" r:id="rId45"/>
    <p:sldId id="273" r:id="rId46"/>
    <p:sldId id="302" r:id="rId47"/>
    <p:sldId id="30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82" d="100"/>
          <a:sy n="82" d="100"/>
        </p:scale>
        <p:origin x="48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6/13/2026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6/13/2026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4420-21DE-99FF-3AE9-0155091EF8EE}"/>
              </a:ext>
            </a:extLst>
          </p:cNvPr>
          <p:cNvSpPr>
            <a:spLocks noGrp="1"/>
          </p:cNvSpPr>
          <p:nvPr>
            <p:ph type="title"/>
          </p:nvPr>
        </p:nvSpPr>
        <p:spPr/>
        <p:txBody>
          <a:bodyPr/>
          <a:lstStyle/>
          <a:p>
            <a:r>
              <a:rPr lang="en-US" dirty="0"/>
              <a:t>Compiling and Running on Linux</a:t>
            </a:r>
          </a:p>
        </p:txBody>
      </p:sp>
      <p:sp>
        <p:nvSpPr>
          <p:cNvPr id="3" name="Content Placeholder 2">
            <a:extLst>
              <a:ext uri="{FF2B5EF4-FFF2-40B4-BE49-F238E27FC236}">
                <a16:creationId xmlns:a16="http://schemas.microsoft.com/office/drawing/2014/main" id="{7DDD452B-A2A5-7647-AA45-503F79DF69D7}"/>
              </a:ext>
            </a:extLst>
          </p:cNvPr>
          <p:cNvSpPr>
            <a:spLocks noGrp="1"/>
          </p:cNvSpPr>
          <p:nvPr>
            <p:ph idx="1"/>
          </p:nvPr>
        </p:nvSpPr>
        <p:spPr/>
        <p:txBody>
          <a:bodyPr/>
          <a:lstStyle/>
          <a:p>
            <a:pPr marL="514350" indent="-514350">
              <a:buFont typeface="+mj-lt"/>
              <a:buAutoNum type="arabicPeriod"/>
            </a:pPr>
            <a:r>
              <a:rPr lang="en-US" dirty="0"/>
              <a:t>Download and Install Visual Studio Code from Microsoft website</a:t>
            </a:r>
          </a:p>
          <a:p>
            <a:pPr marL="514350" indent="-514350">
              <a:buFont typeface="+mj-lt"/>
              <a:buAutoNum type="arabicPeriod"/>
            </a:pPr>
            <a:r>
              <a:rPr lang="en-US" dirty="0"/>
              <a:t>Install Visual Studio code Git extension</a:t>
            </a:r>
          </a:p>
          <a:p>
            <a:pPr marL="514350" indent="-514350">
              <a:buFont typeface="+mj-lt"/>
              <a:buAutoNum type="arabicPeriod"/>
            </a:pPr>
            <a:r>
              <a:rPr lang="en-US" dirty="0"/>
              <a:t>Clone the </a:t>
            </a:r>
            <a:r>
              <a:rPr lang="en-US" dirty="0" err="1"/>
              <a:t>AngbandOS</a:t>
            </a:r>
            <a:r>
              <a:rPr lang="en-US" dirty="0"/>
              <a:t> repo</a:t>
            </a:r>
          </a:p>
          <a:p>
            <a:pPr marL="514350" indent="-514350">
              <a:buFont typeface="+mj-lt"/>
              <a:buAutoNum type="arabicPeriod"/>
            </a:pPr>
            <a:r>
              <a:rPr lang="en-US" dirty="0"/>
              <a:t>Install .NET SDK using Microsoft script (</a:t>
            </a:r>
            <a:r>
              <a:rPr lang="en-US" dirty="0" err="1"/>
              <a:t>wget</a:t>
            </a:r>
            <a:r>
              <a:rPr lang="en-US" dirty="0"/>
              <a:t> dotnet-install.sh)</a:t>
            </a:r>
          </a:p>
          <a:p>
            <a:pPr marL="514350" indent="-514350">
              <a:buFont typeface="+mj-lt"/>
              <a:buAutoNum type="arabicPeriod"/>
            </a:pPr>
            <a:r>
              <a:rPr lang="en-US" dirty="0"/>
              <a:t>Publish the game as a native single file </a:t>
            </a:r>
            <a:r>
              <a:rPr lang="en-US" dirty="0" err="1"/>
              <a:t>linux</a:t>
            </a:r>
            <a:r>
              <a:rPr lang="en-US" dirty="0"/>
              <a:t> executable:</a:t>
            </a:r>
          </a:p>
          <a:p>
            <a:pPr marL="0" indent="0">
              <a:buNone/>
            </a:pPr>
            <a:r>
              <a:rPr lang="en-US" dirty="0"/>
              <a:t>dotnet publish -c Debug -r linux-x64 --self-contained true -</a:t>
            </a:r>
            <a:r>
              <a:rPr lang="en-US" dirty="0" err="1"/>
              <a:t>p:PublishSingleFile</a:t>
            </a:r>
            <a:r>
              <a:rPr lang="en-US" dirty="0"/>
              <a:t>=true</a:t>
            </a:r>
          </a:p>
          <a:p>
            <a:pPr marL="514350" indent="-514350">
              <a:buFont typeface="+mj-lt"/>
              <a:buAutoNum type="arabicPeriod"/>
            </a:pPr>
            <a:endParaRPr lang="en-US" dirty="0"/>
          </a:p>
        </p:txBody>
      </p:sp>
    </p:spTree>
    <p:extLst>
      <p:ext uri="{BB962C8B-B14F-4D97-AF65-F5344CB8AC3E}">
        <p14:creationId xmlns:p14="http://schemas.microsoft.com/office/powerpoint/2010/main" val="28699289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11F6-CFA7-EED8-ED8B-D87D6FF73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002E4-CC99-E96A-1223-6D8A8AF34511}"/>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22B2D5D8-0907-EC0F-6EBC-2BFD8CF1E06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2105725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normAutofit fontScale="85000" lnSpcReduction="20000"/>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a:p>
            <a:pPr marL="0" indent="0">
              <a:buNone/>
            </a:pPr>
            <a:r>
              <a:rPr lang="en-US" i="1" dirty="0">
                <a:highlight>
                  <a:srgbClr val="FFFF00"/>
                </a:highlight>
              </a:rPr>
              <a:t>Because properties are ignored, there is an issue where a property may have state data that is ignored.  Also, interfaces can only be implemented with properties.  The Attribute has an Index property that needs to be rehydrated.  If the game configuration is loaded in a different order, the read only attribute sets will </a:t>
            </a:r>
            <a:r>
              <a:rPr lang="en-US" i="1">
                <a:highlight>
                  <a:srgbClr val="FFFF00"/>
                </a:highlight>
              </a:rPr>
              <a:t>be confused.</a:t>
            </a:r>
            <a:endParaRPr lang="en-US" i="1" dirty="0">
              <a:highlight>
                <a:srgbClr val="FFFF00"/>
              </a:highlight>
            </a:endParaRPr>
          </a:p>
        </p:txBody>
      </p:sp>
    </p:spTree>
    <p:extLst>
      <p:ext uri="{BB962C8B-B14F-4D97-AF65-F5344CB8AC3E}">
        <p14:creationId xmlns:p14="http://schemas.microsoft.com/office/powerpoint/2010/main" val="700361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normAutofit fontScale="92500" lnSpcReduction="10000"/>
          </a:bodyPr>
          <a:lstStyle/>
          <a:p>
            <a:pPr marL="0" indent="0">
              <a:buNone/>
            </a:pPr>
            <a:r>
              <a:rPr lang="en-US" dirty="0"/>
              <a:t>When the singleton repository is serialized, it enumerates all of the singleton for serialization.  If a singleton references a singleton that wasn't already serialized (further down the enumeration), the object reference details will be serialized with that earlier singleton.  The Spell singleton exhibits this behavior with the Realm singleton.  When the </a:t>
            </a:r>
            <a:r>
              <a:rPr lang="en-US" dirty="0" err="1"/>
              <a:t>SingletonRepository</a:t>
            </a:r>
            <a:r>
              <a:rPr lang="en-US" dirty="0"/>
              <a:t> is deserialized, the Spell singleton (earlier in the enumeration) only consumes the </a:t>
            </a:r>
            <a:r>
              <a:rPr lang="en-US" dirty="0" err="1"/>
              <a:t>ObjectId</a:t>
            </a:r>
            <a:r>
              <a:rPr lang="en-US" dirty="0"/>
              <a:t> from the object reference because the Realm object will have already been loaded during the 2-phase load and bind approach—but the Realm object will not have been bound.  When the </a:t>
            </a:r>
            <a:r>
              <a:rPr lang="en-US" dirty="0" err="1"/>
              <a:t>SingletonRepository</a:t>
            </a:r>
            <a:r>
              <a:rPr lang="en-US" dirty="0"/>
              <a:t> does encounter the Realm object for binding, only a Reference game state bag exists, with no binding properties.  To resolve this issue, the </a:t>
            </a:r>
            <a:r>
              <a:rPr lang="en-US" dirty="0" err="1"/>
              <a:t>ObjectIdToReference</a:t>
            </a:r>
            <a:r>
              <a:rPr lang="en-US" dirty="0"/>
              <a:t> dictionary tracks not only the object, but the game state bag that was used</a:t>
            </a:r>
          </a:p>
        </p:txBody>
      </p:sp>
    </p:spTree>
    <p:extLst>
      <p:ext uri="{BB962C8B-B14F-4D97-AF65-F5344CB8AC3E}">
        <p14:creationId xmlns:p14="http://schemas.microsoft.com/office/powerpoint/2010/main" val="1258926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98530-E49D-BBD5-514D-8FC85CC15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7CF99-9A13-1B49-FCD7-AC70E43D64CD}"/>
              </a:ext>
            </a:extLst>
          </p:cNvPr>
          <p:cNvSpPr>
            <a:spLocks noGrp="1"/>
          </p:cNvSpPr>
          <p:nvPr>
            <p:ph type="title"/>
          </p:nvPr>
        </p:nvSpPr>
        <p:spPr/>
        <p:txBody>
          <a:bodyPr/>
          <a:lstStyle/>
          <a:p>
            <a:r>
              <a:rPr lang="en-US" dirty="0"/>
              <a:t>Deserialization Walkthrough</a:t>
            </a:r>
          </a:p>
        </p:txBody>
      </p:sp>
      <p:sp>
        <p:nvSpPr>
          <p:cNvPr id="3" name="Content Placeholder 2">
            <a:extLst>
              <a:ext uri="{FF2B5EF4-FFF2-40B4-BE49-F238E27FC236}">
                <a16:creationId xmlns:a16="http://schemas.microsoft.com/office/drawing/2014/main" id="{5535A037-258D-FBD8-D806-4FB6B1A935A6}"/>
              </a:ext>
            </a:extLst>
          </p:cNvPr>
          <p:cNvSpPr>
            <a:spLocks noGrp="1"/>
          </p:cNvSpPr>
          <p:nvPr>
            <p:ph idx="1"/>
          </p:nvPr>
        </p:nvSpPr>
        <p:spPr/>
        <p:txBody>
          <a:bodyPr/>
          <a:lstStyle/>
          <a:p>
            <a:pPr marL="514350" indent="-514350">
              <a:buAutoNum type="arabicPeriod"/>
            </a:pPr>
            <a:r>
              <a:rPr lang="en-US" dirty="0"/>
              <a:t>The singletons are loaded.  The game state bag for the singleton is loaded using the </a:t>
            </a:r>
            <a:r>
              <a:rPr lang="en-US" dirty="0" err="1"/>
              <a:t>GetKey</a:t>
            </a:r>
            <a:r>
              <a:rPr lang="en-US" dirty="0"/>
              <a:t>.  It is either a reference or object game state bag.  The object id is retrieved and the </a:t>
            </a:r>
            <a:r>
              <a:rPr lang="en-US" dirty="0" err="1"/>
              <a:t>ObjectIdToReference</a:t>
            </a:r>
            <a:r>
              <a:rPr lang="en-US" dirty="0"/>
              <a:t> is created using the associated </a:t>
            </a:r>
            <a:r>
              <a:rPr lang="en-US" dirty="0" err="1"/>
              <a:t>ObjectId</a:t>
            </a:r>
            <a:r>
              <a:rPr lang="en-US" dirty="0"/>
              <a:t>.  If it was an object, the associated game state bag is tracked.  If it was a reference, a null is used for the game state bag.</a:t>
            </a:r>
          </a:p>
          <a:p>
            <a:pPr marL="514350" indent="-514350">
              <a:buAutoNum type="arabicPeriod"/>
            </a:pPr>
            <a:r>
              <a:rPr lang="en-US" dirty="0"/>
              <a:t>The singletons are bound.  </a:t>
            </a:r>
          </a:p>
        </p:txBody>
      </p:sp>
    </p:spTree>
    <p:extLst>
      <p:ext uri="{BB962C8B-B14F-4D97-AF65-F5344CB8AC3E}">
        <p14:creationId xmlns:p14="http://schemas.microsoft.com/office/powerpoint/2010/main" val="4002311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956E5-2CF7-C938-BA70-E05771DE42AF}"/>
              </a:ext>
            </a:extLst>
          </p:cNvPr>
          <p:cNvSpPr>
            <a:spLocks noGrp="1"/>
          </p:cNvSpPr>
          <p:nvPr>
            <p:ph type="title"/>
          </p:nvPr>
        </p:nvSpPr>
        <p:spPr/>
        <p:txBody>
          <a:bodyPr/>
          <a:lstStyle/>
          <a:p>
            <a:r>
              <a:rPr lang="en-US" dirty="0"/>
              <a:t>Expressions</a:t>
            </a:r>
          </a:p>
        </p:txBody>
      </p:sp>
      <p:sp>
        <p:nvSpPr>
          <p:cNvPr id="4" name="Rectangle 3">
            <a:extLst>
              <a:ext uri="{FF2B5EF4-FFF2-40B4-BE49-F238E27FC236}">
                <a16:creationId xmlns:a16="http://schemas.microsoft.com/office/drawing/2014/main" id="{08C6666D-578B-420E-1F20-ACAEA9302AAA}"/>
              </a:ext>
            </a:extLst>
          </p:cNvPr>
          <p:cNvSpPr/>
          <p:nvPr/>
        </p:nvSpPr>
        <p:spPr>
          <a:xfrm>
            <a:off x="3356517" y="6091431"/>
            <a:ext cx="845633" cy="2536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a:t>
            </a:r>
          </a:p>
        </p:txBody>
      </p:sp>
      <p:sp>
        <p:nvSpPr>
          <p:cNvPr id="5" name="Rectangle 4">
            <a:extLst>
              <a:ext uri="{FF2B5EF4-FFF2-40B4-BE49-F238E27FC236}">
                <a16:creationId xmlns:a16="http://schemas.microsoft.com/office/drawing/2014/main" id="{94BAC70F-B48D-3120-4CF1-F79A6205919C}"/>
              </a:ext>
            </a:extLst>
          </p:cNvPr>
          <p:cNvSpPr/>
          <p:nvPr/>
        </p:nvSpPr>
        <p:spPr>
          <a:xfrm>
            <a:off x="821231" y="5037790"/>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Decimal Expression</a:t>
            </a:r>
          </a:p>
        </p:txBody>
      </p:sp>
      <p:sp>
        <p:nvSpPr>
          <p:cNvPr id="6" name="Rectangle 5">
            <a:extLst>
              <a:ext uri="{FF2B5EF4-FFF2-40B4-BE49-F238E27FC236}">
                <a16:creationId xmlns:a16="http://schemas.microsoft.com/office/drawing/2014/main" id="{456B5B0A-8973-0456-C76D-944692B00E0E}"/>
              </a:ext>
            </a:extLst>
          </p:cNvPr>
          <p:cNvSpPr/>
          <p:nvPr/>
        </p:nvSpPr>
        <p:spPr>
          <a:xfrm>
            <a:off x="3953684" y="506153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Identifier Expression</a:t>
            </a:r>
          </a:p>
        </p:txBody>
      </p:sp>
      <p:sp>
        <p:nvSpPr>
          <p:cNvPr id="7" name="Rectangle 6">
            <a:extLst>
              <a:ext uri="{FF2B5EF4-FFF2-40B4-BE49-F238E27FC236}">
                <a16:creationId xmlns:a16="http://schemas.microsoft.com/office/drawing/2014/main" id="{2DB5EA65-3D68-6E90-3479-A0751E8AE2D6}"/>
              </a:ext>
            </a:extLst>
          </p:cNvPr>
          <p:cNvSpPr/>
          <p:nvPr/>
        </p:nvSpPr>
        <p:spPr>
          <a:xfrm>
            <a:off x="5023847" y="5028642"/>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Integer Expression</a:t>
            </a:r>
          </a:p>
        </p:txBody>
      </p:sp>
      <p:sp>
        <p:nvSpPr>
          <p:cNvPr id="8" name="Rectangle 7">
            <a:extLst>
              <a:ext uri="{FF2B5EF4-FFF2-40B4-BE49-F238E27FC236}">
                <a16:creationId xmlns:a16="http://schemas.microsoft.com/office/drawing/2014/main" id="{4BC114AE-2729-9B7A-1645-C935341A3820}"/>
              </a:ext>
            </a:extLst>
          </p:cNvPr>
          <p:cNvSpPr/>
          <p:nvPr/>
        </p:nvSpPr>
        <p:spPr>
          <a:xfrm>
            <a:off x="6060447" y="502607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Infix Expression</a:t>
            </a:r>
          </a:p>
        </p:txBody>
      </p:sp>
      <p:sp>
        <p:nvSpPr>
          <p:cNvPr id="9" name="Rectangle 8">
            <a:extLst>
              <a:ext uri="{FF2B5EF4-FFF2-40B4-BE49-F238E27FC236}">
                <a16:creationId xmlns:a16="http://schemas.microsoft.com/office/drawing/2014/main" id="{7B2E223F-2240-B153-62E3-8FED57945624}"/>
              </a:ext>
            </a:extLst>
          </p:cNvPr>
          <p:cNvSpPr/>
          <p:nvPr/>
        </p:nvSpPr>
        <p:spPr>
          <a:xfrm>
            <a:off x="2883521" y="5037786"/>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Parenthesis Expression</a:t>
            </a:r>
          </a:p>
        </p:txBody>
      </p:sp>
      <p:sp>
        <p:nvSpPr>
          <p:cNvPr id="10" name="Rectangle 9">
            <a:extLst>
              <a:ext uri="{FF2B5EF4-FFF2-40B4-BE49-F238E27FC236}">
                <a16:creationId xmlns:a16="http://schemas.microsoft.com/office/drawing/2014/main" id="{49E08E24-4560-8B9F-2522-4D6638C95DC7}"/>
              </a:ext>
            </a:extLst>
          </p:cNvPr>
          <p:cNvSpPr/>
          <p:nvPr/>
        </p:nvSpPr>
        <p:spPr>
          <a:xfrm>
            <a:off x="1857831" y="5037788"/>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Boolean </a:t>
            </a:r>
          </a:p>
          <a:p>
            <a:pPr algn="ctr"/>
            <a:r>
              <a:rPr lang="en-US" sz="1000" dirty="0"/>
              <a:t>Expression</a:t>
            </a:r>
          </a:p>
        </p:txBody>
      </p:sp>
      <p:cxnSp>
        <p:nvCxnSpPr>
          <p:cNvPr id="35" name="Connector: Elbow 34">
            <a:extLst>
              <a:ext uri="{FF2B5EF4-FFF2-40B4-BE49-F238E27FC236}">
                <a16:creationId xmlns:a16="http://schemas.microsoft.com/office/drawing/2014/main" id="{D140A1A9-55D7-997F-DF40-27A094A1687E}"/>
              </a:ext>
            </a:extLst>
          </p:cNvPr>
          <p:cNvCxnSpPr>
            <a:cxnSpLocks/>
            <a:stCxn id="5" idx="2"/>
            <a:endCxn id="4" idx="0"/>
          </p:cNvCxnSpPr>
          <p:nvPr/>
        </p:nvCxnSpPr>
        <p:spPr>
          <a:xfrm rot="16200000" flipH="1">
            <a:off x="2178119" y="4490216"/>
            <a:ext cx="692234" cy="25101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Connector: Elbow 35">
            <a:extLst>
              <a:ext uri="{FF2B5EF4-FFF2-40B4-BE49-F238E27FC236}">
                <a16:creationId xmlns:a16="http://schemas.microsoft.com/office/drawing/2014/main" id="{0C598C3F-3E5A-2D4D-C798-5E5B3F54E816}"/>
              </a:ext>
            </a:extLst>
          </p:cNvPr>
          <p:cNvCxnSpPr>
            <a:cxnSpLocks/>
            <a:stCxn id="10" idx="2"/>
            <a:endCxn id="4" idx="0"/>
          </p:cNvCxnSpPr>
          <p:nvPr/>
        </p:nvCxnSpPr>
        <p:spPr>
          <a:xfrm rot="16200000" flipH="1">
            <a:off x="2696418" y="5008515"/>
            <a:ext cx="692236" cy="147359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0CD0685F-4145-8B9A-2D50-88191AF8CDF0}"/>
              </a:ext>
            </a:extLst>
          </p:cNvPr>
          <p:cNvCxnSpPr>
            <a:cxnSpLocks/>
            <a:stCxn id="9" idx="2"/>
            <a:endCxn id="4" idx="0"/>
          </p:cNvCxnSpPr>
          <p:nvPr/>
        </p:nvCxnSpPr>
        <p:spPr>
          <a:xfrm rot="16200000" flipH="1">
            <a:off x="3209262" y="5521359"/>
            <a:ext cx="692238" cy="44790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Connector: Elbow 41">
            <a:extLst>
              <a:ext uri="{FF2B5EF4-FFF2-40B4-BE49-F238E27FC236}">
                <a16:creationId xmlns:a16="http://schemas.microsoft.com/office/drawing/2014/main" id="{26A155E2-4E51-68E4-BC35-DBDFC8421104}"/>
              </a:ext>
            </a:extLst>
          </p:cNvPr>
          <p:cNvCxnSpPr>
            <a:cxnSpLocks/>
            <a:stCxn id="8" idx="2"/>
            <a:endCxn id="4" idx="0"/>
          </p:cNvCxnSpPr>
          <p:nvPr/>
        </p:nvCxnSpPr>
        <p:spPr>
          <a:xfrm rot="5400000">
            <a:off x="4791871" y="4374947"/>
            <a:ext cx="703947" cy="27290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nector: Elbow 44">
            <a:extLst>
              <a:ext uri="{FF2B5EF4-FFF2-40B4-BE49-F238E27FC236}">
                <a16:creationId xmlns:a16="http://schemas.microsoft.com/office/drawing/2014/main" id="{838FA0FD-1ED6-4B6E-0A8B-BE3B8F08BC0A}"/>
              </a:ext>
            </a:extLst>
          </p:cNvPr>
          <p:cNvCxnSpPr>
            <a:cxnSpLocks/>
            <a:stCxn id="7" idx="2"/>
            <a:endCxn id="4" idx="0"/>
          </p:cNvCxnSpPr>
          <p:nvPr/>
        </p:nvCxnSpPr>
        <p:spPr>
          <a:xfrm rot="5400000">
            <a:off x="4274853" y="4894530"/>
            <a:ext cx="701382" cy="16924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E34265AA-8022-4F9E-81DA-F8F9F1A7F92D}"/>
              </a:ext>
            </a:extLst>
          </p:cNvPr>
          <p:cNvCxnSpPr>
            <a:cxnSpLocks/>
            <a:stCxn id="6" idx="2"/>
            <a:endCxn id="4" idx="0"/>
          </p:cNvCxnSpPr>
          <p:nvPr/>
        </p:nvCxnSpPr>
        <p:spPr>
          <a:xfrm rot="5400000">
            <a:off x="3756220" y="5446059"/>
            <a:ext cx="668487" cy="62225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1" name="Rectangle 50">
            <a:extLst>
              <a:ext uri="{FF2B5EF4-FFF2-40B4-BE49-F238E27FC236}">
                <a16:creationId xmlns:a16="http://schemas.microsoft.com/office/drawing/2014/main" id="{B8DFD506-1BE8-92B3-F56C-FA6AEC2CE2D9}"/>
              </a:ext>
            </a:extLst>
          </p:cNvPr>
          <p:cNvSpPr/>
          <p:nvPr/>
        </p:nvSpPr>
        <p:spPr>
          <a:xfrm>
            <a:off x="5023847"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Division</a:t>
            </a:r>
          </a:p>
          <a:p>
            <a:pPr algn="ctr"/>
            <a:r>
              <a:rPr lang="en-US" sz="1000" dirty="0"/>
              <a:t>Infix Expression</a:t>
            </a:r>
          </a:p>
        </p:txBody>
      </p:sp>
      <p:sp>
        <p:nvSpPr>
          <p:cNvPr id="52" name="Rectangle 51">
            <a:extLst>
              <a:ext uri="{FF2B5EF4-FFF2-40B4-BE49-F238E27FC236}">
                <a16:creationId xmlns:a16="http://schemas.microsoft.com/office/drawing/2014/main" id="{F542236B-8A9A-0309-508C-0A55FE896BC7}"/>
              </a:ext>
            </a:extLst>
          </p:cNvPr>
          <p:cNvSpPr/>
          <p:nvPr/>
        </p:nvSpPr>
        <p:spPr>
          <a:xfrm>
            <a:off x="6193443"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Equals</a:t>
            </a:r>
          </a:p>
          <a:p>
            <a:pPr algn="ctr"/>
            <a:r>
              <a:rPr lang="en-US" sz="1000" dirty="0"/>
              <a:t>Infix Expression</a:t>
            </a:r>
          </a:p>
        </p:txBody>
      </p:sp>
      <p:sp>
        <p:nvSpPr>
          <p:cNvPr id="53" name="Rectangle 52">
            <a:extLst>
              <a:ext uri="{FF2B5EF4-FFF2-40B4-BE49-F238E27FC236}">
                <a16:creationId xmlns:a16="http://schemas.microsoft.com/office/drawing/2014/main" id="{FB653DE6-1E7C-F3F9-A2D9-639986D379BB}"/>
              </a:ext>
            </a:extLst>
          </p:cNvPr>
          <p:cNvSpPr/>
          <p:nvPr/>
        </p:nvSpPr>
        <p:spPr>
          <a:xfrm>
            <a:off x="7363039" y="3599051"/>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Multiplication</a:t>
            </a:r>
          </a:p>
          <a:p>
            <a:pPr algn="ctr"/>
            <a:r>
              <a:rPr lang="en-US" sz="1000" dirty="0"/>
              <a:t>Infix Expression</a:t>
            </a:r>
          </a:p>
        </p:txBody>
      </p:sp>
      <p:sp>
        <p:nvSpPr>
          <p:cNvPr id="54" name="Rectangle 53">
            <a:extLst>
              <a:ext uri="{FF2B5EF4-FFF2-40B4-BE49-F238E27FC236}">
                <a16:creationId xmlns:a16="http://schemas.microsoft.com/office/drawing/2014/main" id="{B2E075CE-E96D-1067-D565-363848C5B64F}"/>
              </a:ext>
            </a:extLst>
          </p:cNvPr>
          <p:cNvSpPr/>
          <p:nvPr/>
        </p:nvSpPr>
        <p:spPr>
          <a:xfrm>
            <a:off x="3854251" y="3593767"/>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Addition</a:t>
            </a:r>
          </a:p>
          <a:p>
            <a:pPr algn="ctr"/>
            <a:r>
              <a:rPr lang="en-US" sz="1000" dirty="0"/>
              <a:t>Infix Expression</a:t>
            </a:r>
          </a:p>
        </p:txBody>
      </p:sp>
      <p:sp>
        <p:nvSpPr>
          <p:cNvPr id="55" name="Rectangle 54">
            <a:extLst>
              <a:ext uri="{FF2B5EF4-FFF2-40B4-BE49-F238E27FC236}">
                <a16:creationId xmlns:a16="http://schemas.microsoft.com/office/drawing/2014/main" id="{5C3E49D5-67E2-FC13-67B1-67DC0AF63A6F}"/>
              </a:ext>
            </a:extLst>
          </p:cNvPr>
          <p:cNvSpPr/>
          <p:nvPr/>
        </p:nvSpPr>
        <p:spPr>
          <a:xfrm>
            <a:off x="8532635" y="3610203"/>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Subtraction</a:t>
            </a:r>
          </a:p>
          <a:p>
            <a:pPr algn="ctr"/>
            <a:r>
              <a:rPr lang="en-US" sz="1000" dirty="0"/>
              <a:t>Infix Expression</a:t>
            </a:r>
          </a:p>
        </p:txBody>
      </p:sp>
      <p:cxnSp>
        <p:nvCxnSpPr>
          <p:cNvPr id="90" name="Connector: Elbow 89">
            <a:extLst>
              <a:ext uri="{FF2B5EF4-FFF2-40B4-BE49-F238E27FC236}">
                <a16:creationId xmlns:a16="http://schemas.microsoft.com/office/drawing/2014/main" id="{A755ED8B-DAC9-BEF0-2A64-AFD3355670DB}"/>
              </a:ext>
            </a:extLst>
          </p:cNvPr>
          <p:cNvCxnSpPr>
            <a:stCxn id="54" idx="2"/>
            <a:endCxn id="8" idx="0"/>
          </p:cNvCxnSpPr>
          <p:nvPr/>
        </p:nvCxnSpPr>
        <p:spPr>
          <a:xfrm rot="16200000" flipH="1">
            <a:off x="4919521" y="3437243"/>
            <a:ext cx="1070903" cy="210676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Connector: Elbow 90">
            <a:extLst>
              <a:ext uri="{FF2B5EF4-FFF2-40B4-BE49-F238E27FC236}">
                <a16:creationId xmlns:a16="http://schemas.microsoft.com/office/drawing/2014/main" id="{94C263F1-DCC7-8716-24C2-797FCBD06D82}"/>
              </a:ext>
            </a:extLst>
          </p:cNvPr>
          <p:cNvCxnSpPr>
            <a:cxnSpLocks/>
            <a:stCxn id="51" idx="2"/>
            <a:endCxn id="8" idx="0"/>
          </p:cNvCxnSpPr>
          <p:nvPr/>
        </p:nvCxnSpPr>
        <p:spPr>
          <a:xfrm rot="16200000" flipH="1">
            <a:off x="5504318" y="4022041"/>
            <a:ext cx="1070904" cy="93716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9900C957-7E51-BA0D-4AA6-1EE9FD46F03B}"/>
              </a:ext>
            </a:extLst>
          </p:cNvPr>
          <p:cNvCxnSpPr>
            <a:cxnSpLocks/>
            <a:stCxn id="52" idx="2"/>
            <a:endCxn id="8" idx="0"/>
          </p:cNvCxnSpPr>
          <p:nvPr/>
        </p:nvCxnSpPr>
        <p:spPr>
          <a:xfrm rot="5400000">
            <a:off x="6089116" y="4374411"/>
            <a:ext cx="1070904" cy="2324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7" name="Connector: Elbow 96">
            <a:extLst>
              <a:ext uri="{FF2B5EF4-FFF2-40B4-BE49-F238E27FC236}">
                <a16:creationId xmlns:a16="http://schemas.microsoft.com/office/drawing/2014/main" id="{879AA4AE-890C-762F-EEF9-3B0493AA21FF}"/>
              </a:ext>
            </a:extLst>
          </p:cNvPr>
          <p:cNvCxnSpPr>
            <a:cxnSpLocks/>
            <a:stCxn id="53" idx="2"/>
            <a:endCxn id="8" idx="0"/>
          </p:cNvCxnSpPr>
          <p:nvPr/>
        </p:nvCxnSpPr>
        <p:spPr>
          <a:xfrm rot="5400000">
            <a:off x="6676557" y="3792255"/>
            <a:ext cx="1065619" cy="140202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B2D3615A-925F-14D8-8289-4150B297450F}"/>
              </a:ext>
            </a:extLst>
          </p:cNvPr>
          <p:cNvCxnSpPr>
            <a:cxnSpLocks/>
            <a:stCxn id="55" idx="2"/>
            <a:endCxn id="8" idx="0"/>
          </p:cNvCxnSpPr>
          <p:nvPr/>
        </p:nvCxnSpPr>
        <p:spPr>
          <a:xfrm rot="5400000">
            <a:off x="7266931" y="3213033"/>
            <a:ext cx="1054467" cy="2571620"/>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3D324C7A-496F-507F-29A0-E21C4B5C2F92}"/>
              </a:ext>
            </a:extLst>
          </p:cNvPr>
          <p:cNvSpPr/>
          <p:nvPr/>
        </p:nvSpPr>
        <p:spPr>
          <a:xfrm>
            <a:off x="1029275" y="169068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 Parser</a:t>
            </a:r>
          </a:p>
        </p:txBody>
      </p:sp>
      <p:sp>
        <p:nvSpPr>
          <p:cNvPr id="11" name="Rectangle 10">
            <a:extLst>
              <a:ext uri="{FF2B5EF4-FFF2-40B4-BE49-F238E27FC236}">
                <a16:creationId xmlns:a16="http://schemas.microsoft.com/office/drawing/2014/main" id="{850E8258-A869-11D7-D1BF-400A5C94EF93}"/>
              </a:ext>
            </a:extLst>
          </p:cNvPr>
          <p:cNvSpPr/>
          <p:nvPr/>
        </p:nvSpPr>
        <p:spPr>
          <a:xfrm>
            <a:off x="1029275" y="221750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Parse Language</a:t>
            </a:r>
          </a:p>
        </p:txBody>
      </p:sp>
    </p:spTree>
    <p:extLst>
      <p:ext uri="{BB962C8B-B14F-4D97-AF65-F5344CB8AC3E}">
        <p14:creationId xmlns:p14="http://schemas.microsoft.com/office/powerpoint/2010/main" val="35428338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D41B3-95FC-3E88-4520-AADC1DEFA7BA}"/>
              </a:ext>
            </a:extLst>
          </p:cNvPr>
          <p:cNvSpPr>
            <a:spLocks noGrp="1"/>
          </p:cNvSpPr>
          <p:nvPr>
            <p:ph type="title"/>
          </p:nvPr>
        </p:nvSpPr>
        <p:spPr/>
        <p:txBody>
          <a:bodyPr/>
          <a:lstStyle/>
          <a:p>
            <a:r>
              <a:rPr lang="en-US" dirty="0"/>
              <a:t>Keystroke Source</a:t>
            </a:r>
          </a:p>
        </p:txBody>
      </p:sp>
      <p:sp>
        <p:nvSpPr>
          <p:cNvPr id="4" name="Rectangle 3">
            <a:extLst>
              <a:ext uri="{FF2B5EF4-FFF2-40B4-BE49-F238E27FC236}">
                <a16:creationId xmlns:a16="http://schemas.microsoft.com/office/drawing/2014/main" id="{87DC2ED0-919D-6771-99C6-0AB74063A577}"/>
              </a:ext>
            </a:extLst>
          </p:cNvPr>
          <p:cNvSpPr/>
          <p:nvPr/>
        </p:nvSpPr>
        <p:spPr>
          <a:xfrm>
            <a:off x="5014331" y="2248250"/>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Artificial Key Buffer</a:t>
            </a:r>
          </a:p>
        </p:txBody>
      </p:sp>
      <p:sp>
        <p:nvSpPr>
          <p:cNvPr id="5" name="Rectangle 4">
            <a:extLst>
              <a:ext uri="{FF2B5EF4-FFF2-40B4-BE49-F238E27FC236}">
                <a16:creationId xmlns:a16="http://schemas.microsoft.com/office/drawing/2014/main" id="{D41E095A-EF72-37CF-66D1-C5A26DECE1B0}"/>
              </a:ext>
            </a:extLst>
          </p:cNvPr>
          <p:cNvSpPr/>
          <p:nvPr/>
        </p:nvSpPr>
        <p:spPr>
          <a:xfrm>
            <a:off x="5014331" y="1463367"/>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Recorder</a:t>
            </a:r>
          </a:p>
        </p:txBody>
      </p:sp>
      <p:sp>
        <p:nvSpPr>
          <p:cNvPr id="6" name="Rectangle 5">
            <a:extLst>
              <a:ext uri="{FF2B5EF4-FFF2-40B4-BE49-F238E27FC236}">
                <a16:creationId xmlns:a16="http://schemas.microsoft.com/office/drawing/2014/main" id="{A19EB084-5D11-6A1D-AE26-7865410BB27F}"/>
              </a:ext>
            </a:extLst>
          </p:cNvPr>
          <p:cNvSpPr/>
          <p:nvPr/>
        </p:nvSpPr>
        <p:spPr>
          <a:xfrm>
            <a:off x="4309946" y="3067711"/>
            <a:ext cx="357210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Blocking Non-Blocking Support</a:t>
            </a:r>
          </a:p>
        </p:txBody>
      </p:sp>
      <p:sp>
        <p:nvSpPr>
          <p:cNvPr id="7" name="Rectangle 6">
            <a:extLst>
              <a:ext uri="{FF2B5EF4-FFF2-40B4-BE49-F238E27FC236}">
                <a16:creationId xmlns:a16="http://schemas.microsoft.com/office/drawing/2014/main" id="{327D4D52-875A-74F5-F8C5-827EE748E3A8}"/>
              </a:ext>
            </a:extLst>
          </p:cNvPr>
          <p:cNvSpPr/>
          <p:nvPr/>
        </p:nvSpPr>
        <p:spPr>
          <a:xfrm>
            <a:off x="5014331" y="3852594"/>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Game Replay</a:t>
            </a:r>
          </a:p>
        </p:txBody>
      </p:sp>
      <p:sp>
        <p:nvSpPr>
          <p:cNvPr id="8" name="Rectangle 7">
            <a:extLst>
              <a:ext uri="{FF2B5EF4-FFF2-40B4-BE49-F238E27FC236}">
                <a16:creationId xmlns:a16="http://schemas.microsoft.com/office/drawing/2014/main" id="{47269CCF-43FC-ED30-11A5-AAE364F1B008}"/>
              </a:ext>
            </a:extLst>
          </p:cNvPr>
          <p:cNvSpPr/>
          <p:nvPr/>
        </p:nvSpPr>
        <p:spPr>
          <a:xfrm>
            <a:off x="5014331" y="4697785"/>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Wait On Enqueue</a:t>
            </a:r>
          </a:p>
        </p:txBody>
      </p:sp>
      <p:cxnSp>
        <p:nvCxnSpPr>
          <p:cNvPr id="10" name="Straight Arrow Connector 9">
            <a:extLst>
              <a:ext uri="{FF2B5EF4-FFF2-40B4-BE49-F238E27FC236}">
                <a16:creationId xmlns:a16="http://schemas.microsoft.com/office/drawing/2014/main" id="{508DCF48-7840-261C-7460-3599AA221B8B}"/>
              </a:ext>
            </a:extLst>
          </p:cNvPr>
          <p:cNvCxnSpPr>
            <a:stCxn id="4" idx="0"/>
            <a:endCxn id="5" idx="2"/>
          </p:cNvCxnSpPr>
          <p:nvPr/>
        </p:nvCxnSpPr>
        <p:spPr>
          <a:xfrm flipV="1">
            <a:off x="6096000" y="1969469"/>
            <a:ext cx="0" cy="278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B051DCC4-2C31-BB23-FBBF-0090E463A33D}"/>
              </a:ext>
            </a:extLst>
          </p:cNvPr>
          <p:cNvCxnSpPr>
            <a:stCxn id="6" idx="0"/>
            <a:endCxn id="4" idx="2"/>
          </p:cNvCxnSpPr>
          <p:nvPr/>
        </p:nvCxnSpPr>
        <p:spPr>
          <a:xfrm flipV="1">
            <a:off x="6096000" y="2754352"/>
            <a:ext cx="0" cy="3133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6DC6E96-4BAB-29C1-438F-497D1904BF01}"/>
              </a:ext>
            </a:extLst>
          </p:cNvPr>
          <p:cNvCxnSpPr>
            <a:cxnSpLocks/>
            <a:stCxn id="8" idx="0"/>
            <a:endCxn id="7" idx="2"/>
          </p:cNvCxnSpPr>
          <p:nvPr/>
        </p:nvCxnSpPr>
        <p:spPr>
          <a:xfrm flipV="1">
            <a:off x="6096000" y="4358696"/>
            <a:ext cx="0" cy="33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FB08FDE-2F16-7D39-53EF-93357FD41BA5}"/>
              </a:ext>
            </a:extLst>
          </p:cNvPr>
          <p:cNvCxnSpPr>
            <a:cxnSpLocks/>
            <a:stCxn id="7" idx="0"/>
            <a:endCxn id="6" idx="2"/>
          </p:cNvCxnSpPr>
          <p:nvPr/>
        </p:nvCxnSpPr>
        <p:spPr>
          <a:xfrm flipV="1">
            <a:off x="6096000" y="3573813"/>
            <a:ext cx="0" cy="278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5B157F5-6C90-2511-44A4-5E4E410C7515}"/>
              </a:ext>
            </a:extLst>
          </p:cNvPr>
          <p:cNvCxnSpPr>
            <a:cxnSpLocks/>
            <a:stCxn id="5" idx="0"/>
          </p:cNvCxnSpPr>
          <p:nvPr/>
        </p:nvCxnSpPr>
        <p:spPr>
          <a:xfrm flipV="1">
            <a:off x="6096000" y="1027906"/>
            <a:ext cx="0" cy="4354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196AB38-D8C4-6839-3F70-A61431D264E5}"/>
              </a:ext>
            </a:extLst>
          </p:cNvPr>
          <p:cNvCxnSpPr>
            <a:cxnSpLocks/>
            <a:endCxn id="8" idx="2"/>
          </p:cNvCxnSpPr>
          <p:nvPr/>
        </p:nvCxnSpPr>
        <p:spPr>
          <a:xfrm flipV="1">
            <a:off x="6096000" y="5203887"/>
            <a:ext cx="0" cy="427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Rectangle 27">
            <a:extLst>
              <a:ext uri="{FF2B5EF4-FFF2-40B4-BE49-F238E27FC236}">
                <a16:creationId xmlns:a16="http://schemas.microsoft.com/office/drawing/2014/main" id="{21D9BE91-C44A-A6A9-1694-B3A338F159EB}"/>
              </a:ext>
            </a:extLst>
          </p:cNvPr>
          <p:cNvSpPr/>
          <p:nvPr/>
        </p:nvSpPr>
        <p:spPr>
          <a:xfrm>
            <a:off x="5014331" y="5577043"/>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Console</a:t>
            </a:r>
          </a:p>
        </p:txBody>
      </p:sp>
      <p:cxnSp>
        <p:nvCxnSpPr>
          <p:cNvPr id="29" name="Straight Arrow Connector 28">
            <a:extLst>
              <a:ext uri="{FF2B5EF4-FFF2-40B4-BE49-F238E27FC236}">
                <a16:creationId xmlns:a16="http://schemas.microsoft.com/office/drawing/2014/main" id="{3B197CF4-647E-5373-0476-C3B298D2023D}"/>
              </a:ext>
            </a:extLst>
          </p:cNvPr>
          <p:cNvCxnSpPr>
            <a:cxnSpLocks/>
            <a:endCxn id="28" idx="2"/>
          </p:cNvCxnSpPr>
          <p:nvPr/>
        </p:nvCxnSpPr>
        <p:spPr>
          <a:xfrm flipV="1">
            <a:off x="6096000" y="6083145"/>
            <a:ext cx="0" cy="4849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611877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37042</TotalTime>
  <Words>3982</Words>
  <Application>Microsoft Office PowerPoint</Application>
  <PresentationFormat>Widescreen</PresentationFormat>
  <Paragraphs>412</Paragraphs>
  <Slides>47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Aptos</vt:lpstr>
      <vt:lpstr>Aptos Display</vt:lpstr>
      <vt:lpstr>Arial</vt:lpstr>
      <vt:lpstr>Cascadia Mono</vt:lpstr>
      <vt:lpstr>Courier New</vt:lpstr>
      <vt:lpstr>Office Theme</vt:lpstr>
      <vt:lpstr>AngbandOS</vt:lpstr>
      <vt:lpstr>Table of Contents</vt:lpstr>
      <vt:lpstr>Compiling and Running on Linux</vt:lpstr>
      <vt:lpstr>Game Serialization and Deserialization</vt:lpstr>
      <vt:lpstr>Game Serialization</vt:lpstr>
      <vt:lpstr>Game Deserialization Description</vt:lpstr>
      <vt:lpstr>Game Deserialization Algorithm</vt:lpstr>
      <vt:lpstr>Serialization</vt:lpstr>
      <vt:lpstr>Singleton Repository Serialization</vt:lpstr>
      <vt:lpstr>Serialization</vt:lpstr>
      <vt:lpstr>Deserialization Completeness</vt:lpstr>
      <vt:lpstr>Deserialization Walkthrough</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lpstr>Expressions</vt:lpstr>
      <vt:lpstr>Keystroke Source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36</cp:revision>
  <dcterms:created xsi:type="dcterms:W3CDTF">2024-11-13T17:40:27Z</dcterms:created>
  <dcterms:modified xsi:type="dcterms:W3CDTF">2026-06-13T21:10:32Z</dcterms:modified>
</cp:coreProperties>
</file>