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300" r:id="rId4"/>
    <p:sldId id="299" r:id="rId5"/>
    <p:sldId id="297" r:id="rId6"/>
    <p:sldId id="298" r:id="rId7"/>
    <p:sldId id="294" r:id="rId8"/>
    <p:sldId id="291" r:id="rId9"/>
    <p:sldId id="292" r:id="rId10"/>
    <p:sldId id="293" r:id="rId11"/>
    <p:sldId id="301" r:id="rId12"/>
    <p:sldId id="296" r:id="rId13"/>
    <p:sldId id="295" r:id="rId14"/>
    <p:sldId id="287" r:id="rId15"/>
    <p:sldId id="289" r:id="rId16"/>
    <p:sldId id="288" r:id="rId17"/>
    <p:sldId id="284" r:id="rId18"/>
    <p:sldId id="285" r:id="rId19"/>
    <p:sldId id="278" r:id="rId20"/>
    <p:sldId id="279" r:id="rId21"/>
    <p:sldId id="280" r:id="rId22"/>
    <p:sldId id="277" r:id="rId23"/>
    <p:sldId id="275" r:id="rId24"/>
    <p:sldId id="276" r:id="rId25"/>
    <p:sldId id="281" r:id="rId26"/>
    <p:sldId id="282" r:id="rId27"/>
    <p:sldId id="256" r:id="rId28"/>
    <p:sldId id="259" r:id="rId29"/>
    <p:sldId id="257" r:id="rId30"/>
    <p:sldId id="262" r:id="rId31"/>
    <p:sldId id="258" r:id="rId32"/>
    <p:sldId id="260" r:id="rId33"/>
    <p:sldId id="261" r:id="rId34"/>
    <p:sldId id="263" r:id="rId35"/>
    <p:sldId id="264" r:id="rId36"/>
    <p:sldId id="265" r:id="rId37"/>
    <p:sldId id="266" r:id="rId38"/>
    <p:sldId id="269" r:id="rId39"/>
    <p:sldId id="267" r:id="rId40"/>
    <p:sldId id="268" r:id="rId41"/>
    <p:sldId id="270" r:id="rId42"/>
    <p:sldId id="271" r:id="rId43"/>
    <p:sldId id="272" r:id="rId44"/>
    <p:sldId id="273"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117" d="100"/>
          <a:sy n="117" d="100"/>
        </p:scale>
        <p:origin x="15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5/2/2026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11F6-CFA7-EED8-ED8B-D87D6FF73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002E4-CC99-E96A-1223-6D8A8AF34511}"/>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22B2D5D8-0907-EC0F-6EBC-2BFD8CF1E06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2105725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normAutofit fontScale="92500" lnSpcReduction="10000"/>
          </a:bodyPr>
          <a:lstStyle/>
          <a:p>
            <a:pPr marL="0" indent="0">
              <a:buNone/>
            </a:pPr>
            <a:r>
              <a:rPr lang="en-US" dirty="0"/>
              <a:t>When the singleton repository is serialized, it enumerates all of the singleton for serialization.  If a singleton references a singleton that wasn't already serialized (further down the enumeration), the object reference details will be serialized with that earlier singleton.  The Spell singleton exhibits this behavior with the Realm singleton.  When the </a:t>
            </a:r>
            <a:r>
              <a:rPr lang="en-US" dirty="0" err="1"/>
              <a:t>SingletonRepository</a:t>
            </a:r>
            <a:r>
              <a:rPr lang="en-US" dirty="0"/>
              <a:t> is deserialized, the Spell singleton (earlier in the enumeration) only consumes the </a:t>
            </a:r>
            <a:r>
              <a:rPr lang="en-US" dirty="0" err="1"/>
              <a:t>ObjectId</a:t>
            </a:r>
            <a:r>
              <a:rPr lang="en-US" dirty="0"/>
              <a:t> from the object reference because the Realm object will have already been loaded during the 2-phase load and bind approach—but the Realm object will not have been bound.  When the </a:t>
            </a:r>
            <a:r>
              <a:rPr lang="en-US" dirty="0" err="1"/>
              <a:t>SingletonRepository</a:t>
            </a:r>
            <a:r>
              <a:rPr lang="en-US" dirty="0"/>
              <a:t> does encounter the Realm object for binding, only a Reference game state bag exists, with no binding properties.  To resolve this issue, the </a:t>
            </a:r>
            <a:r>
              <a:rPr lang="en-US" dirty="0" err="1"/>
              <a:t>ObjectIdToReference</a:t>
            </a:r>
            <a:r>
              <a:rPr lang="en-US" dirty="0"/>
              <a:t> dictionary tracks not only the object, but the game state bag that was used</a:t>
            </a:r>
          </a:p>
        </p:txBody>
      </p:sp>
    </p:spTree>
    <p:extLst>
      <p:ext uri="{BB962C8B-B14F-4D97-AF65-F5344CB8AC3E}">
        <p14:creationId xmlns:p14="http://schemas.microsoft.com/office/powerpoint/2010/main" val="1258926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98530-E49D-BBD5-514D-8FC85CC15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7CF99-9A13-1B49-FCD7-AC70E43D64CD}"/>
              </a:ext>
            </a:extLst>
          </p:cNvPr>
          <p:cNvSpPr>
            <a:spLocks noGrp="1"/>
          </p:cNvSpPr>
          <p:nvPr>
            <p:ph type="title"/>
          </p:nvPr>
        </p:nvSpPr>
        <p:spPr/>
        <p:txBody>
          <a:bodyPr/>
          <a:lstStyle/>
          <a:p>
            <a:r>
              <a:rPr lang="en-US" dirty="0"/>
              <a:t>Deserialization Walkthrough</a:t>
            </a:r>
          </a:p>
        </p:txBody>
      </p:sp>
      <p:sp>
        <p:nvSpPr>
          <p:cNvPr id="3" name="Content Placeholder 2">
            <a:extLst>
              <a:ext uri="{FF2B5EF4-FFF2-40B4-BE49-F238E27FC236}">
                <a16:creationId xmlns:a16="http://schemas.microsoft.com/office/drawing/2014/main" id="{5535A037-258D-FBD8-D806-4FB6B1A935A6}"/>
              </a:ext>
            </a:extLst>
          </p:cNvPr>
          <p:cNvSpPr>
            <a:spLocks noGrp="1"/>
          </p:cNvSpPr>
          <p:nvPr>
            <p:ph idx="1"/>
          </p:nvPr>
        </p:nvSpPr>
        <p:spPr/>
        <p:txBody>
          <a:bodyPr/>
          <a:lstStyle/>
          <a:p>
            <a:pPr marL="514350" indent="-514350">
              <a:buAutoNum type="arabicPeriod"/>
            </a:pPr>
            <a:r>
              <a:rPr lang="en-US" dirty="0"/>
              <a:t>The singletons are loaded.  The game state bag for the singleton is loaded using the </a:t>
            </a:r>
            <a:r>
              <a:rPr lang="en-US" dirty="0" err="1"/>
              <a:t>GetKey</a:t>
            </a:r>
            <a:r>
              <a:rPr lang="en-US" dirty="0"/>
              <a:t>.  It is either a reference or object game state bag.  The object id is retrieved and the </a:t>
            </a:r>
            <a:r>
              <a:rPr lang="en-US" dirty="0" err="1"/>
              <a:t>ObjectIdToReference</a:t>
            </a:r>
            <a:r>
              <a:rPr lang="en-US" dirty="0"/>
              <a:t> is created using the associated </a:t>
            </a:r>
            <a:r>
              <a:rPr lang="en-US" dirty="0" err="1"/>
              <a:t>ObjectId</a:t>
            </a:r>
            <a:r>
              <a:rPr lang="en-US" dirty="0"/>
              <a:t>.  If it was an object, the associated game state bag is tracked.  If it was a reference, a null is used for the game state bag.</a:t>
            </a:r>
          </a:p>
          <a:p>
            <a:pPr marL="514350" indent="-514350">
              <a:buAutoNum type="arabicPeriod"/>
            </a:pPr>
            <a:r>
              <a:rPr lang="en-US" dirty="0"/>
              <a:t>The singletons are bound.  </a:t>
            </a:r>
          </a:p>
        </p:txBody>
      </p:sp>
    </p:spTree>
    <p:extLst>
      <p:ext uri="{BB962C8B-B14F-4D97-AF65-F5344CB8AC3E}">
        <p14:creationId xmlns:p14="http://schemas.microsoft.com/office/powerpoint/2010/main" val="4002311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36935</TotalTime>
  <Words>3869</Words>
  <Application>Microsoft Office PowerPoint</Application>
  <PresentationFormat>Widescreen</PresentationFormat>
  <Paragraphs>377</Paragraphs>
  <Slides>44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Cascadia Mono</vt:lpstr>
      <vt:lpstr>Courier New</vt:lpstr>
      <vt:lpstr>Office Theme</vt:lpstr>
      <vt:lpstr>AngbandOS</vt:lpstr>
      <vt:lpstr>Table of Contents</vt:lpstr>
      <vt:lpstr>Game Serialization and Deserialization</vt:lpstr>
      <vt:lpstr>Game Serialization</vt:lpstr>
      <vt:lpstr>Game Deserialization Description</vt:lpstr>
      <vt:lpstr>Game Deserialization Algorithm</vt:lpstr>
      <vt:lpstr>Serialization</vt:lpstr>
      <vt:lpstr>Singleton Repository Serialization</vt:lpstr>
      <vt:lpstr>Serialization</vt:lpstr>
      <vt:lpstr>Deserialization Completeness</vt:lpstr>
      <vt:lpstr>Deserialization Walkthrough</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30</cp:revision>
  <dcterms:created xsi:type="dcterms:W3CDTF">2024-11-13T17:40:27Z</dcterms:created>
  <dcterms:modified xsi:type="dcterms:W3CDTF">2026-05-11T15:13:20Z</dcterms:modified>
</cp:coreProperties>
</file>