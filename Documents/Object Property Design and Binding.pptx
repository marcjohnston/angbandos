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6" r:id="rId3"/>
    <p:sldId id="300" r:id="rId4"/>
    <p:sldId id="299" r:id="rId5"/>
    <p:sldId id="297" r:id="rId6"/>
    <p:sldId id="298" r:id="rId7"/>
    <p:sldId id="294" r:id="rId8"/>
    <p:sldId id="291" r:id="rId9"/>
    <p:sldId id="292" r:id="rId10"/>
    <p:sldId id="293" r:id="rId11"/>
    <p:sldId id="301" r:id="rId12"/>
    <p:sldId id="296" r:id="rId13"/>
    <p:sldId id="295" r:id="rId14"/>
    <p:sldId id="287" r:id="rId15"/>
    <p:sldId id="289" r:id="rId16"/>
    <p:sldId id="288" r:id="rId17"/>
    <p:sldId id="284" r:id="rId18"/>
    <p:sldId id="285" r:id="rId19"/>
    <p:sldId id="278" r:id="rId20"/>
    <p:sldId id="279" r:id="rId21"/>
    <p:sldId id="280" r:id="rId22"/>
    <p:sldId id="277" r:id="rId23"/>
    <p:sldId id="275" r:id="rId24"/>
    <p:sldId id="276" r:id="rId25"/>
    <p:sldId id="281" r:id="rId26"/>
    <p:sldId id="282" r:id="rId27"/>
    <p:sldId id="256" r:id="rId28"/>
    <p:sldId id="259" r:id="rId29"/>
    <p:sldId id="257" r:id="rId30"/>
    <p:sldId id="262" r:id="rId31"/>
    <p:sldId id="258" r:id="rId32"/>
    <p:sldId id="260" r:id="rId33"/>
    <p:sldId id="261" r:id="rId34"/>
    <p:sldId id="263" r:id="rId35"/>
    <p:sldId id="264" r:id="rId36"/>
    <p:sldId id="265" r:id="rId37"/>
    <p:sldId id="266" r:id="rId38"/>
    <p:sldId id="269" r:id="rId39"/>
    <p:sldId id="267" r:id="rId40"/>
    <p:sldId id="268" r:id="rId41"/>
    <p:sldId id="270" r:id="rId42"/>
    <p:sldId id="271" r:id="rId43"/>
    <p:sldId id="272" r:id="rId44"/>
    <p:sldId id="273" r:id="rId45"/>
    <p:sldId id="302" r:id="rId46"/>
    <p:sldId id="30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1" autoAdjust="0"/>
    <p:restoredTop sz="94660"/>
  </p:normalViewPr>
  <p:slideViewPr>
    <p:cSldViewPr snapToGrid="0">
      <p:cViewPr varScale="1">
        <p:scale>
          <a:sx n="86" d="100"/>
          <a:sy n="86" d="100"/>
        </p:scale>
        <p:origin x="32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8D19-3612-714A-BC24-84CCB45541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9CC3FC-47EE-4027-4FDB-7612ED6F3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9B9450-A297-51D9-5E9B-5F5D14814B58}"/>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76748A45-7475-F7F2-19FF-A0D65F50A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6D31D-D785-5BB3-8BE5-5B3B211144E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492185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80EC-6D8F-5538-D354-F4E268B810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B6428B-FB78-D534-B6B6-CC18A0732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2BD11-5115-B8EE-24F1-3E50BAC64555}"/>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EE4AEF3B-82F1-EBEC-ED69-35FF7CDC8E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77C3D-9037-54B0-CBFC-A226E3729C2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383918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7957-6B20-FCE4-ECF4-938A8D14F4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6DD34A-0B86-3F2B-717C-7325424F6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73C4E-8EBB-AC72-05DF-1C2E62E1BCAB}"/>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37DB21FA-0811-8DF0-A3C0-793A478FF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CBB24-534B-6BA0-C034-035190658D7D}"/>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35234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EF6E-2F24-9A81-9BC0-6DB61F6CD1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FD4D7-D3EA-1AD7-5228-8E06F8003C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1D5C06-7046-8744-0C81-24A6AC38A0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C2E714-0F33-C102-F6C7-5B6D7049BD85}"/>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6" name="Footer Placeholder 5">
            <a:extLst>
              <a:ext uri="{FF2B5EF4-FFF2-40B4-BE49-F238E27FC236}">
                <a16:creationId xmlns:a16="http://schemas.microsoft.com/office/drawing/2014/main" id="{A77F82EC-D1AA-9736-9DEE-EAE00B736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80980-EE8B-D984-AE40-9AD00792AD06}"/>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16757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88CD-B512-1D50-3F4E-4C1EC263C2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963DAE-FC77-AC3C-3EAC-823863CAB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6BEAB-3E99-96E5-63E5-416A8E5670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B0236E-3850-26D6-EA7C-35248D7D5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A7B27-E088-DC10-DAE9-FF0B774384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A478AF-ECDE-8B4D-07EF-2A486F46FE83}"/>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8" name="Footer Placeholder 7">
            <a:extLst>
              <a:ext uri="{FF2B5EF4-FFF2-40B4-BE49-F238E27FC236}">
                <a16:creationId xmlns:a16="http://schemas.microsoft.com/office/drawing/2014/main" id="{7E252E81-F8B9-B776-99EB-C4CCDA224A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5E38C4-BF86-DA59-8B6A-CFF01E57FA6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2584627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3FC6-2AAD-BF64-EDAE-5CA05F09BF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0C47D2-0833-135D-5951-B0F6F7DA009C}"/>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4" name="Footer Placeholder 3">
            <a:extLst>
              <a:ext uri="{FF2B5EF4-FFF2-40B4-BE49-F238E27FC236}">
                <a16:creationId xmlns:a16="http://schemas.microsoft.com/office/drawing/2014/main" id="{AE9E90B6-D310-2046-C981-5167BD2DC7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3A879E-F943-965C-8EBC-30D224ED70C5}"/>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51670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776C2-B238-AC94-BAE8-868A30ABDB8A}"/>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3" name="Footer Placeholder 2">
            <a:extLst>
              <a:ext uri="{FF2B5EF4-FFF2-40B4-BE49-F238E27FC236}">
                <a16:creationId xmlns:a16="http://schemas.microsoft.com/office/drawing/2014/main" id="{9917F76F-D890-5CDD-D45A-E2B17D25F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A5A1B-434D-6158-0D7B-09CE358F31D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22519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7A30-EE4C-D80E-01A2-391FF930E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F3070-F233-CDCA-CA08-21C3A1FA83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A4AAD5-020E-B4AF-43E3-566A08DE0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E78EB-F4A9-6B16-4CCD-D57A539FED05}"/>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6" name="Footer Placeholder 5">
            <a:extLst>
              <a:ext uri="{FF2B5EF4-FFF2-40B4-BE49-F238E27FC236}">
                <a16:creationId xmlns:a16="http://schemas.microsoft.com/office/drawing/2014/main" id="{C56B1FA7-9B48-1064-289B-11B060B0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F4C08-F976-D9D0-ADB3-5D1CC4757DB9}"/>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7908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0DDA-4AD6-3D7D-29F4-F99DCD2125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67E530-5F15-1434-AB2E-C9FD21E1B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B63532-C1C5-7F0D-BC1C-DB4BB4F7D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D6949-253A-2A56-0EFE-5CA07F09F304}"/>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6" name="Footer Placeholder 5">
            <a:extLst>
              <a:ext uri="{FF2B5EF4-FFF2-40B4-BE49-F238E27FC236}">
                <a16:creationId xmlns:a16="http://schemas.microsoft.com/office/drawing/2014/main" id="{4D43FBAC-F193-FF2C-AA8A-17A6437021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5D54B-E449-D4E8-64F4-90201E1BD02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976973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2B5C-4432-B98F-E401-21DAB4212A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7ABDA3-DF67-CD0D-AD9C-6378A0632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65A15-C94D-DA90-5A28-1041D301E7BC}"/>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37E521C1-760E-56D1-8587-63223CDBB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AF201-9495-DC82-66F9-8EC37189A6E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471503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FF027-144E-7A30-D6AF-F2313E8ED3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82914E-9281-B0FD-E0E6-B26FE0DC2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406BE-FC54-5317-5ACC-30D89CFD1EF9}"/>
              </a:ext>
            </a:extLst>
          </p:cNvPr>
          <p:cNvSpPr>
            <a:spLocks noGrp="1"/>
          </p:cNvSpPr>
          <p:nvPr>
            <p:ph type="dt" sz="half" idx="10"/>
          </p:nvPr>
        </p:nvSpPr>
        <p:spPr/>
        <p:txBody>
          <a:body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84B13FA2-3E2A-FD92-781C-FD32BA4030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3189F-0E9A-7BBF-6E63-16CED80BFC7C}"/>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421538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DBA1D-653B-0153-F61C-233C49D359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E2AA50-5304-79D6-B12F-A1C2C239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6A733-63D3-468C-3683-31383551A0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AEA4B1-7707-49BB-9265-EAC029350772}" type="datetimeFigureOut">
              <a:rPr lang="en-US" smtClean="0"/>
              <a:t>5/28/2026</a:t>
            </a:fld>
            <a:endParaRPr lang="en-US"/>
          </a:p>
        </p:txBody>
      </p:sp>
      <p:sp>
        <p:nvSpPr>
          <p:cNvPr id="5" name="Footer Placeholder 4">
            <a:extLst>
              <a:ext uri="{FF2B5EF4-FFF2-40B4-BE49-F238E27FC236}">
                <a16:creationId xmlns:a16="http://schemas.microsoft.com/office/drawing/2014/main" id="{7F1AB5F5-F923-C24A-D267-87957CAAB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652A14-3071-A21E-18B0-DA5D5B35F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73EFE6-D448-490A-80C1-D66688983415}" type="slidenum">
              <a:rPr lang="en-US" smtClean="0"/>
              <a:t>‹#›</a:t>
            </a:fld>
            <a:endParaRPr lang="en-US"/>
          </a:p>
        </p:txBody>
      </p:sp>
    </p:spTree>
    <p:extLst>
      <p:ext uri="{BB962C8B-B14F-4D97-AF65-F5344CB8AC3E}">
        <p14:creationId xmlns:p14="http://schemas.microsoft.com/office/powerpoint/2010/main" val="212570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C7D4-1732-8825-6CC4-B3379616313C}"/>
              </a:ext>
            </a:extLst>
          </p:cNvPr>
          <p:cNvSpPr>
            <a:spLocks noGrp="1"/>
          </p:cNvSpPr>
          <p:nvPr>
            <p:ph type="ctrTitle"/>
          </p:nvPr>
        </p:nvSpPr>
        <p:spPr/>
        <p:txBody>
          <a:bodyPr/>
          <a:lstStyle/>
          <a:p>
            <a:r>
              <a:rPr lang="en-US" dirty="0" err="1"/>
              <a:t>AngbandOS</a:t>
            </a:r>
            <a:endParaRPr lang="en-US" dirty="0"/>
          </a:p>
        </p:txBody>
      </p:sp>
      <p:sp>
        <p:nvSpPr>
          <p:cNvPr id="3" name="Subtitle 2">
            <a:extLst>
              <a:ext uri="{FF2B5EF4-FFF2-40B4-BE49-F238E27FC236}">
                <a16:creationId xmlns:a16="http://schemas.microsoft.com/office/drawing/2014/main" id="{62CC47FB-0408-FE7E-5AD4-F2BB64CEA75F}"/>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9161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35B3-2622-C8C8-7770-9CCF136BE32D}"/>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BF2CE6FA-F335-6457-9EB8-D6FE5A5913CC}"/>
              </a:ext>
            </a:extLst>
          </p:cNvPr>
          <p:cNvSpPr>
            <a:spLocks noGrp="1"/>
          </p:cNvSpPr>
          <p:nvPr>
            <p:ph idx="1"/>
          </p:nvPr>
        </p:nvSpPr>
        <p:spPr/>
        <p:txBody>
          <a:bodyPr/>
          <a:lstStyle/>
          <a:p>
            <a:r>
              <a:rPr lang="en-US" dirty="0"/>
              <a:t>Web Topology</a:t>
            </a:r>
          </a:p>
          <a:p>
            <a:r>
              <a:rPr lang="en-US" dirty="0"/>
              <a:t>Play and create new game flow diagrams</a:t>
            </a:r>
          </a:p>
        </p:txBody>
      </p:sp>
    </p:spTree>
    <p:extLst>
      <p:ext uri="{BB962C8B-B14F-4D97-AF65-F5344CB8AC3E}">
        <p14:creationId xmlns:p14="http://schemas.microsoft.com/office/powerpoint/2010/main" val="373918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11F6-CFA7-EED8-ED8B-D87D6FF73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002E4-CC99-E96A-1223-6D8A8AF34511}"/>
              </a:ext>
            </a:extLst>
          </p:cNvPr>
          <p:cNvSpPr>
            <a:spLocks noGrp="1"/>
          </p:cNvSpPr>
          <p:nvPr>
            <p:ph type="title"/>
          </p:nvPr>
        </p:nvSpPr>
        <p:spPr/>
        <p:txBody>
          <a:bodyPr/>
          <a:lstStyle/>
          <a:p>
            <a:r>
              <a:rPr lang="en-US" dirty="0"/>
              <a:t>Game Serialization and Deserialization</a:t>
            </a:r>
          </a:p>
        </p:txBody>
      </p:sp>
      <p:sp>
        <p:nvSpPr>
          <p:cNvPr id="3" name="Content Placeholder 2">
            <a:extLst>
              <a:ext uri="{FF2B5EF4-FFF2-40B4-BE49-F238E27FC236}">
                <a16:creationId xmlns:a16="http://schemas.microsoft.com/office/drawing/2014/main" id="{22B2D5D8-0907-EC0F-6EBC-2BFD8CF1E06E}"/>
              </a:ext>
            </a:extLst>
          </p:cNvPr>
          <p:cNvSpPr>
            <a:spLocks noGrp="1"/>
          </p:cNvSpPr>
          <p:nvPr>
            <p:ph idx="1"/>
          </p:nvPr>
        </p:nvSpPr>
        <p:spPr/>
        <p:txBody>
          <a:bodyPr/>
          <a:lstStyle/>
          <a:p>
            <a:pPr marL="0" indent="0">
              <a:buNone/>
            </a:pPr>
            <a:r>
              <a:rPr lang="en-US" dirty="0"/>
              <a:t>To serialize and deserialize the game state, a hybrid approach is needed because singletons and the game objects are created by the game.  Those objects need to be hydrated—they cannot be created by the deserialization process.  There are various additional objects that will need to be created and hydrated by the deserialization process (e.g. monsters</a:t>
            </a:r>
            <a:r>
              <a:rPr lang="en-US"/>
              <a:t>, items).</a:t>
            </a:r>
            <a:endParaRPr lang="en-US" dirty="0"/>
          </a:p>
        </p:txBody>
      </p:sp>
    </p:spTree>
    <p:extLst>
      <p:ext uri="{BB962C8B-B14F-4D97-AF65-F5344CB8AC3E}">
        <p14:creationId xmlns:p14="http://schemas.microsoft.com/office/powerpoint/2010/main" val="2105725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FE6D-FEDB-53F5-D0BE-82F6646D2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3EBBA-17A3-CDF3-A2BA-84760F391549}"/>
              </a:ext>
            </a:extLst>
          </p:cNvPr>
          <p:cNvSpPr>
            <a:spLocks noGrp="1"/>
          </p:cNvSpPr>
          <p:nvPr>
            <p:ph type="title"/>
          </p:nvPr>
        </p:nvSpPr>
        <p:spPr/>
        <p:txBody>
          <a:bodyPr/>
          <a:lstStyle/>
          <a:p>
            <a:r>
              <a:rPr lang="en-US" dirty="0"/>
              <a:t>Game Serialization</a:t>
            </a:r>
          </a:p>
        </p:txBody>
      </p:sp>
      <p:sp>
        <p:nvSpPr>
          <p:cNvPr id="3" name="Content Placeholder 2">
            <a:extLst>
              <a:ext uri="{FF2B5EF4-FFF2-40B4-BE49-F238E27FC236}">
                <a16:creationId xmlns:a16="http://schemas.microsoft.com/office/drawing/2014/main" id="{8254D637-3DB2-F82F-AC55-ABCBA59D285D}"/>
              </a:ext>
            </a:extLst>
          </p:cNvPr>
          <p:cNvSpPr>
            <a:spLocks noGrp="1"/>
          </p:cNvSpPr>
          <p:nvPr>
            <p:ph idx="1"/>
          </p:nvPr>
        </p:nvSpPr>
        <p:spPr/>
        <p:txBody>
          <a:bodyPr>
            <a:normAutofit fontScale="85000" lnSpcReduction="20000"/>
          </a:bodyPr>
          <a:lstStyle/>
          <a:p>
            <a:pPr marL="0" indent="0">
              <a:buNone/>
            </a:pPr>
            <a:r>
              <a:rPr lang="en-US" dirty="0"/>
              <a:t>Game serialization is performed by traversing a supplied object for fields.  Properties are ignored.  To prevent a field from being serialized, simply make it a property.</a:t>
            </a:r>
          </a:p>
          <a:p>
            <a:pPr marL="0" indent="0">
              <a:buNone/>
            </a:pPr>
            <a:r>
              <a:rPr lang="en-US" dirty="0"/>
              <a:t>To serialize a game, two objects are serialized.  </a:t>
            </a:r>
          </a:p>
          <a:p>
            <a:r>
              <a:rPr lang="en-US" dirty="0"/>
              <a:t>The Game Object and the</a:t>
            </a:r>
          </a:p>
          <a:p>
            <a:r>
              <a:rPr lang="en-US" dirty="0"/>
              <a:t>Singleton Repository</a:t>
            </a:r>
          </a:p>
          <a:p>
            <a:pPr marL="0" indent="0">
              <a:buNone/>
            </a:pPr>
            <a:r>
              <a:rPr lang="en-US" dirty="0"/>
              <a:t>The game object declares the singleton repository as a property to prevent it from being serialized.</a:t>
            </a:r>
          </a:p>
          <a:p>
            <a:pPr marL="0" indent="0">
              <a:buNone/>
            </a:pPr>
            <a:r>
              <a:rPr lang="en-US" i="1" dirty="0">
                <a:highlight>
                  <a:srgbClr val="FFFF00"/>
                </a:highlight>
              </a:rPr>
              <a:t>Because properties are ignored, there is an issue where a property may have state data that is ignored.  Also, interfaces can only be implemented with properties.  The Attribute has an Index property that needs to be rehydrated.  If the game configuration is loaded in a different order, the read only attribute sets will </a:t>
            </a:r>
            <a:r>
              <a:rPr lang="en-US" i="1">
                <a:highlight>
                  <a:srgbClr val="FFFF00"/>
                </a:highlight>
              </a:rPr>
              <a:t>be confused.</a:t>
            </a:r>
            <a:endParaRPr lang="en-US" i="1" dirty="0">
              <a:highlight>
                <a:srgbClr val="FFFF00"/>
              </a:highlight>
            </a:endParaRPr>
          </a:p>
        </p:txBody>
      </p:sp>
    </p:spTree>
    <p:extLst>
      <p:ext uri="{BB962C8B-B14F-4D97-AF65-F5344CB8AC3E}">
        <p14:creationId xmlns:p14="http://schemas.microsoft.com/office/powerpoint/2010/main" val="70036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74F1C-DB1A-C5FB-1A94-FCC840F86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B27C7-6F06-22C4-9569-5E403AA531C4}"/>
              </a:ext>
            </a:extLst>
          </p:cNvPr>
          <p:cNvSpPr>
            <a:spLocks noGrp="1"/>
          </p:cNvSpPr>
          <p:nvPr>
            <p:ph type="title"/>
          </p:nvPr>
        </p:nvSpPr>
        <p:spPr/>
        <p:txBody>
          <a:bodyPr/>
          <a:lstStyle/>
          <a:p>
            <a:r>
              <a:rPr lang="en-US" dirty="0"/>
              <a:t>Game Deserialization Description</a:t>
            </a:r>
          </a:p>
        </p:txBody>
      </p:sp>
      <p:sp>
        <p:nvSpPr>
          <p:cNvPr id="3" name="Content Placeholder 2">
            <a:extLst>
              <a:ext uri="{FF2B5EF4-FFF2-40B4-BE49-F238E27FC236}">
                <a16:creationId xmlns:a16="http://schemas.microsoft.com/office/drawing/2014/main" id="{2852F0E9-4A06-FF8E-8C99-97210FA13693}"/>
              </a:ext>
            </a:extLst>
          </p:cNvPr>
          <p:cNvSpPr>
            <a:spLocks noGrp="1"/>
          </p:cNvSpPr>
          <p:nvPr>
            <p:ph idx="1"/>
          </p:nvPr>
        </p:nvSpPr>
        <p:spPr/>
        <p:txBody>
          <a:bodyPr>
            <a:normAutofit fontScale="92500" lnSpcReduction="20000"/>
          </a:bodyPr>
          <a:lstStyle/>
          <a:p>
            <a:pPr marL="0" indent="0">
              <a:buNone/>
            </a:pPr>
            <a:r>
              <a:rPr lang="en-US" dirty="0"/>
              <a:t>Game deserialization is performed by:</a:t>
            </a:r>
          </a:p>
          <a:p>
            <a:pPr marL="0" indent="0">
              <a:buNone/>
            </a:pPr>
            <a:r>
              <a:rPr lang="en-US" dirty="0"/>
              <a:t>Singletons utilize a two phase approach for load and bind.  This accommodates singletons that reference other singletons.  That referencing process is performed during the bind phase.  The load phase ensured all singletons exist.  Most of those references will be performed during the bind phase and will not be included in the game state, but it is possible that singletons will reference game objects and other singletons using state data.  For this reason, the deserialization will also require a two phase approach—we cannot generate a singleton while a singleton is restoring.  If a singleton references a game object, it can be created safely.  When the game object needs that reference, the </a:t>
            </a:r>
            <a:r>
              <a:rPr lang="en-US" dirty="0" err="1"/>
              <a:t>deserializer</a:t>
            </a:r>
            <a:r>
              <a:rPr lang="en-US" dirty="0"/>
              <a:t> will pass the reference to the created object.  Game state will never have references to the game object.</a:t>
            </a:r>
          </a:p>
        </p:txBody>
      </p:sp>
    </p:spTree>
    <p:extLst>
      <p:ext uri="{BB962C8B-B14F-4D97-AF65-F5344CB8AC3E}">
        <p14:creationId xmlns:p14="http://schemas.microsoft.com/office/powerpoint/2010/main" val="55793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266F-98EA-00B9-0E43-EE442D615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9C7CC-FB7C-969A-7F49-9318ACACBC45}"/>
              </a:ext>
            </a:extLst>
          </p:cNvPr>
          <p:cNvSpPr>
            <a:spLocks noGrp="1"/>
          </p:cNvSpPr>
          <p:nvPr>
            <p:ph type="title"/>
          </p:nvPr>
        </p:nvSpPr>
        <p:spPr/>
        <p:txBody>
          <a:bodyPr/>
          <a:lstStyle/>
          <a:p>
            <a:r>
              <a:rPr lang="en-US" dirty="0"/>
              <a:t>Game Deserialization Algorithm</a:t>
            </a:r>
          </a:p>
        </p:txBody>
      </p:sp>
      <p:sp>
        <p:nvSpPr>
          <p:cNvPr id="3" name="Content Placeholder 2">
            <a:extLst>
              <a:ext uri="{FF2B5EF4-FFF2-40B4-BE49-F238E27FC236}">
                <a16:creationId xmlns:a16="http://schemas.microsoft.com/office/drawing/2014/main" id="{EF663618-232A-26B6-86DA-9DE7C4E2D7AC}"/>
              </a:ext>
            </a:extLst>
          </p:cNvPr>
          <p:cNvSpPr>
            <a:spLocks noGrp="1"/>
          </p:cNvSpPr>
          <p:nvPr>
            <p:ph idx="1"/>
          </p:nvPr>
        </p:nvSpPr>
        <p:spPr/>
        <p:txBody>
          <a:bodyPr>
            <a:normAutofit fontScale="92500" lnSpcReduction="10000"/>
          </a:bodyPr>
          <a:lstStyle/>
          <a:p>
            <a:pPr marL="0" indent="0">
              <a:buNone/>
            </a:pPr>
            <a:r>
              <a:rPr lang="en-US" dirty="0"/>
              <a:t>Game deserialization is performed by:</a:t>
            </a:r>
          </a:p>
          <a:p>
            <a:pPr marL="514350" indent="-514350">
              <a:buAutoNum type="arabicPeriod"/>
            </a:pPr>
            <a:r>
              <a:rPr lang="en-US" dirty="0"/>
              <a:t>Load - Singleton repository load is performed via the configuration.  Objects that are created fulfill the object id to reference dictionary for the </a:t>
            </a:r>
            <a:r>
              <a:rPr lang="en-US" dirty="0" err="1"/>
              <a:t>json</a:t>
            </a:r>
            <a:r>
              <a:rPr lang="en-US" dirty="0"/>
              <a:t> deserialization.  This requires a lookup on the dictionary </a:t>
            </a:r>
            <a:r>
              <a:rPr lang="en-US" dirty="0" err="1"/>
              <a:t>json</a:t>
            </a:r>
            <a:r>
              <a:rPr lang="en-US" dirty="0"/>
              <a:t> bag for the matching singleton.  Once the load is complete, if there are any extra bags in the </a:t>
            </a:r>
            <a:r>
              <a:rPr lang="en-US" dirty="0" err="1"/>
              <a:t>json</a:t>
            </a:r>
            <a:r>
              <a:rPr lang="en-US" dirty="0"/>
              <a:t>, then there is a mismatch of game to </a:t>
            </a:r>
            <a:r>
              <a:rPr lang="en-US" dirty="0" err="1"/>
              <a:t>json</a:t>
            </a:r>
            <a:r>
              <a:rPr lang="en-US" dirty="0"/>
              <a:t>.  If a singleton doesn't have a matching bag, again, there is a mismatch of the game to the </a:t>
            </a:r>
            <a:r>
              <a:rPr lang="en-US" dirty="0" err="1"/>
              <a:t>json</a:t>
            </a:r>
            <a:r>
              <a:rPr lang="en-US" dirty="0"/>
              <a:t>.</a:t>
            </a:r>
          </a:p>
          <a:p>
            <a:pPr marL="514350" indent="-514350">
              <a:buAutoNum type="arabicPeriod"/>
            </a:pPr>
            <a:r>
              <a:rPr lang="en-US" dirty="0"/>
              <a:t>Bind - Singleton repository bind is performed for the loaded singletons.  The </a:t>
            </a:r>
            <a:r>
              <a:rPr lang="en-US" dirty="0" err="1"/>
              <a:t>json</a:t>
            </a:r>
            <a:r>
              <a:rPr lang="en-US" dirty="0"/>
              <a:t> bag is passed to the singleton bind method for restore.  Verification can also be performed by matching the object fields with the values in the </a:t>
            </a:r>
            <a:r>
              <a:rPr lang="en-US" dirty="0" err="1"/>
              <a:t>json</a:t>
            </a:r>
            <a:r>
              <a:rPr lang="en-US" dirty="0"/>
              <a:t> bag.</a:t>
            </a:r>
          </a:p>
        </p:txBody>
      </p:sp>
    </p:spTree>
    <p:extLst>
      <p:ext uri="{BB962C8B-B14F-4D97-AF65-F5344CB8AC3E}">
        <p14:creationId xmlns:p14="http://schemas.microsoft.com/office/powerpoint/2010/main" val="92568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6ADAE-BC40-65F6-C300-D4D00E669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0C7C2-B85C-61BC-82BB-FD0616A183C8}"/>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0E6F257-C232-9620-E567-F2EFC2E26F9F}"/>
              </a:ext>
            </a:extLst>
          </p:cNvPr>
          <p:cNvSpPr>
            <a:spLocks noGrp="1"/>
          </p:cNvSpPr>
          <p:nvPr>
            <p:ph idx="1"/>
          </p:nvPr>
        </p:nvSpPr>
        <p:spPr/>
        <p:txBody>
          <a:bodyPr/>
          <a:lstStyle/>
          <a:p>
            <a:pPr marL="0" indent="0">
              <a:buNone/>
            </a:pPr>
            <a:r>
              <a:rPr lang="en-US" dirty="0"/>
              <a:t>Due to polymorphism in the game, serialization is designed to traverse the inheritance tree and using reflection to find all fields for serialization.</a:t>
            </a:r>
          </a:p>
          <a:p>
            <a:pPr marL="0" indent="0">
              <a:buNone/>
            </a:pPr>
            <a:r>
              <a:rPr lang="en-US" dirty="0"/>
              <a:t>During deserialization the game state bag should be passed to each </a:t>
            </a:r>
            <a:r>
              <a:rPr lang="en-US" dirty="0" err="1"/>
              <a:t>base.ctor</a:t>
            </a:r>
            <a:r>
              <a:rPr lang="en-US"/>
              <a:t>.</a:t>
            </a:r>
            <a:endParaRPr lang="en-US" dirty="0"/>
          </a:p>
        </p:txBody>
      </p:sp>
    </p:spTree>
    <p:extLst>
      <p:ext uri="{BB962C8B-B14F-4D97-AF65-F5344CB8AC3E}">
        <p14:creationId xmlns:p14="http://schemas.microsoft.com/office/powerpoint/2010/main" val="333266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FFD7-09FF-5530-D775-58313F11F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C62D4-0263-C933-F627-5AC7DFFA038B}"/>
              </a:ext>
            </a:extLst>
          </p:cNvPr>
          <p:cNvSpPr>
            <a:spLocks noGrp="1"/>
          </p:cNvSpPr>
          <p:nvPr>
            <p:ph type="title"/>
          </p:nvPr>
        </p:nvSpPr>
        <p:spPr/>
        <p:txBody>
          <a:bodyPr/>
          <a:lstStyle/>
          <a:p>
            <a:r>
              <a:rPr lang="en-US" dirty="0"/>
              <a:t>Singleton Repository Serialization</a:t>
            </a:r>
          </a:p>
        </p:txBody>
      </p:sp>
      <p:sp>
        <p:nvSpPr>
          <p:cNvPr id="3" name="Content Placeholder 2">
            <a:extLst>
              <a:ext uri="{FF2B5EF4-FFF2-40B4-BE49-F238E27FC236}">
                <a16:creationId xmlns:a16="http://schemas.microsoft.com/office/drawing/2014/main" id="{F8A308AD-3190-E5DC-5B4C-6E438CD5DB2A}"/>
              </a:ext>
            </a:extLst>
          </p:cNvPr>
          <p:cNvSpPr>
            <a:spLocks noGrp="1"/>
          </p:cNvSpPr>
          <p:nvPr>
            <p:ph idx="1"/>
          </p:nvPr>
        </p:nvSpPr>
        <p:spPr/>
        <p:txBody>
          <a:bodyPr>
            <a:normAutofit fontScale="92500" lnSpcReduction="10000"/>
          </a:bodyPr>
          <a:lstStyle/>
          <a:p>
            <a:pPr marL="0" indent="0">
              <a:buNone/>
            </a:pPr>
            <a:r>
              <a:rPr lang="en-US" dirty="0"/>
              <a:t>The singleton repository has a public serialize method that returns a </a:t>
            </a:r>
            <a:r>
              <a:rPr lang="en-US" dirty="0" err="1"/>
              <a:t>DictionaryGameStateBag</a:t>
            </a:r>
            <a:r>
              <a:rPr lang="en-US" dirty="0"/>
              <a:t>.  The key is the unique </a:t>
            </a:r>
            <a:r>
              <a:rPr lang="en-US" dirty="0" err="1"/>
              <a:t>IGetKey</a:t>
            </a:r>
            <a:r>
              <a:rPr lang="en-US" dirty="0"/>
              <a:t> key for each singleton.  The value is the </a:t>
            </a:r>
            <a:r>
              <a:rPr lang="en-US" dirty="0" err="1"/>
              <a:t>GameStateBag</a:t>
            </a:r>
            <a:r>
              <a:rPr lang="en-US" dirty="0"/>
              <a:t>.  During deserialization, a lookup in the </a:t>
            </a:r>
            <a:r>
              <a:rPr lang="en-US" dirty="0" err="1"/>
              <a:t>DictionaryGameStateBag</a:t>
            </a:r>
            <a:r>
              <a:rPr lang="en-US" dirty="0"/>
              <a:t> is performed for the appropriate </a:t>
            </a:r>
            <a:r>
              <a:rPr lang="en-US" dirty="0" err="1"/>
              <a:t>GameStateBag</a:t>
            </a:r>
            <a:r>
              <a:rPr lang="en-US" dirty="0"/>
              <a:t> by key which is then sent to the constructor with the configuration entity.</a:t>
            </a:r>
          </a:p>
          <a:p>
            <a:pPr marL="0" indent="0">
              <a:buNone/>
            </a:pPr>
            <a:r>
              <a:rPr lang="en-US" dirty="0"/>
              <a:t>For this process to work, </a:t>
            </a:r>
            <a:r>
              <a:rPr lang="en-US" dirty="0" err="1"/>
              <a:t>GameConfiguration</a:t>
            </a:r>
            <a:r>
              <a:rPr lang="en-US" dirty="0"/>
              <a:t> objects must inherit from the </a:t>
            </a:r>
            <a:r>
              <a:rPr lang="en-US" dirty="0" err="1"/>
              <a:t>IGetKeyGameConfiguration</a:t>
            </a:r>
            <a:r>
              <a:rPr lang="en-US" dirty="0"/>
              <a:t>.  This ensures the configuration entity exposes the string Key property that is needed.</a:t>
            </a:r>
          </a:p>
          <a:p>
            <a:pPr marL="0" indent="0">
              <a:buNone/>
            </a:pPr>
            <a:r>
              <a:rPr lang="en-US" dirty="0"/>
              <a:t>For composite types, the </a:t>
            </a:r>
            <a:r>
              <a:rPr lang="en-US" dirty="0" err="1"/>
              <a:t>GameConfiguration</a:t>
            </a:r>
            <a:r>
              <a:rPr lang="en-US" dirty="0"/>
              <a:t> will implement a function like:</a:t>
            </a:r>
          </a:p>
          <a:p>
            <a:pPr marL="0" indent="0">
              <a:buNone/>
            </a:pPr>
            <a:r>
              <a:rPr lang="en-US" sz="1500" dirty="0">
                <a:latin typeface="Courier New" panose="02070309020205020404" pitchFamily="49" charset="0"/>
                <a:cs typeface="Courier New" panose="02070309020205020404" pitchFamily="49" charset="0"/>
              </a:rPr>
              <a:t> public string? Key =&gt; $"{</a:t>
            </a:r>
            <a:r>
              <a:rPr lang="en-US" sz="1500" dirty="0" err="1">
                <a:latin typeface="Courier New" panose="02070309020205020404" pitchFamily="49" charset="0"/>
                <a:cs typeface="Courier New" panose="02070309020205020404" pitchFamily="49" charset="0"/>
              </a:rPr>
              <a:t>RealmBindingKey</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CharacterClassBindingKey</a:t>
            </a:r>
            <a:r>
              <a:rPr lang="en-US" sz="15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72241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52AA-E394-2851-F66D-F153A0C45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E9915-B6CB-2964-DB9D-586D8C7B2EA4}"/>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882FEE0-7033-AD71-69B1-8EC86BCBFBF8}"/>
              </a:ext>
            </a:extLst>
          </p:cNvPr>
          <p:cNvSpPr>
            <a:spLocks noGrp="1"/>
          </p:cNvSpPr>
          <p:nvPr>
            <p:ph idx="1"/>
          </p:nvPr>
        </p:nvSpPr>
        <p:spPr/>
        <p:txBody>
          <a:bodyPr>
            <a:normAutofit fontScale="92500" lnSpcReduction="10000"/>
          </a:bodyPr>
          <a:lstStyle/>
          <a:p>
            <a:pPr marL="0" indent="0">
              <a:buNone/>
            </a:pPr>
            <a:r>
              <a:rPr lang="en-US" dirty="0"/>
              <a:t>When the singleton repository is serialized, it enumerates all of the singleton for serialization.  If a singleton references a singleton that wasn't already serialized (further down the enumeration), the object reference details will be serialized with that earlier singleton.  The Spell singleton exhibits this behavior with the Realm singleton.  When the </a:t>
            </a:r>
            <a:r>
              <a:rPr lang="en-US" dirty="0" err="1"/>
              <a:t>SingletonRepository</a:t>
            </a:r>
            <a:r>
              <a:rPr lang="en-US" dirty="0"/>
              <a:t> is deserialized, the Spell singleton (earlier in the enumeration) only consumes the </a:t>
            </a:r>
            <a:r>
              <a:rPr lang="en-US" dirty="0" err="1"/>
              <a:t>ObjectId</a:t>
            </a:r>
            <a:r>
              <a:rPr lang="en-US" dirty="0"/>
              <a:t> from the object reference because the Realm object will have already been loaded during the 2-phase load and bind approach—but the Realm object will not have been bound.  When the </a:t>
            </a:r>
            <a:r>
              <a:rPr lang="en-US" dirty="0" err="1"/>
              <a:t>SingletonRepository</a:t>
            </a:r>
            <a:r>
              <a:rPr lang="en-US" dirty="0"/>
              <a:t> does encounter the Realm object for binding, only a Reference game state bag exists, with no binding properties.  To resolve this issue, the </a:t>
            </a:r>
            <a:r>
              <a:rPr lang="en-US" dirty="0" err="1"/>
              <a:t>ObjectIdToReference</a:t>
            </a:r>
            <a:r>
              <a:rPr lang="en-US" dirty="0"/>
              <a:t> dictionary tracks not only the object, but the game state bag that was used</a:t>
            </a:r>
          </a:p>
        </p:txBody>
      </p:sp>
    </p:spTree>
    <p:extLst>
      <p:ext uri="{BB962C8B-B14F-4D97-AF65-F5344CB8AC3E}">
        <p14:creationId xmlns:p14="http://schemas.microsoft.com/office/powerpoint/2010/main" val="125892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758F-580D-F80D-C32E-CABB73C42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7CEED-31B3-F92C-BA0C-C1CF8D5EBA63}"/>
              </a:ext>
            </a:extLst>
          </p:cNvPr>
          <p:cNvSpPr>
            <a:spLocks noGrp="1"/>
          </p:cNvSpPr>
          <p:nvPr>
            <p:ph type="title"/>
          </p:nvPr>
        </p:nvSpPr>
        <p:spPr/>
        <p:txBody>
          <a:bodyPr/>
          <a:lstStyle/>
          <a:p>
            <a:r>
              <a:rPr lang="en-US" dirty="0"/>
              <a:t>Deserialization Completeness</a:t>
            </a:r>
          </a:p>
        </p:txBody>
      </p:sp>
      <p:sp>
        <p:nvSpPr>
          <p:cNvPr id="3" name="Content Placeholder 2">
            <a:extLst>
              <a:ext uri="{FF2B5EF4-FFF2-40B4-BE49-F238E27FC236}">
                <a16:creationId xmlns:a16="http://schemas.microsoft.com/office/drawing/2014/main" id="{CFF47554-8D79-8474-A105-59CFD9087AF7}"/>
              </a:ext>
            </a:extLst>
          </p:cNvPr>
          <p:cNvSpPr>
            <a:spLocks noGrp="1"/>
          </p:cNvSpPr>
          <p:nvPr>
            <p:ph idx="1"/>
          </p:nvPr>
        </p:nvSpPr>
        <p:spPr/>
        <p:txBody>
          <a:bodyPr/>
          <a:lstStyle/>
          <a:p>
            <a:pPr marL="0" indent="0">
              <a:buNone/>
            </a:pPr>
            <a:r>
              <a:rPr lang="en-US" dirty="0"/>
              <a:t>During deserialization of the singleton repository, if field values are present, they are sent to the constructor.  If the constructor doesn't accept the </a:t>
            </a:r>
            <a:r>
              <a:rPr lang="en-US" dirty="0" err="1"/>
              <a:t>GameStateBag</a:t>
            </a:r>
            <a:r>
              <a:rPr lang="en-US" dirty="0"/>
              <a:t> because it isn't defined, the game throws.  To perform completeness, if any </a:t>
            </a:r>
            <a:r>
              <a:rPr lang="en-US" dirty="0" err="1"/>
              <a:t>GameStateBags</a:t>
            </a:r>
            <a:r>
              <a:rPr lang="en-US" dirty="0"/>
              <a:t> are left over after deserialization, the game will throw.  This ensures games line up with game configurations. </a:t>
            </a:r>
          </a:p>
          <a:p>
            <a:pPr marL="0" indent="0">
              <a:buNone/>
            </a:pPr>
            <a:r>
              <a:rPr lang="en-US" dirty="0"/>
              <a:t>Also, for completeness, during debug mode, the game will check the fields to ensure they were set according to their value.  If the check fails, the game will throw at run-time.</a:t>
            </a:r>
          </a:p>
        </p:txBody>
      </p:sp>
    </p:spTree>
    <p:extLst>
      <p:ext uri="{BB962C8B-B14F-4D97-AF65-F5344CB8AC3E}">
        <p14:creationId xmlns:p14="http://schemas.microsoft.com/office/powerpoint/2010/main" val="164114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8530-E49D-BBD5-514D-8FC85CC15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CF99-9A13-1B49-FCD7-AC70E43D64CD}"/>
              </a:ext>
            </a:extLst>
          </p:cNvPr>
          <p:cNvSpPr>
            <a:spLocks noGrp="1"/>
          </p:cNvSpPr>
          <p:nvPr>
            <p:ph type="title"/>
          </p:nvPr>
        </p:nvSpPr>
        <p:spPr/>
        <p:txBody>
          <a:bodyPr/>
          <a:lstStyle/>
          <a:p>
            <a:r>
              <a:rPr lang="en-US" dirty="0"/>
              <a:t>Deserialization Walkthrough</a:t>
            </a:r>
          </a:p>
        </p:txBody>
      </p:sp>
      <p:sp>
        <p:nvSpPr>
          <p:cNvPr id="3" name="Content Placeholder 2">
            <a:extLst>
              <a:ext uri="{FF2B5EF4-FFF2-40B4-BE49-F238E27FC236}">
                <a16:creationId xmlns:a16="http://schemas.microsoft.com/office/drawing/2014/main" id="{5535A037-258D-FBD8-D806-4FB6B1A935A6}"/>
              </a:ext>
            </a:extLst>
          </p:cNvPr>
          <p:cNvSpPr>
            <a:spLocks noGrp="1"/>
          </p:cNvSpPr>
          <p:nvPr>
            <p:ph idx="1"/>
          </p:nvPr>
        </p:nvSpPr>
        <p:spPr/>
        <p:txBody>
          <a:bodyPr/>
          <a:lstStyle/>
          <a:p>
            <a:pPr marL="514350" indent="-514350">
              <a:buAutoNum type="arabicPeriod"/>
            </a:pPr>
            <a:r>
              <a:rPr lang="en-US" dirty="0"/>
              <a:t>The singletons are loaded.  The game state bag for the singleton is loaded using the </a:t>
            </a:r>
            <a:r>
              <a:rPr lang="en-US" dirty="0" err="1"/>
              <a:t>GetKey</a:t>
            </a:r>
            <a:r>
              <a:rPr lang="en-US" dirty="0"/>
              <a:t>.  It is either a reference or object game state bag.  The object id is retrieved and the </a:t>
            </a:r>
            <a:r>
              <a:rPr lang="en-US" dirty="0" err="1"/>
              <a:t>ObjectIdToReference</a:t>
            </a:r>
            <a:r>
              <a:rPr lang="en-US" dirty="0"/>
              <a:t> is created using the associated </a:t>
            </a:r>
            <a:r>
              <a:rPr lang="en-US" dirty="0" err="1"/>
              <a:t>ObjectId</a:t>
            </a:r>
            <a:r>
              <a:rPr lang="en-US" dirty="0"/>
              <a:t>.  If it was an object, the associated game state bag is tracked.  If it was a reference, a null is used for the game state bag.</a:t>
            </a:r>
          </a:p>
          <a:p>
            <a:pPr marL="514350" indent="-514350">
              <a:buAutoNum type="arabicPeriod"/>
            </a:pPr>
            <a:r>
              <a:rPr lang="en-US" dirty="0"/>
              <a:t>The singletons are bound.  </a:t>
            </a:r>
          </a:p>
        </p:txBody>
      </p:sp>
    </p:spTree>
    <p:extLst>
      <p:ext uri="{BB962C8B-B14F-4D97-AF65-F5344CB8AC3E}">
        <p14:creationId xmlns:p14="http://schemas.microsoft.com/office/powerpoint/2010/main" val="400231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7A3F1-B444-213A-9732-559EFAE31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8D4A4-635B-5348-8C8A-FCDCEA6A9242}"/>
              </a:ext>
            </a:extLst>
          </p:cNvPr>
          <p:cNvSpPr>
            <a:spLocks noGrp="1"/>
          </p:cNvSpPr>
          <p:nvPr>
            <p:ph type="title"/>
          </p:nvPr>
        </p:nvSpPr>
        <p:spPr/>
        <p:txBody>
          <a:bodyPr/>
          <a:lstStyle/>
          <a:p>
            <a:r>
              <a:rPr lang="en-US" dirty="0"/>
              <a:t>Singletons Configured vs System</a:t>
            </a:r>
          </a:p>
        </p:txBody>
      </p:sp>
      <p:sp>
        <p:nvSpPr>
          <p:cNvPr id="3" name="Content Placeholder 2">
            <a:extLst>
              <a:ext uri="{FF2B5EF4-FFF2-40B4-BE49-F238E27FC236}">
                <a16:creationId xmlns:a16="http://schemas.microsoft.com/office/drawing/2014/main" id="{A76A4F9F-B735-B4C0-FEB4-E3D2CE2831DA}"/>
              </a:ext>
            </a:extLst>
          </p:cNvPr>
          <p:cNvSpPr>
            <a:spLocks noGrp="1"/>
          </p:cNvSpPr>
          <p:nvPr>
            <p:ph idx="1"/>
          </p:nvPr>
        </p:nvSpPr>
        <p:spPr>
          <a:xfrm>
            <a:off x="838200" y="1580926"/>
            <a:ext cx="10515600" cy="4351338"/>
          </a:xfrm>
        </p:spPr>
        <p:txBody>
          <a:bodyPr>
            <a:normAutofit fontScale="85000" lnSpcReduction="20000"/>
          </a:bodyPr>
          <a:lstStyle/>
          <a:p>
            <a:pPr marL="0" indent="0">
              <a:buNone/>
            </a:pPr>
            <a:r>
              <a:rPr lang="en-US" dirty="0"/>
              <a:t>When the singleton repository loads and binds, it scans the assembly for system singletons.  </a:t>
            </a:r>
          </a:p>
          <a:p>
            <a:pPr marL="0" indent="0">
              <a:buNone/>
            </a:pPr>
            <a:r>
              <a:rPr lang="en-US" dirty="0"/>
              <a:t>System singletons always:</a:t>
            </a:r>
          </a:p>
          <a:p>
            <a:pPr marL="514350" indent="-514350">
              <a:buAutoNum type="arabicPeriod"/>
            </a:pPr>
            <a:r>
              <a:rPr lang="en-US" dirty="0"/>
              <a:t>have private constructors, and</a:t>
            </a:r>
          </a:p>
          <a:p>
            <a:pPr marL="514350" indent="-514350">
              <a:buAutoNum type="arabicPeriod"/>
            </a:pPr>
            <a:r>
              <a:rPr lang="en-US" dirty="0"/>
              <a:t>implement the </a:t>
            </a:r>
            <a:r>
              <a:rPr lang="en-US" dirty="0" err="1"/>
              <a:t>IGetKey</a:t>
            </a:r>
            <a:r>
              <a:rPr lang="en-US" dirty="0"/>
              <a:t> interface.</a:t>
            </a:r>
          </a:p>
          <a:p>
            <a:pPr marL="0" indent="0">
              <a:buNone/>
            </a:pPr>
            <a:r>
              <a:rPr lang="en-US" dirty="0"/>
              <a:t>Configured singletons always:</a:t>
            </a:r>
          </a:p>
          <a:p>
            <a:pPr marL="0" indent="0">
              <a:buNone/>
            </a:pPr>
            <a:r>
              <a:rPr lang="en-US" dirty="0"/>
              <a:t>1. have public constructors, and</a:t>
            </a:r>
          </a:p>
          <a:p>
            <a:pPr marL="0" indent="0">
              <a:buNone/>
            </a:pPr>
            <a:r>
              <a:rPr lang="en-US" dirty="0"/>
              <a:t>2. the constructor has a signature of Game, </a:t>
            </a:r>
            <a:r>
              <a:rPr lang="en-US" dirty="0" err="1"/>
              <a:t>GameConfiguration</a:t>
            </a:r>
            <a:r>
              <a:rPr lang="en-US" dirty="0"/>
              <a:t>.</a:t>
            </a:r>
          </a:p>
          <a:p>
            <a:pPr marL="0" indent="0">
              <a:buNone/>
            </a:pPr>
            <a:endParaRPr lang="en-US" dirty="0"/>
          </a:p>
          <a:p>
            <a:pPr marL="0" indent="0">
              <a:buNone/>
            </a:pPr>
            <a:r>
              <a:rPr lang="en-US" dirty="0"/>
              <a:t>Sealed classes cannot be used to identify configured singletons because a configured singleton may have additional system provided singletons.  Attributes and </a:t>
            </a:r>
            <a:r>
              <a:rPr lang="en-US"/>
              <a:t>wield slots are </a:t>
            </a:r>
            <a:r>
              <a:rPr lang="en-US" dirty="0"/>
              <a:t>currently configured this way.</a:t>
            </a:r>
          </a:p>
        </p:txBody>
      </p:sp>
    </p:spTree>
    <p:extLst>
      <p:ext uri="{BB962C8B-B14F-4D97-AF65-F5344CB8AC3E}">
        <p14:creationId xmlns:p14="http://schemas.microsoft.com/office/powerpoint/2010/main" val="324433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BA8F-C364-FFFF-D769-A862206F8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32DBC-A1A9-10FC-FF46-01D335CCC331}"/>
              </a:ext>
            </a:extLst>
          </p:cNvPr>
          <p:cNvSpPr>
            <a:spLocks noGrp="1"/>
          </p:cNvSpPr>
          <p:nvPr>
            <p:ph type="title"/>
          </p:nvPr>
        </p:nvSpPr>
        <p:spPr/>
        <p:txBody>
          <a:bodyPr/>
          <a:lstStyle/>
          <a:p>
            <a:r>
              <a:rPr lang="en-US" dirty="0"/>
              <a:t>Game State Restore</a:t>
            </a:r>
          </a:p>
        </p:txBody>
      </p:sp>
      <p:graphicFrame>
        <p:nvGraphicFramePr>
          <p:cNvPr id="4" name="Content Placeholder 3">
            <a:extLst>
              <a:ext uri="{FF2B5EF4-FFF2-40B4-BE49-F238E27FC236}">
                <a16:creationId xmlns:a16="http://schemas.microsoft.com/office/drawing/2014/main" id="{1B93933C-AF87-66BF-9FD3-A18BDC454906}"/>
              </a:ext>
            </a:extLst>
          </p:cNvPr>
          <p:cNvGraphicFramePr>
            <a:graphicFrameLocks noGrp="1"/>
          </p:cNvGraphicFramePr>
          <p:nvPr>
            <p:ph idx="1"/>
            <p:extLst>
              <p:ext uri="{D42A27DB-BD31-4B8C-83A1-F6EECF244321}">
                <p14:modId xmlns:p14="http://schemas.microsoft.com/office/powerpoint/2010/main" val="107444241"/>
              </p:ext>
            </p:extLst>
          </p:nvPr>
        </p:nvGraphicFramePr>
        <p:xfrm>
          <a:off x="838200" y="1443355"/>
          <a:ext cx="10335770" cy="4196080"/>
        </p:xfrm>
        <a:graphic>
          <a:graphicData uri="http://schemas.openxmlformats.org/drawingml/2006/table">
            <a:tbl>
              <a:tblPr firstRow="1" bandRow="1">
                <a:tableStyleId>{5C22544A-7EE6-4342-B048-85BDC9FD1C3A}</a:tableStyleId>
              </a:tblPr>
              <a:tblGrid>
                <a:gridCol w="411051">
                  <a:extLst>
                    <a:ext uri="{9D8B030D-6E8A-4147-A177-3AD203B41FA5}">
                      <a16:colId xmlns:a16="http://schemas.microsoft.com/office/drawing/2014/main" val="1396872552"/>
                    </a:ext>
                  </a:extLst>
                </a:gridCol>
                <a:gridCol w="3723257">
                  <a:extLst>
                    <a:ext uri="{9D8B030D-6E8A-4147-A177-3AD203B41FA5}">
                      <a16:colId xmlns:a16="http://schemas.microsoft.com/office/drawing/2014/main" val="2563132097"/>
                    </a:ext>
                  </a:extLst>
                </a:gridCol>
                <a:gridCol w="2067154">
                  <a:extLst>
                    <a:ext uri="{9D8B030D-6E8A-4147-A177-3AD203B41FA5}">
                      <a16:colId xmlns:a16="http://schemas.microsoft.com/office/drawing/2014/main" val="2127284323"/>
                    </a:ext>
                  </a:extLst>
                </a:gridCol>
                <a:gridCol w="2067154">
                  <a:extLst>
                    <a:ext uri="{9D8B030D-6E8A-4147-A177-3AD203B41FA5}">
                      <a16:colId xmlns:a16="http://schemas.microsoft.com/office/drawing/2014/main" val="3181158166"/>
                    </a:ext>
                  </a:extLst>
                </a:gridCol>
                <a:gridCol w="2067154">
                  <a:extLst>
                    <a:ext uri="{9D8B030D-6E8A-4147-A177-3AD203B41FA5}">
                      <a16:colId xmlns:a16="http://schemas.microsoft.com/office/drawing/2014/main" val="1527060730"/>
                    </a:ext>
                  </a:extLst>
                </a:gridCol>
              </a:tblGrid>
              <a:tr h="370840">
                <a:tc>
                  <a:txBody>
                    <a:bodyPr/>
                    <a:lstStyle/>
                    <a:p>
                      <a:r>
                        <a:rPr lang="en-US" sz="1600" dirty="0"/>
                        <a:t>#</a:t>
                      </a:r>
                    </a:p>
                  </a:txBody>
                  <a:tcPr/>
                </a:tc>
                <a:tc>
                  <a:txBody>
                    <a:bodyPr/>
                    <a:lstStyle/>
                    <a:p>
                      <a:r>
                        <a:rPr lang="en-US" sz="1600" dirty="0"/>
                        <a:t>Game (New or Restore)</a:t>
                      </a:r>
                    </a:p>
                  </a:txBody>
                  <a:tcPr/>
                </a:tc>
                <a:tc>
                  <a:txBody>
                    <a:bodyPr/>
                    <a:lstStyle/>
                    <a:p>
                      <a:r>
                        <a:rPr lang="en-US" sz="1600" dirty="0"/>
                        <a:t>Singleton Game State Available</a:t>
                      </a:r>
                    </a:p>
                  </a:txBody>
                  <a:tcPr/>
                </a:tc>
                <a:tc>
                  <a:txBody>
                    <a:bodyPr/>
                    <a:lstStyle/>
                    <a:p>
                      <a:r>
                        <a:rPr lang="en-US" sz="1600" dirty="0"/>
                        <a:t>Singleton Constructor with </a:t>
                      </a:r>
                      <a:r>
                        <a:rPr lang="en-US" sz="1600" dirty="0" err="1"/>
                        <a:t>GameStateBag</a:t>
                      </a:r>
                      <a:r>
                        <a:rPr lang="en-US" sz="1600" dirty="0"/>
                        <a:t> Parameter Present</a:t>
                      </a:r>
                    </a:p>
                  </a:txBody>
                  <a:tcPr/>
                </a:tc>
                <a:tc>
                  <a:txBody>
                    <a:bodyPr/>
                    <a:lstStyle/>
                    <a:p>
                      <a:r>
                        <a:rPr lang="en-US" sz="1600" dirty="0"/>
                        <a:t>Description</a:t>
                      </a:r>
                    </a:p>
                  </a:txBody>
                  <a:tcPr/>
                </a:tc>
                <a:extLst>
                  <a:ext uri="{0D108BD9-81ED-4DB2-BD59-A6C34878D82A}">
                    <a16:rowId xmlns:a16="http://schemas.microsoft.com/office/drawing/2014/main" val="1218958297"/>
                  </a:ext>
                </a:extLst>
              </a:tr>
              <a:tr h="370840">
                <a:tc>
                  <a:txBody>
                    <a:bodyPr/>
                    <a:lstStyle/>
                    <a:p>
                      <a:r>
                        <a:rPr lang="en-US" sz="1600" dirty="0"/>
                        <a:t>1</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502510563"/>
                  </a:ext>
                </a:extLst>
              </a:tr>
              <a:tr h="370840">
                <a:tc>
                  <a:txBody>
                    <a:bodyPr/>
                    <a:lstStyle/>
                    <a:p>
                      <a:r>
                        <a:rPr lang="en-US" sz="1600" dirty="0"/>
                        <a:t>2</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643232313"/>
                  </a:ext>
                </a:extLst>
              </a:tr>
              <a:tr h="370840">
                <a:tc>
                  <a:txBody>
                    <a:bodyPr/>
                    <a:lstStyle/>
                    <a:p>
                      <a:r>
                        <a:rPr lang="en-US" sz="1600" dirty="0"/>
                        <a:t>3</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378525842"/>
                  </a:ext>
                </a:extLst>
              </a:tr>
              <a:tr h="370840">
                <a:tc>
                  <a:txBody>
                    <a:bodyPr/>
                    <a:lstStyle/>
                    <a:p>
                      <a:r>
                        <a:rPr lang="en-US" sz="1600" dirty="0"/>
                        <a:t>4</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Yes</a:t>
                      </a:r>
                    </a:p>
                  </a:txBody>
                  <a:tcPr/>
                </a:tc>
                <a:tc>
                  <a:txBody>
                    <a:bodyPr/>
                    <a:lstStyle/>
                    <a:p>
                      <a:r>
                        <a:rPr lang="en-US" sz="1600" dirty="0"/>
                        <a:t>Invalid (singleton is expecting game state)</a:t>
                      </a:r>
                    </a:p>
                  </a:txBody>
                  <a:tcPr/>
                </a:tc>
                <a:extLst>
                  <a:ext uri="{0D108BD9-81ED-4DB2-BD59-A6C34878D82A}">
                    <a16:rowId xmlns:a16="http://schemas.microsoft.com/office/drawing/2014/main" val="328052946"/>
                  </a:ext>
                </a:extLst>
              </a:tr>
              <a:tr h="370840">
                <a:tc>
                  <a:txBody>
                    <a:bodyPr/>
                    <a:lstStyle/>
                    <a:p>
                      <a:r>
                        <a:rPr lang="en-US" sz="1600" dirty="0"/>
                        <a:t>5</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No</a:t>
                      </a:r>
                    </a:p>
                  </a:txBody>
                  <a:tcPr/>
                </a:tc>
                <a:tc>
                  <a:txBody>
                    <a:bodyPr/>
                    <a:lstStyle/>
                    <a:p>
                      <a:r>
                        <a:rPr lang="en-US" sz="1600" dirty="0"/>
                        <a:t>Invalid (singleton is not expecting available game state)</a:t>
                      </a:r>
                    </a:p>
                  </a:txBody>
                  <a:tcPr/>
                </a:tc>
                <a:extLst>
                  <a:ext uri="{0D108BD9-81ED-4DB2-BD59-A6C34878D82A}">
                    <a16:rowId xmlns:a16="http://schemas.microsoft.com/office/drawing/2014/main" val="1842280624"/>
                  </a:ext>
                </a:extLst>
              </a:tr>
              <a:tr h="370840">
                <a:tc>
                  <a:txBody>
                    <a:bodyPr/>
                    <a:lstStyle/>
                    <a:p>
                      <a:r>
                        <a:rPr lang="en-US" sz="1600" dirty="0"/>
                        <a:t>6</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166924739"/>
                  </a:ext>
                </a:extLst>
              </a:tr>
            </a:tbl>
          </a:graphicData>
        </a:graphic>
      </p:graphicFrame>
    </p:spTree>
    <p:extLst>
      <p:ext uri="{BB962C8B-B14F-4D97-AF65-F5344CB8AC3E}">
        <p14:creationId xmlns:p14="http://schemas.microsoft.com/office/powerpoint/2010/main" val="842258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6F21-84F3-BD25-BC48-83A08DD62AC3}"/>
              </a:ext>
            </a:extLst>
          </p:cNvPr>
          <p:cNvSpPr>
            <a:spLocks noGrp="1"/>
          </p:cNvSpPr>
          <p:nvPr>
            <p:ph type="title"/>
          </p:nvPr>
        </p:nvSpPr>
        <p:spPr/>
        <p:txBody>
          <a:bodyPr/>
          <a:lstStyle/>
          <a:p>
            <a:r>
              <a:rPr lang="en-US" dirty="0"/>
              <a:t>New Game Construction and Play</a:t>
            </a:r>
          </a:p>
        </p:txBody>
      </p:sp>
      <p:sp>
        <p:nvSpPr>
          <p:cNvPr id="4" name="Rectangle 3">
            <a:extLst>
              <a:ext uri="{FF2B5EF4-FFF2-40B4-BE49-F238E27FC236}">
                <a16:creationId xmlns:a16="http://schemas.microsoft.com/office/drawing/2014/main" id="{B47E239C-3D2E-E992-DC03-6697398C3234}"/>
              </a:ext>
            </a:extLst>
          </p:cNvPr>
          <p:cNvSpPr/>
          <p:nvPr/>
        </p:nvSpPr>
        <p:spPr>
          <a:xfrm>
            <a:off x="4426691" y="3261365"/>
            <a:ext cx="1543037" cy="988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Game.ctor</a:t>
            </a:r>
            <a:endParaRPr lang="en-US" sz="1400" dirty="0"/>
          </a:p>
        </p:txBody>
      </p:sp>
      <p:cxnSp>
        <p:nvCxnSpPr>
          <p:cNvPr id="6" name="Straight Arrow Connector 5">
            <a:extLst>
              <a:ext uri="{FF2B5EF4-FFF2-40B4-BE49-F238E27FC236}">
                <a16:creationId xmlns:a16="http://schemas.microsoft.com/office/drawing/2014/main" id="{3FD49569-5243-BA77-0295-D25D58066E2B}"/>
              </a:ext>
            </a:extLst>
          </p:cNvPr>
          <p:cNvCxnSpPr>
            <a:cxnSpLocks/>
            <a:endCxn id="4" idx="0"/>
          </p:cNvCxnSpPr>
          <p:nvPr/>
        </p:nvCxnSpPr>
        <p:spPr>
          <a:xfrm>
            <a:off x="5198210" y="2305134"/>
            <a:ext cx="0" cy="9562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732B11B6-BB9C-BAF4-5E0F-CDB4470F2E9D}"/>
              </a:ext>
            </a:extLst>
          </p:cNvPr>
          <p:cNvSpPr/>
          <p:nvPr/>
        </p:nvSpPr>
        <p:spPr>
          <a:xfrm>
            <a:off x="4626988" y="1922028"/>
            <a:ext cx="1142442"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Configuration</a:t>
            </a:r>
          </a:p>
        </p:txBody>
      </p:sp>
    </p:spTree>
    <p:extLst>
      <p:ext uri="{BB962C8B-B14F-4D97-AF65-F5344CB8AC3E}">
        <p14:creationId xmlns:p14="http://schemas.microsoft.com/office/powerpoint/2010/main" val="3911334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F8F34-9B2F-2B91-87A3-908E8385C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7F495-5366-75BC-9533-8FCD41D6C738}"/>
              </a:ext>
            </a:extLst>
          </p:cNvPr>
          <p:cNvSpPr>
            <a:spLocks noGrp="1"/>
          </p:cNvSpPr>
          <p:nvPr>
            <p:ph type="title"/>
          </p:nvPr>
        </p:nvSpPr>
        <p:spPr/>
        <p:txBody>
          <a:bodyPr/>
          <a:lstStyle/>
          <a:p>
            <a:r>
              <a:rPr lang="en-US" dirty="0"/>
              <a:t>Game Restore</a:t>
            </a:r>
          </a:p>
        </p:txBody>
      </p:sp>
      <p:sp>
        <p:nvSpPr>
          <p:cNvPr id="11" name="Rectangle 10">
            <a:extLst>
              <a:ext uri="{FF2B5EF4-FFF2-40B4-BE49-F238E27FC236}">
                <a16:creationId xmlns:a16="http://schemas.microsoft.com/office/drawing/2014/main" id="{B6B8BFE6-CF84-7CBC-8B35-4A2C62CD2897}"/>
              </a:ext>
            </a:extLst>
          </p:cNvPr>
          <p:cNvSpPr/>
          <p:nvPr/>
        </p:nvSpPr>
        <p:spPr>
          <a:xfrm>
            <a:off x="3474722" y="2852602"/>
            <a:ext cx="1142442"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Configuration</a:t>
            </a:r>
          </a:p>
        </p:txBody>
      </p:sp>
      <p:sp>
        <p:nvSpPr>
          <p:cNvPr id="14" name="Rectangle 13">
            <a:extLst>
              <a:ext uri="{FF2B5EF4-FFF2-40B4-BE49-F238E27FC236}">
                <a16:creationId xmlns:a16="http://schemas.microsoft.com/office/drawing/2014/main" id="{65094391-9EE4-F6A1-F8A5-7BD0600E7921}"/>
              </a:ext>
            </a:extLst>
          </p:cNvPr>
          <p:cNvSpPr/>
          <p:nvPr/>
        </p:nvSpPr>
        <p:spPr>
          <a:xfrm>
            <a:off x="4873572" y="3823068"/>
            <a:ext cx="1736236" cy="988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Game.LoadGame</a:t>
            </a:r>
            <a:endParaRPr lang="en-US" sz="1400" dirty="0"/>
          </a:p>
        </p:txBody>
      </p:sp>
      <p:cxnSp>
        <p:nvCxnSpPr>
          <p:cNvPr id="18" name="Connector: Elbow 17">
            <a:extLst>
              <a:ext uri="{FF2B5EF4-FFF2-40B4-BE49-F238E27FC236}">
                <a16:creationId xmlns:a16="http://schemas.microsoft.com/office/drawing/2014/main" id="{9A025512-94F2-59DB-0E5C-293252C9E882}"/>
              </a:ext>
            </a:extLst>
          </p:cNvPr>
          <p:cNvCxnSpPr>
            <a:cxnSpLocks/>
            <a:stCxn id="11" idx="2"/>
            <a:endCxn id="14" idx="1"/>
          </p:cNvCxnSpPr>
          <p:nvPr/>
        </p:nvCxnSpPr>
        <p:spPr>
          <a:xfrm rot="16200000" flipH="1">
            <a:off x="3912086" y="3355790"/>
            <a:ext cx="1095342" cy="82762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A873FEC-E334-42A8-B5F3-42B73EBC0358}"/>
              </a:ext>
            </a:extLst>
          </p:cNvPr>
          <p:cNvCxnSpPr>
            <a:cxnSpLocks/>
            <a:endCxn id="14" idx="0"/>
          </p:cNvCxnSpPr>
          <p:nvPr/>
        </p:nvCxnSpPr>
        <p:spPr>
          <a:xfrm>
            <a:off x="5732175" y="2866837"/>
            <a:ext cx="9515" cy="9562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B0BB40CA-6E32-5BE7-03E8-23853FC785C4}"/>
              </a:ext>
            </a:extLst>
          </p:cNvPr>
          <p:cNvSpPr/>
          <p:nvPr/>
        </p:nvSpPr>
        <p:spPr>
          <a:xfrm>
            <a:off x="6847185" y="2831684"/>
            <a:ext cx="1489165"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Serialized Game Data</a:t>
            </a:r>
          </a:p>
        </p:txBody>
      </p:sp>
      <p:cxnSp>
        <p:nvCxnSpPr>
          <p:cNvPr id="28" name="Connector: Elbow 27">
            <a:extLst>
              <a:ext uri="{FF2B5EF4-FFF2-40B4-BE49-F238E27FC236}">
                <a16:creationId xmlns:a16="http://schemas.microsoft.com/office/drawing/2014/main" id="{B3ED8253-DCF1-DD28-316C-FA0B802334DE}"/>
              </a:ext>
            </a:extLst>
          </p:cNvPr>
          <p:cNvCxnSpPr>
            <a:stCxn id="26" idx="2"/>
            <a:endCxn id="14" idx="3"/>
          </p:cNvCxnSpPr>
          <p:nvPr/>
        </p:nvCxnSpPr>
        <p:spPr>
          <a:xfrm rot="5400000">
            <a:off x="6542658" y="3268166"/>
            <a:ext cx="1116260" cy="981960"/>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1951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50EEA-1CE0-EEFF-998C-F99C60E92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C925D-1156-768C-4A90-65BF77D8CFEF}"/>
              </a:ext>
            </a:extLst>
          </p:cNvPr>
          <p:cNvSpPr>
            <a:spLocks noGrp="1"/>
          </p:cNvSpPr>
          <p:nvPr>
            <p:ph type="title"/>
          </p:nvPr>
        </p:nvSpPr>
        <p:spPr/>
        <p:txBody>
          <a:bodyPr/>
          <a:lstStyle/>
          <a:p>
            <a:r>
              <a:rPr lang="en-US" dirty="0"/>
              <a:t>Game Replay</a:t>
            </a:r>
          </a:p>
        </p:txBody>
      </p:sp>
      <p:sp>
        <p:nvSpPr>
          <p:cNvPr id="4" name="Rectangle 3">
            <a:extLst>
              <a:ext uri="{FF2B5EF4-FFF2-40B4-BE49-F238E27FC236}">
                <a16:creationId xmlns:a16="http://schemas.microsoft.com/office/drawing/2014/main" id="{8FB8865E-864B-ECDB-B9FC-CBD2121F8D2F}"/>
              </a:ext>
            </a:extLst>
          </p:cNvPr>
          <p:cNvSpPr/>
          <p:nvPr/>
        </p:nvSpPr>
        <p:spPr>
          <a:xfrm>
            <a:off x="8380938" y="2934792"/>
            <a:ext cx="1543037" cy="9884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Game.ctor</a:t>
            </a:r>
            <a:endParaRPr lang="en-US" sz="1400" dirty="0"/>
          </a:p>
        </p:txBody>
      </p:sp>
      <p:cxnSp>
        <p:nvCxnSpPr>
          <p:cNvPr id="6" name="Straight Arrow Connector 5">
            <a:extLst>
              <a:ext uri="{FF2B5EF4-FFF2-40B4-BE49-F238E27FC236}">
                <a16:creationId xmlns:a16="http://schemas.microsoft.com/office/drawing/2014/main" id="{7F93A317-9E55-E6F7-D0C2-BD897D07EAD8}"/>
              </a:ext>
            </a:extLst>
          </p:cNvPr>
          <p:cNvCxnSpPr>
            <a:cxnSpLocks/>
            <a:endCxn id="4" idx="0"/>
          </p:cNvCxnSpPr>
          <p:nvPr/>
        </p:nvCxnSpPr>
        <p:spPr>
          <a:xfrm>
            <a:off x="9152457" y="1978561"/>
            <a:ext cx="0" cy="9562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69E7DBA6-3334-A297-2EF1-0E25852D3B83}"/>
              </a:ext>
            </a:extLst>
          </p:cNvPr>
          <p:cNvSpPr/>
          <p:nvPr/>
        </p:nvSpPr>
        <p:spPr>
          <a:xfrm>
            <a:off x="10211358" y="1964326"/>
            <a:ext cx="1142442"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Configuration</a:t>
            </a:r>
          </a:p>
        </p:txBody>
      </p:sp>
      <p:cxnSp>
        <p:nvCxnSpPr>
          <p:cNvPr id="16" name="Connector: Elbow 15">
            <a:extLst>
              <a:ext uri="{FF2B5EF4-FFF2-40B4-BE49-F238E27FC236}">
                <a16:creationId xmlns:a16="http://schemas.microsoft.com/office/drawing/2014/main" id="{A8AE0859-6C71-050C-0891-626B57B727C0}"/>
              </a:ext>
            </a:extLst>
          </p:cNvPr>
          <p:cNvCxnSpPr>
            <a:stCxn id="11" idx="2"/>
            <a:endCxn id="4" idx="3"/>
          </p:cNvCxnSpPr>
          <p:nvPr/>
        </p:nvCxnSpPr>
        <p:spPr>
          <a:xfrm rot="5400000">
            <a:off x="9805606" y="2452027"/>
            <a:ext cx="1095342" cy="85860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8A100012-F1DA-A52F-B3C1-F9E16414AC94}"/>
              </a:ext>
            </a:extLst>
          </p:cNvPr>
          <p:cNvSpPr/>
          <p:nvPr/>
        </p:nvSpPr>
        <p:spPr>
          <a:xfrm>
            <a:off x="6764691" y="1978561"/>
            <a:ext cx="1142442"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err="1"/>
              <a:t>ReplayDetails</a:t>
            </a:r>
            <a:r>
              <a:rPr lang="en-US" sz="1000" dirty="0"/>
              <a:t>[]</a:t>
            </a:r>
          </a:p>
        </p:txBody>
      </p:sp>
      <p:cxnSp>
        <p:nvCxnSpPr>
          <p:cNvPr id="8" name="Connector: Elbow 7">
            <a:extLst>
              <a:ext uri="{FF2B5EF4-FFF2-40B4-BE49-F238E27FC236}">
                <a16:creationId xmlns:a16="http://schemas.microsoft.com/office/drawing/2014/main" id="{F6D17E92-A5AC-0403-A004-67F34D33BB0D}"/>
              </a:ext>
            </a:extLst>
          </p:cNvPr>
          <p:cNvCxnSpPr>
            <a:stCxn id="3" idx="2"/>
            <a:endCxn id="4" idx="1"/>
          </p:cNvCxnSpPr>
          <p:nvPr/>
        </p:nvCxnSpPr>
        <p:spPr>
          <a:xfrm rot="16200000" flipH="1">
            <a:off x="7317872" y="2365933"/>
            <a:ext cx="1081107" cy="104502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7A088636-B002-3DA6-4C28-9486DF897ECB}"/>
              </a:ext>
            </a:extLst>
          </p:cNvPr>
          <p:cNvSpPr>
            <a:spLocks noGrp="1"/>
          </p:cNvSpPr>
          <p:nvPr>
            <p:ph idx="1"/>
          </p:nvPr>
        </p:nvSpPr>
        <p:spPr>
          <a:xfrm>
            <a:off x="838200" y="1825625"/>
            <a:ext cx="5639108" cy="4351338"/>
          </a:xfrm>
        </p:spPr>
        <p:txBody>
          <a:bodyPr/>
          <a:lstStyle/>
          <a:p>
            <a:r>
              <a:rPr lang="en-US" dirty="0"/>
              <a:t>Construct new game with configuration and replay details (keystrokes)</a:t>
            </a:r>
          </a:p>
          <a:p>
            <a:r>
              <a:rPr lang="en-US" dirty="0"/>
              <a:t>Call Play</a:t>
            </a:r>
          </a:p>
        </p:txBody>
      </p:sp>
    </p:spTree>
    <p:extLst>
      <p:ext uri="{BB962C8B-B14F-4D97-AF65-F5344CB8AC3E}">
        <p14:creationId xmlns:p14="http://schemas.microsoft.com/office/powerpoint/2010/main" val="2351577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loud 16">
            <a:extLst>
              <a:ext uri="{FF2B5EF4-FFF2-40B4-BE49-F238E27FC236}">
                <a16:creationId xmlns:a16="http://schemas.microsoft.com/office/drawing/2014/main" id="{69ACD77E-AB64-968E-F07F-943EB1EB9DF6}"/>
              </a:ext>
            </a:extLst>
          </p:cNvPr>
          <p:cNvSpPr/>
          <p:nvPr/>
        </p:nvSpPr>
        <p:spPr>
          <a:xfrm>
            <a:off x="239390" y="4032809"/>
            <a:ext cx="11433475" cy="788563"/>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a:t>
            </a:r>
          </a:p>
        </p:txBody>
      </p:sp>
      <p:sp>
        <p:nvSpPr>
          <p:cNvPr id="2" name="Title 1">
            <a:extLst>
              <a:ext uri="{FF2B5EF4-FFF2-40B4-BE49-F238E27FC236}">
                <a16:creationId xmlns:a16="http://schemas.microsoft.com/office/drawing/2014/main" id="{A9010260-F482-1D0E-044C-FE6CD82B384A}"/>
              </a:ext>
            </a:extLst>
          </p:cNvPr>
          <p:cNvSpPr>
            <a:spLocks noGrp="1"/>
          </p:cNvSpPr>
          <p:nvPr>
            <p:ph type="title"/>
          </p:nvPr>
        </p:nvSpPr>
        <p:spPr>
          <a:xfrm>
            <a:off x="838200" y="365126"/>
            <a:ext cx="10515600" cy="468354"/>
          </a:xfrm>
        </p:spPr>
        <p:txBody>
          <a:bodyPr>
            <a:noAutofit/>
          </a:bodyPr>
          <a:lstStyle/>
          <a:p>
            <a:pPr algn="ctr"/>
            <a:r>
              <a:rPr lang="en-US" sz="2800" dirty="0"/>
              <a:t>Web Topology</a:t>
            </a:r>
            <a:br>
              <a:rPr lang="en-US" sz="2800" dirty="0"/>
            </a:br>
            <a:r>
              <a:rPr lang="en-US" sz="2800" dirty="0"/>
              <a:t>Active and Saved Game Listings and In-Progress with Spectators</a:t>
            </a:r>
          </a:p>
        </p:txBody>
      </p:sp>
      <p:sp>
        <p:nvSpPr>
          <p:cNvPr id="3" name="Rectangle 2">
            <a:extLst>
              <a:ext uri="{FF2B5EF4-FFF2-40B4-BE49-F238E27FC236}">
                <a16:creationId xmlns:a16="http://schemas.microsoft.com/office/drawing/2014/main" id="{62211564-1FED-6241-47F3-F4A6572607DD}"/>
              </a:ext>
            </a:extLst>
          </p:cNvPr>
          <p:cNvSpPr/>
          <p:nvPr/>
        </p:nvSpPr>
        <p:spPr>
          <a:xfrm>
            <a:off x="4924843" y="1792913"/>
            <a:ext cx="598810" cy="1619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Core</a:t>
            </a:r>
          </a:p>
        </p:txBody>
      </p:sp>
      <p:sp>
        <p:nvSpPr>
          <p:cNvPr id="11" name="Rectangle 10">
            <a:extLst>
              <a:ext uri="{FF2B5EF4-FFF2-40B4-BE49-F238E27FC236}">
                <a16:creationId xmlns:a16="http://schemas.microsoft.com/office/drawing/2014/main" id="{49C85F25-311B-17E6-A2B6-9D838DF7BFA0}"/>
              </a:ext>
            </a:extLst>
          </p:cNvPr>
          <p:cNvSpPr/>
          <p:nvPr/>
        </p:nvSpPr>
        <p:spPr>
          <a:xfrm>
            <a:off x="2620928" y="1706744"/>
            <a:ext cx="5220002" cy="1230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SignalRConsole</a:t>
            </a:r>
            <a:endParaRPr lang="en-US" sz="900" dirty="0">
              <a:solidFill>
                <a:schemeClr val="tx1"/>
              </a:solidFill>
            </a:endParaRPr>
          </a:p>
        </p:txBody>
      </p:sp>
      <p:sp>
        <p:nvSpPr>
          <p:cNvPr id="12" name="Rectangle 11">
            <a:extLst>
              <a:ext uri="{FF2B5EF4-FFF2-40B4-BE49-F238E27FC236}">
                <a16:creationId xmlns:a16="http://schemas.microsoft.com/office/drawing/2014/main" id="{46C6430B-5F8B-19B9-4216-57EDF5BBB22F}"/>
              </a:ext>
            </a:extLst>
          </p:cNvPr>
          <p:cNvSpPr/>
          <p:nvPr/>
        </p:nvSpPr>
        <p:spPr>
          <a:xfrm>
            <a:off x="4903718" y="1223932"/>
            <a:ext cx="613055" cy="2260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a:solidFill>
                  <a:schemeClr val="tx1"/>
                </a:solidFill>
              </a:rPr>
              <a:t>Game A</a:t>
            </a:r>
          </a:p>
        </p:txBody>
      </p:sp>
      <p:sp>
        <p:nvSpPr>
          <p:cNvPr id="13" name="Rectangle 12">
            <a:extLst>
              <a:ext uri="{FF2B5EF4-FFF2-40B4-BE49-F238E27FC236}">
                <a16:creationId xmlns:a16="http://schemas.microsoft.com/office/drawing/2014/main" id="{9FA9F577-A9C6-D089-675F-3145755C3526}"/>
              </a:ext>
            </a:extLst>
          </p:cNvPr>
          <p:cNvSpPr/>
          <p:nvPr/>
        </p:nvSpPr>
        <p:spPr>
          <a:xfrm>
            <a:off x="8412126" y="1716792"/>
            <a:ext cx="2592816" cy="1230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SignalRConsole</a:t>
            </a:r>
            <a:endParaRPr lang="en-US" sz="900" dirty="0">
              <a:solidFill>
                <a:schemeClr val="tx1"/>
              </a:solidFill>
            </a:endParaRPr>
          </a:p>
        </p:txBody>
      </p:sp>
      <p:sp>
        <p:nvSpPr>
          <p:cNvPr id="14" name="Rectangle 13">
            <a:extLst>
              <a:ext uri="{FF2B5EF4-FFF2-40B4-BE49-F238E27FC236}">
                <a16:creationId xmlns:a16="http://schemas.microsoft.com/office/drawing/2014/main" id="{9FD8F4BC-5DC3-153F-613A-97A4F9688D8B}"/>
              </a:ext>
            </a:extLst>
          </p:cNvPr>
          <p:cNvSpPr/>
          <p:nvPr/>
        </p:nvSpPr>
        <p:spPr>
          <a:xfrm>
            <a:off x="9539150" y="1783372"/>
            <a:ext cx="598810"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Core</a:t>
            </a:r>
          </a:p>
        </p:txBody>
      </p:sp>
      <p:sp>
        <p:nvSpPr>
          <p:cNvPr id="15" name="Rectangle 14">
            <a:extLst>
              <a:ext uri="{FF2B5EF4-FFF2-40B4-BE49-F238E27FC236}">
                <a16:creationId xmlns:a16="http://schemas.microsoft.com/office/drawing/2014/main" id="{CEF0E89E-DD13-F389-CBE7-0B4D3B00BD9D}"/>
              </a:ext>
            </a:extLst>
          </p:cNvPr>
          <p:cNvSpPr/>
          <p:nvPr/>
        </p:nvSpPr>
        <p:spPr>
          <a:xfrm>
            <a:off x="9524905" y="1208781"/>
            <a:ext cx="613055" cy="2260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a:solidFill>
                  <a:schemeClr val="tx1"/>
                </a:solidFill>
              </a:rPr>
              <a:t>Game B</a:t>
            </a:r>
          </a:p>
        </p:txBody>
      </p:sp>
      <p:cxnSp>
        <p:nvCxnSpPr>
          <p:cNvPr id="19" name="Straight Arrow Connector 18">
            <a:extLst>
              <a:ext uri="{FF2B5EF4-FFF2-40B4-BE49-F238E27FC236}">
                <a16:creationId xmlns:a16="http://schemas.microsoft.com/office/drawing/2014/main" id="{F0A1DAEC-E43F-40A5-7585-2A37A4B77BC9}"/>
              </a:ext>
            </a:extLst>
          </p:cNvPr>
          <p:cNvCxnSpPr>
            <a:cxnSpLocks/>
            <a:stCxn id="100" idx="2"/>
            <a:endCxn id="54" idx="0"/>
          </p:cNvCxnSpPr>
          <p:nvPr/>
        </p:nvCxnSpPr>
        <p:spPr>
          <a:xfrm flipH="1">
            <a:off x="3245361" y="2653135"/>
            <a:ext cx="10788" cy="24805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29B9137-9367-4535-D5D0-B20634027B59}"/>
              </a:ext>
            </a:extLst>
          </p:cNvPr>
          <p:cNvCxnSpPr>
            <a:cxnSpLocks/>
            <a:stCxn id="108" idx="2"/>
            <a:endCxn id="53" idx="0"/>
          </p:cNvCxnSpPr>
          <p:nvPr/>
        </p:nvCxnSpPr>
        <p:spPr>
          <a:xfrm flipH="1">
            <a:off x="4548136" y="2653135"/>
            <a:ext cx="25854" cy="24730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87FBE252-5554-90E5-995D-F33009985926}"/>
              </a:ext>
            </a:extLst>
          </p:cNvPr>
          <p:cNvSpPr/>
          <p:nvPr/>
        </p:nvSpPr>
        <p:spPr>
          <a:xfrm>
            <a:off x="9756075" y="5103201"/>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Watch.ts</a:t>
            </a:r>
            <a:endParaRPr lang="en-US" sz="900" dirty="0">
              <a:solidFill>
                <a:schemeClr val="tx1"/>
              </a:solidFill>
            </a:endParaRPr>
          </a:p>
        </p:txBody>
      </p:sp>
      <p:sp>
        <p:nvSpPr>
          <p:cNvPr id="28" name="Rectangle 27">
            <a:extLst>
              <a:ext uri="{FF2B5EF4-FFF2-40B4-BE49-F238E27FC236}">
                <a16:creationId xmlns:a16="http://schemas.microsoft.com/office/drawing/2014/main" id="{022F73E1-42E2-69C3-D8EB-FF2FB7931B72}"/>
              </a:ext>
            </a:extLst>
          </p:cNvPr>
          <p:cNvSpPr/>
          <p:nvPr/>
        </p:nvSpPr>
        <p:spPr>
          <a:xfrm>
            <a:off x="8453300" y="5110733"/>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Play.ts</a:t>
            </a:r>
            <a:endParaRPr lang="en-US" sz="900" dirty="0">
              <a:solidFill>
                <a:schemeClr val="tx1"/>
              </a:solidFill>
            </a:endParaRPr>
          </a:p>
        </p:txBody>
      </p:sp>
      <p:sp>
        <p:nvSpPr>
          <p:cNvPr id="33" name="Smiley Face 32">
            <a:extLst>
              <a:ext uri="{FF2B5EF4-FFF2-40B4-BE49-F238E27FC236}">
                <a16:creationId xmlns:a16="http://schemas.microsoft.com/office/drawing/2014/main" id="{6112124C-C7C6-1668-423C-5B24F1A0EAB2}"/>
              </a:ext>
            </a:extLst>
          </p:cNvPr>
          <p:cNvSpPr/>
          <p:nvPr/>
        </p:nvSpPr>
        <p:spPr>
          <a:xfrm>
            <a:off x="8990660" y="6453732"/>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Smiley Face 33">
            <a:extLst>
              <a:ext uri="{FF2B5EF4-FFF2-40B4-BE49-F238E27FC236}">
                <a16:creationId xmlns:a16="http://schemas.microsoft.com/office/drawing/2014/main" id="{AA077E7A-8A88-404B-DDD9-D7C9736E184F}"/>
              </a:ext>
            </a:extLst>
          </p:cNvPr>
          <p:cNvSpPr/>
          <p:nvPr/>
        </p:nvSpPr>
        <p:spPr>
          <a:xfrm>
            <a:off x="10266481" y="6451323"/>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6B79E9DB-6BD7-3BC9-AF2A-CC4AE717FDBF}"/>
              </a:ext>
            </a:extLst>
          </p:cNvPr>
          <p:cNvSpPr/>
          <p:nvPr/>
        </p:nvSpPr>
        <p:spPr>
          <a:xfrm>
            <a:off x="8561763" y="5160910"/>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49" name="Rectangle 48">
            <a:extLst>
              <a:ext uri="{FF2B5EF4-FFF2-40B4-BE49-F238E27FC236}">
                <a16:creationId xmlns:a16="http://schemas.microsoft.com/office/drawing/2014/main" id="{3D5EE8BD-4DED-8BE9-DCA6-819204E2C6BE}"/>
              </a:ext>
            </a:extLst>
          </p:cNvPr>
          <p:cNvSpPr/>
          <p:nvPr/>
        </p:nvSpPr>
        <p:spPr>
          <a:xfrm>
            <a:off x="8697177" y="5449308"/>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51" name="Rectangle 50">
            <a:extLst>
              <a:ext uri="{FF2B5EF4-FFF2-40B4-BE49-F238E27FC236}">
                <a16:creationId xmlns:a16="http://schemas.microsoft.com/office/drawing/2014/main" id="{A5729A53-ACDD-28F7-4D75-777F609B64F6}"/>
              </a:ext>
            </a:extLst>
          </p:cNvPr>
          <p:cNvSpPr/>
          <p:nvPr/>
        </p:nvSpPr>
        <p:spPr>
          <a:xfrm>
            <a:off x="9810631" y="5160910"/>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52" name="Rectangle 51">
            <a:extLst>
              <a:ext uri="{FF2B5EF4-FFF2-40B4-BE49-F238E27FC236}">
                <a16:creationId xmlns:a16="http://schemas.microsoft.com/office/drawing/2014/main" id="{24DE9345-7361-F82B-876E-1CAC3BD9F4F4}"/>
              </a:ext>
            </a:extLst>
          </p:cNvPr>
          <p:cNvSpPr/>
          <p:nvPr/>
        </p:nvSpPr>
        <p:spPr>
          <a:xfrm>
            <a:off x="9946045" y="5449308"/>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53" name="Rectangle 52">
            <a:extLst>
              <a:ext uri="{FF2B5EF4-FFF2-40B4-BE49-F238E27FC236}">
                <a16:creationId xmlns:a16="http://schemas.microsoft.com/office/drawing/2014/main" id="{23B83486-0F7B-BC63-F6AA-0D9639726558}"/>
              </a:ext>
            </a:extLst>
          </p:cNvPr>
          <p:cNvSpPr/>
          <p:nvPr/>
        </p:nvSpPr>
        <p:spPr>
          <a:xfrm>
            <a:off x="3923702" y="5126187"/>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Watch.ts</a:t>
            </a:r>
            <a:endParaRPr lang="en-US" sz="900" dirty="0">
              <a:solidFill>
                <a:schemeClr val="tx1"/>
              </a:solidFill>
            </a:endParaRPr>
          </a:p>
        </p:txBody>
      </p:sp>
      <p:sp>
        <p:nvSpPr>
          <p:cNvPr id="54" name="Rectangle 53">
            <a:extLst>
              <a:ext uri="{FF2B5EF4-FFF2-40B4-BE49-F238E27FC236}">
                <a16:creationId xmlns:a16="http://schemas.microsoft.com/office/drawing/2014/main" id="{0EDF8675-42D0-C280-24FC-C7A3EFD04F5A}"/>
              </a:ext>
            </a:extLst>
          </p:cNvPr>
          <p:cNvSpPr/>
          <p:nvPr/>
        </p:nvSpPr>
        <p:spPr>
          <a:xfrm>
            <a:off x="2620927" y="5133719"/>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Play.ts</a:t>
            </a:r>
            <a:endParaRPr lang="en-US" sz="900" dirty="0">
              <a:solidFill>
                <a:schemeClr val="tx1"/>
              </a:solidFill>
            </a:endParaRPr>
          </a:p>
        </p:txBody>
      </p:sp>
      <p:sp>
        <p:nvSpPr>
          <p:cNvPr id="55" name="Smiley Face 54">
            <a:extLst>
              <a:ext uri="{FF2B5EF4-FFF2-40B4-BE49-F238E27FC236}">
                <a16:creationId xmlns:a16="http://schemas.microsoft.com/office/drawing/2014/main" id="{651EDF1F-A89D-5BA4-D64D-E0346C954D13}"/>
              </a:ext>
            </a:extLst>
          </p:cNvPr>
          <p:cNvSpPr/>
          <p:nvPr/>
        </p:nvSpPr>
        <p:spPr>
          <a:xfrm>
            <a:off x="3158287" y="6476718"/>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Smiley Face 55">
            <a:extLst>
              <a:ext uri="{FF2B5EF4-FFF2-40B4-BE49-F238E27FC236}">
                <a16:creationId xmlns:a16="http://schemas.microsoft.com/office/drawing/2014/main" id="{326E7D06-6BA9-37F3-2501-1481D2863797}"/>
              </a:ext>
            </a:extLst>
          </p:cNvPr>
          <p:cNvSpPr/>
          <p:nvPr/>
        </p:nvSpPr>
        <p:spPr>
          <a:xfrm>
            <a:off x="4434108" y="6474309"/>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38C7558C-8069-6938-3B1C-7B2700714817}"/>
              </a:ext>
            </a:extLst>
          </p:cNvPr>
          <p:cNvSpPr/>
          <p:nvPr/>
        </p:nvSpPr>
        <p:spPr>
          <a:xfrm>
            <a:off x="2729390" y="5183896"/>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59" name="Rectangle 58">
            <a:extLst>
              <a:ext uri="{FF2B5EF4-FFF2-40B4-BE49-F238E27FC236}">
                <a16:creationId xmlns:a16="http://schemas.microsoft.com/office/drawing/2014/main" id="{A762D941-10BD-06C9-ECDF-57E83567EC97}"/>
              </a:ext>
            </a:extLst>
          </p:cNvPr>
          <p:cNvSpPr/>
          <p:nvPr/>
        </p:nvSpPr>
        <p:spPr>
          <a:xfrm>
            <a:off x="2864804" y="5472294"/>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61" name="Rectangle 60">
            <a:extLst>
              <a:ext uri="{FF2B5EF4-FFF2-40B4-BE49-F238E27FC236}">
                <a16:creationId xmlns:a16="http://schemas.microsoft.com/office/drawing/2014/main" id="{38AFDFB8-0A1E-3995-A45A-37EDF9756AC1}"/>
              </a:ext>
            </a:extLst>
          </p:cNvPr>
          <p:cNvSpPr/>
          <p:nvPr/>
        </p:nvSpPr>
        <p:spPr>
          <a:xfrm>
            <a:off x="3978258" y="5183896"/>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62" name="Rectangle 61">
            <a:extLst>
              <a:ext uri="{FF2B5EF4-FFF2-40B4-BE49-F238E27FC236}">
                <a16:creationId xmlns:a16="http://schemas.microsoft.com/office/drawing/2014/main" id="{803ED61C-8BC0-4A27-7ABF-85BA86A1B5A9}"/>
              </a:ext>
            </a:extLst>
          </p:cNvPr>
          <p:cNvSpPr/>
          <p:nvPr/>
        </p:nvSpPr>
        <p:spPr>
          <a:xfrm>
            <a:off x="4113672" y="5472294"/>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63" name="Rectangle 62">
            <a:extLst>
              <a:ext uri="{FF2B5EF4-FFF2-40B4-BE49-F238E27FC236}">
                <a16:creationId xmlns:a16="http://schemas.microsoft.com/office/drawing/2014/main" id="{2C7220F6-A901-3A8B-7948-D6B7A810B292}"/>
              </a:ext>
            </a:extLst>
          </p:cNvPr>
          <p:cNvSpPr/>
          <p:nvPr/>
        </p:nvSpPr>
        <p:spPr>
          <a:xfrm>
            <a:off x="5257881" y="5126187"/>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Watch.ts</a:t>
            </a:r>
            <a:endParaRPr lang="en-US" sz="900" dirty="0">
              <a:solidFill>
                <a:schemeClr val="tx1"/>
              </a:solidFill>
            </a:endParaRPr>
          </a:p>
        </p:txBody>
      </p:sp>
      <p:sp>
        <p:nvSpPr>
          <p:cNvPr id="64" name="Smiley Face 63">
            <a:extLst>
              <a:ext uri="{FF2B5EF4-FFF2-40B4-BE49-F238E27FC236}">
                <a16:creationId xmlns:a16="http://schemas.microsoft.com/office/drawing/2014/main" id="{79E62500-C8FB-C591-0097-E1B3D82A6C8C}"/>
              </a:ext>
            </a:extLst>
          </p:cNvPr>
          <p:cNvSpPr/>
          <p:nvPr/>
        </p:nvSpPr>
        <p:spPr>
          <a:xfrm>
            <a:off x="5768287" y="6474309"/>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9A851DDA-333F-6C11-A9A5-27E45F686196}"/>
              </a:ext>
            </a:extLst>
          </p:cNvPr>
          <p:cNvSpPr/>
          <p:nvPr/>
        </p:nvSpPr>
        <p:spPr>
          <a:xfrm>
            <a:off x="5312437" y="5183896"/>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67" name="Rectangle 66">
            <a:extLst>
              <a:ext uri="{FF2B5EF4-FFF2-40B4-BE49-F238E27FC236}">
                <a16:creationId xmlns:a16="http://schemas.microsoft.com/office/drawing/2014/main" id="{58168EB5-6BA4-65D6-ABF2-7F55F487F032}"/>
              </a:ext>
            </a:extLst>
          </p:cNvPr>
          <p:cNvSpPr/>
          <p:nvPr/>
        </p:nvSpPr>
        <p:spPr>
          <a:xfrm>
            <a:off x="5447851" y="5472294"/>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68" name="Rectangle 67">
            <a:extLst>
              <a:ext uri="{FF2B5EF4-FFF2-40B4-BE49-F238E27FC236}">
                <a16:creationId xmlns:a16="http://schemas.microsoft.com/office/drawing/2014/main" id="{DB562B22-CBF0-4A23-90E6-53CE8A5F1331}"/>
              </a:ext>
            </a:extLst>
          </p:cNvPr>
          <p:cNvSpPr/>
          <p:nvPr/>
        </p:nvSpPr>
        <p:spPr>
          <a:xfrm>
            <a:off x="6592062" y="5126187"/>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Watch.ts</a:t>
            </a:r>
            <a:endParaRPr lang="en-US" sz="900" dirty="0">
              <a:solidFill>
                <a:schemeClr val="tx1"/>
              </a:solidFill>
            </a:endParaRPr>
          </a:p>
        </p:txBody>
      </p:sp>
      <p:sp>
        <p:nvSpPr>
          <p:cNvPr id="69" name="Smiley Face 68">
            <a:extLst>
              <a:ext uri="{FF2B5EF4-FFF2-40B4-BE49-F238E27FC236}">
                <a16:creationId xmlns:a16="http://schemas.microsoft.com/office/drawing/2014/main" id="{B20AF8FA-C8CF-4608-CA21-469D213D23D3}"/>
              </a:ext>
            </a:extLst>
          </p:cNvPr>
          <p:cNvSpPr/>
          <p:nvPr/>
        </p:nvSpPr>
        <p:spPr>
          <a:xfrm>
            <a:off x="7102468" y="6474309"/>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a:extLst>
              <a:ext uri="{FF2B5EF4-FFF2-40B4-BE49-F238E27FC236}">
                <a16:creationId xmlns:a16="http://schemas.microsoft.com/office/drawing/2014/main" id="{18823EA2-D94E-49A1-CB32-E47701A28721}"/>
              </a:ext>
            </a:extLst>
          </p:cNvPr>
          <p:cNvSpPr/>
          <p:nvPr/>
        </p:nvSpPr>
        <p:spPr>
          <a:xfrm>
            <a:off x="6646618" y="5183896"/>
            <a:ext cx="1085850" cy="8115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err="1"/>
              <a:t>HTMLConsole</a:t>
            </a:r>
            <a:endParaRPr lang="en-US" sz="900" dirty="0"/>
          </a:p>
        </p:txBody>
      </p:sp>
      <p:sp>
        <p:nvSpPr>
          <p:cNvPr id="72" name="Rectangle 71">
            <a:extLst>
              <a:ext uri="{FF2B5EF4-FFF2-40B4-BE49-F238E27FC236}">
                <a16:creationId xmlns:a16="http://schemas.microsoft.com/office/drawing/2014/main" id="{BFCEB748-D7CA-EDE0-8695-A58F2D7E32B6}"/>
              </a:ext>
            </a:extLst>
          </p:cNvPr>
          <p:cNvSpPr/>
          <p:nvPr/>
        </p:nvSpPr>
        <p:spPr>
          <a:xfrm>
            <a:off x="6782032" y="5472294"/>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cxnSp>
        <p:nvCxnSpPr>
          <p:cNvPr id="78" name="Straight Arrow Connector 77">
            <a:extLst>
              <a:ext uri="{FF2B5EF4-FFF2-40B4-BE49-F238E27FC236}">
                <a16:creationId xmlns:a16="http://schemas.microsoft.com/office/drawing/2014/main" id="{55F1C0D3-DA42-B958-CA4B-7ED3FE602CF0}"/>
              </a:ext>
            </a:extLst>
          </p:cNvPr>
          <p:cNvCxnSpPr>
            <a:cxnSpLocks/>
            <a:stCxn id="112" idx="2"/>
            <a:endCxn id="63" idx="0"/>
          </p:cNvCxnSpPr>
          <p:nvPr/>
        </p:nvCxnSpPr>
        <p:spPr>
          <a:xfrm flipH="1">
            <a:off x="5882315" y="2668754"/>
            <a:ext cx="4479" cy="24574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0D4A64FE-7B21-DA97-F9C9-FD34B963184E}"/>
              </a:ext>
            </a:extLst>
          </p:cNvPr>
          <p:cNvCxnSpPr>
            <a:cxnSpLocks/>
            <a:endCxn id="68" idx="0"/>
          </p:cNvCxnSpPr>
          <p:nvPr/>
        </p:nvCxnSpPr>
        <p:spPr>
          <a:xfrm flipH="1">
            <a:off x="7216496" y="3211595"/>
            <a:ext cx="9936" cy="191459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DD47A6C-E6DB-FA08-81A3-4636FBB2B71B}"/>
              </a:ext>
            </a:extLst>
          </p:cNvPr>
          <p:cNvCxnSpPr>
            <a:cxnSpLocks/>
            <a:stCxn id="115" idx="2"/>
            <a:endCxn id="28" idx="0"/>
          </p:cNvCxnSpPr>
          <p:nvPr/>
        </p:nvCxnSpPr>
        <p:spPr>
          <a:xfrm flipH="1">
            <a:off x="9077734" y="2678681"/>
            <a:ext cx="7987" cy="243205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AEDA0868-9EAF-C028-FBBB-06EF634BFE75}"/>
              </a:ext>
            </a:extLst>
          </p:cNvPr>
          <p:cNvCxnSpPr>
            <a:cxnSpLocks/>
            <a:stCxn id="114" idx="2"/>
            <a:endCxn id="27" idx="0"/>
          </p:cNvCxnSpPr>
          <p:nvPr/>
        </p:nvCxnSpPr>
        <p:spPr>
          <a:xfrm flipH="1">
            <a:off x="10380509" y="2687720"/>
            <a:ext cx="14414" cy="241548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DDF0DAD3-C9BC-62BC-1477-9A89664F459F}"/>
              </a:ext>
            </a:extLst>
          </p:cNvPr>
          <p:cNvSpPr/>
          <p:nvPr/>
        </p:nvSpPr>
        <p:spPr>
          <a:xfrm>
            <a:off x="1586902" y="1569376"/>
            <a:ext cx="9614498" cy="16170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GameService</a:t>
            </a:r>
            <a:endParaRPr lang="en-US" sz="900" dirty="0">
              <a:solidFill>
                <a:schemeClr val="tx1"/>
              </a:solidFill>
            </a:endParaRPr>
          </a:p>
        </p:txBody>
      </p:sp>
      <p:grpSp>
        <p:nvGrpSpPr>
          <p:cNvPr id="110" name="Group 109">
            <a:extLst>
              <a:ext uri="{FF2B5EF4-FFF2-40B4-BE49-F238E27FC236}">
                <a16:creationId xmlns:a16="http://schemas.microsoft.com/office/drawing/2014/main" id="{27D3CF01-5145-A066-772E-353744E97707}"/>
              </a:ext>
            </a:extLst>
          </p:cNvPr>
          <p:cNvGrpSpPr/>
          <p:nvPr/>
        </p:nvGrpSpPr>
        <p:grpSpPr>
          <a:xfrm>
            <a:off x="2799623" y="2188614"/>
            <a:ext cx="891473" cy="464521"/>
            <a:chOff x="1913798" y="2188614"/>
            <a:chExt cx="891473" cy="464521"/>
          </a:xfrm>
        </p:grpSpPr>
        <p:sp>
          <p:nvSpPr>
            <p:cNvPr id="5" name="Rectangle 4">
              <a:extLst>
                <a:ext uri="{FF2B5EF4-FFF2-40B4-BE49-F238E27FC236}">
                  <a16:creationId xmlns:a16="http://schemas.microsoft.com/office/drawing/2014/main" id="{D61FFBA3-EFC0-78E1-B0AE-36A5D9771813}"/>
                </a:ext>
              </a:extLst>
            </p:cNvPr>
            <p:cNvSpPr/>
            <p:nvPr/>
          </p:nvSpPr>
          <p:spPr>
            <a:xfrm>
              <a:off x="1913798" y="2188614"/>
              <a:ext cx="891473"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GameHub</a:t>
              </a:r>
              <a:endParaRPr lang="en-US" sz="900" dirty="0"/>
            </a:p>
          </p:txBody>
        </p:sp>
        <p:sp>
          <p:nvSpPr>
            <p:cNvPr id="100" name="Rectangle 99">
              <a:extLst>
                <a:ext uri="{FF2B5EF4-FFF2-40B4-BE49-F238E27FC236}">
                  <a16:creationId xmlns:a16="http://schemas.microsoft.com/office/drawing/2014/main" id="{28401854-D084-6BC2-8F5C-3AD6E2B9C557}"/>
                </a:ext>
              </a:extLst>
            </p:cNvPr>
            <p:cNvSpPr/>
            <p:nvPr/>
          </p:nvSpPr>
          <p:spPr>
            <a:xfrm>
              <a:off x="2070919" y="2504203"/>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Play()</a:t>
              </a:r>
            </a:p>
          </p:txBody>
        </p:sp>
      </p:grpSp>
      <p:sp>
        <p:nvSpPr>
          <p:cNvPr id="107" name="Rectangle 106">
            <a:extLst>
              <a:ext uri="{FF2B5EF4-FFF2-40B4-BE49-F238E27FC236}">
                <a16:creationId xmlns:a16="http://schemas.microsoft.com/office/drawing/2014/main" id="{637747BF-B409-4058-1492-00B7AE9AF554}"/>
              </a:ext>
            </a:extLst>
          </p:cNvPr>
          <p:cNvSpPr/>
          <p:nvPr/>
        </p:nvSpPr>
        <p:spPr>
          <a:xfrm>
            <a:off x="4924843" y="1792913"/>
            <a:ext cx="598810"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Core</a:t>
            </a:r>
          </a:p>
        </p:txBody>
      </p:sp>
      <p:grpSp>
        <p:nvGrpSpPr>
          <p:cNvPr id="111" name="Group 110">
            <a:extLst>
              <a:ext uri="{FF2B5EF4-FFF2-40B4-BE49-F238E27FC236}">
                <a16:creationId xmlns:a16="http://schemas.microsoft.com/office/drawing/2014/main" id="{050FEF46-4B72-E5F7-6693-EAB4A434713B}"/>
              </a:ext>
            </a:extLst>
          </p:cNvPr>
          <p:cNvGrpSpPr/>
          <p:nvPr/>
        </p:nvGrpSpPr>
        <p:grpSpPr>
          <a:xfrm>
            <a:off x="4133803" y="2185896"/>
            <a:ext cx="891473" cy="467239"/>
            <a:chOff x="3247978" y="2185896"/>
            <a:chExt cx="891473" cy="467239"/>
          </a:xfrm>
        </p:grpSpPr>
        <p:sp>
          <p:nvSpPr>
            <p:cNvPr id="6" name="Rectangle 5">
              <a:extLst>
                <a:ext uri="{FF2B5EF4-FFF2-40B4-BE49-F238E27FC236}">
                  <a16:creationId xmlns:a16="http://schemas.microsoft.com/office/drawing/2014/main" id="{90E3C269-A4EB-9028-F766-37B03AD24CC6}"/>
                </a:ext>
              </a:extLst>
            </p:cNvPr>
            <p:cNvSpPr/>
            <p:nvPr/>
          </p:nvSpPr>
          <p:spPr>
            <a:xfrm>
              <a:off x="3247978" y="2185896"/>
              <a:ext cx="891473"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SpectatingHub</a:t>
              </a:r>
              <a:endParaRPr lang="en-US" sz="900" dirty="0"/>
            </a:p>
          </p:txBody>
        </p:sp>
        <p:sp>
          <p:nvSpPr>
            <p:cNvPr id="108" name="Rectangle 107">
              <a:extLst>
                <a:ext uri="{FF2B5EF4-FFF2-40B4-BE49-F238E27FC236}">
                  <a16:creationId xmlns:a16="http://schemas.microsoft.com/office/drawing/2014/main" id="{FAA18D24-9BDB-4E73-A8A2-498EC392C216}"/>
                </a:ext>
              </a:extLst>
            </p:cNvPr>
            <p:cNvSpPr/>
            <p:nvPr/>
          </p:nvSpPr>
          <p:spPr>
            <a:xfrm>
              <a:off x="3388760" y="2504203"/>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Watch()</a:t>
              </a:r>
            </a:p>
          </p:txBody>
        </p:sp>
      </p:grpSp>
      <p:grpSp>
        <p:nvGrpSpPr>
          <p:cNvPr id="121" name="Group 120">
            <a:extLst>
              <a:ext uri="{FF2B5EF4-FFF2-40B4-BE49-F238E27FC236}">
                <a16:creationId xmlns:a16="http://schemas.microsoft.com/office/drawing/2014/main" id="{DA0A6167-FB4D-A5CD-B94F-408943CD9B80}"/>
              </a:ext>
            </a:extLst>
          </p:cNvPr>
          <p:cNvGrpSpPr/>
          <p:nvPr/>
        </p:nvGrpSpPr>
        <p:grpSpPr>
          <a:xfrm>
            <a:off x="5444591" y="2195086"/>
            <a:ext cx="891473" cy="473668"/>
            <a:chOff x="4558766" y="2195086"/>
            <a:chExt cx="891473" cy="473668"/>
          </a:xfrm>
        </p:grpSpPr>
        <p:sp>
          <p:nvSpPr>
            <p:cNvPr id="7" name="Rectangle 6">
              <a:extLst>
                <a:ext uri="{FF2B5EF4-FFF2-40B4-BE49-F238E27FC236}">
                  <a16:creationId xmlns:a16="http://schemas.microsoft.com/office/drawing/2014/main" id="{B8025CDD-CA99-CA9F-A6D2-BA4DF6E90784}"/>
                </a:ext>
              </a:extLst>
            </p:cNvPr>
            <p:cNvSpPr/>
            <p:nvPr/>
          </p:nvSpPr>
          <p:spPr>
            <a:xfrm>
              <a:off x="4558766" y="2195086"/>
              <a:ext cx="891473"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SpectatingHub</a:t>
              </a:r>
              <a:endParaRPr lang="en-US" sz="900" dirty="0"/>
            </a:p>
          </p:txBody>
        </p:sp>
        <p:sp>
          <p:nvSpPr>
            <p:cNvPr id="112" name="Rectangle 111">
              <a:extLst>
                <a:ext uri="{FF2B5EF4-FFF2-40B4-BE49-F238E27FC236}">
                  <a16:creationId xmlns:a16="http://schemas.microsoft.com/office/drawing/2014/main" id="{CF83DDFA-11B7-9CA1-3669-E1EE376B084F}"/>
                </a:ext>
              </a:extLst>
            </p:cNvPr>
            <p:cNvSpPr/>
            <p:nvPr/>
          </p:nvSpPr>
          <p:spPr>
            <a:xfrm>
              <a:off x="4701564" y="2519822"/>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Watch()</a:t>
              </a:r>
            </a:p>
          </p:txBody>
        </p:sp>
      </p:grpSp>
      <p:grpSp>
        <p:nvGrpSpPr>
          <p:cNvPr id="120" name="Group 119">
            <a:extLst>
              <a:ext uri="{FF2B5EF4-FFF2-40B4-BE49-F238E27FC236}">
                <a16:creationId xmlns:a16="http://schemas.microsoft.com/office/drawing/2014/main" id="{2068E68F-3550-D1AE-E8B2-5DD77E506A40}"/>
              </a:ext>
            </a:extLst>
          </p:cNvPr>
          <p:cNvGrpSpPr/>
          <p:nvPr/>
        </p:nvGrpSpPr>
        <p:grpSpPr>
          <a:xfrm>
            <a:off x="6785174" y="2223417"/>
            <a:ext cx="891473" cy="455424"/>
            <a:chOff x="5899349" y="2223417"/>
            <a:chExt cx="891473" cy="455424"/>
          </a:xfrm>
        </p:grpSpPr>
        <p:sp>
          <p:nvSpPr>
            <p:cNvPr id="8" name="Rectangle 7">
              <a:extLst>
                <a:ext uri="{FF2B5EF4-FFF2-40B4-BE49-F238E27FC236}">
                  <a16:creationId xmlns:a16="http://schemas.microsoft.com/office/drawing/2014/main" id="{B21BD4A3-7082-C2A2-E27F-17B59641C7CD}"/>
                </a:ext>
              </a:extLst>
            </p:cNvPr>
            <p:cNvSpPr/>
            <p:nvPr/>
          </p:nvSpPr>
          <p:spPr>
            <a:xfrm>
              <a:off x="5899349" y="2223417"/>
              <a:ext cx="891473"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SpectatingHub</a:t>
              </a:r>
              <a:endParaRPr lang="en-US" sz="900" dirty="0"/>
            </a:p>
          </p:txBody>
        </p:sp>
        <p:sp>
          <p:nvSpPr>
            <p:cNvPr id="113" name="Rectangle 112">
              <a:extLst>
                <a:ext uri="{FF2B5EF4-FFF2-40B4-BE49-F238E27FC236}">
                  <a16:creationId xmlns:a16="http://schemas.microsoft.com/office/drawing/2014/main" id="{80996961-7362-8F37-BADF-ACD2958206CB}"/>
                </a:ext>
              </a:extLst>
            </p:cNvPr>
            <p:cNvSpPr/>
            <p:nvPr/>
          </p:nvSpPr>
          <p:spPr>
            <a:xfrm>
              <a:off x="6037479" y="2529909"/>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Watch()</a:t>
              </a:r>
            </a:p>
          </p:txBody>
        </p:sp>
      </p:grpSp>
      <p:grpSp>
        <p:nvGrpSpPr>
          <p:cNvPr id="119" name="Group 118">
            <a:extLst>
              <a:ext uri="{FF2B5EF4-FFF2-40B4-BE49-F238E27FC236}">
                <a16:creationId xmlns:a16="http://schemas.microsoft.com/office/drawing/2014/main" id="{A74B2CFD-085D-33A6-A49B-097F28D096B5}"/>
              </a:ext>
            </a:extLst>
          </p:cNvPr>
          <p:cNvGrpSpPr/>
          <p:nvPr/>
        </p:nvGrpSpPr>
        <p:grpSpPr>
          <a:xfrm>
            <a:off x="9949187" y="2220732"/>
            <a:ext cx="891473" cy="466988"/>
            <a:chOff x="9063362" y="2220732"/>
            <a:chExt cx="891473" cy="466988"/>
          </a:xfrm>
        </p:grpSpPr>
        <p:sp>
          <p:nvSpPr>
            <p:cNvPr id="10" name="Rectangle 9">
              <a:extLst>
                <a:ext uri="{FF2B5EF4-FFF2-40B4-BE49-F238E27FC236}">
                  <a16:creationId xmlns:a16="http://schemas.microsoft.com/office/drawing/2014/main" id="{7E3522A7-896A-502F-AF24-DA180FA97253}"/>
                </a:ext>
              </a:extLst>
            </p:cNvPr>
            <p:cNvSpPr/>
            <p:nvPr/>
          </p:nvSpPr>
          <p:spPr>
            <a:xfrm>
              <a:off x="9063362" y="2220732"/>
              <a:ext cx="891473"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SpectatingHub</a:t>
              </a:r>
              <a:endParaRPr lang="en-US" sz="900" dirty="0"/>
            </a:p>
          </p:txBody>
        </p:sp>
        <p:sp>
          <p:nvSpPr>
            <p:cNvPr id="114" name="Rectangle 113">
              <a:extLst>
                <a:ext uri="{FF2B5EF4-FFF2-40B4-BE49-F238E27FC236}">
                  <a16:creationId xmlns:a16="http://schemas.microsoft.com/office/drawing/2014/main" id="{1651B1F6-0777-CC71-B6B4-1BB19C88718C}"/>
                </a:ext>
              </a:extLst>
            </p:cNvPr>
            <p:cNvSpPr/>
            <p:nvPr/>
          </p:nvSpPr>
          <p:spPr>
            <a:xfrm>
              <a:off x="9209693" y="2538788"/>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Watch()</a:t>
              </a:r>
            </a:p>
          </p:txBody>
        </p:sp>
      </p:grpSp>
      <p:grpSp>
        <p:nvGrpSpPr>
          <p:cNvPr id="118" name="Group 117">
            <a:extLst>
              <a:ext uri="{FF2B5EF4-FFF2-40B4-BE49-F238E27FC236}">
                <a16:creationId xmlns:a16="http://schemas.microsoft.com/office/drawing/2014/main" id="{2AD7D829-ED5A-4870-A73D-3DA8D26B075E}"/>
              </a:ext>
            </a:extLst>
          </p:cNvPr>
          <p:cNvGrpSpPr/>
          <p:nvPr/>
        </p:nvGrpSpPr>
        <p:grpSpPr>
          <a:xfrm>
            <a:off x="8672030" y="2215676"/>
            <a:ext cx="831421" cy="463005"/>
            <a:chOff x="7786205" y="2215676"/>
            <a:chExt cx="831421" cy="463005"/>
          </a:xfrm>
        </p:grpSpPr>
        <p:sp>
          <p:nvSpPr>
            <p:cNvPr id="9" name="Rectangle 8">
              <a:extLst>
                <a:ext uri="{FF2B5EF4-FFF2-40B4-BE49-F238E27FC236}">
                  <a16:creationId xmlns:a16="http://schemas.microsoft.com/office/drawing/2014/main" id="{EEA9457C-F90B-75F9-275D-8343690194A4}"/>
                </a:ext>
              </a:extLst>
            </p:cNvPr>
            <p:cNvSpPr/>
            <p:nvPr/>
          </p:nvSpPr>
          <p:spPr>
            <a:xfrm>
              <a:off x="7786205" y="2215676"/>
              <a:ext cx="831421"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GameHub</a:t>
              </a:r>
              <a:endParaRPr lang="en-US" sz="900" dirty="0"/>
            </a:p>
          </p:txBody>
        </p:sp>
        <p:sp>
          <p:nvSpPr>
            <p:cNvPr id="115" name="Rectangle 114">
              <a:extLst>
                <a:ext uri="{FF2B5EF4-FFF2-40B4-BE49-F238E27FC236}">
                  <a16:creationId xmlns:a16="http://schemas.microsoft.com/office/drawing/2014/main" id="{548E963D-0F04-748D-F433-6D862324A136}"/>
                </a:ext>
              </a:extLst>
            </p:cNvPr>
            <p:cNvSpPr/>
            <p:nvPr/>
          </p:nvSpPr>
          <p:spPr>
            <a:xfrm>
              <a:off x="7900491" y="2529749"/>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Play()</a:t>
              </a:r>
            </a:p>
          </p:txBody>
        </p:sp>
      </p:grpSp>
      <p:grpSp>
        <p:nvGrpSpPr>
          <p:cNvPr id="23" name="Group 22">
            <a:extLst>
              <a:ext uri="{FF2B5EF4-FFF2-40B4-BE49-F238E27FC236}">
                <a16:creationId xmlns:a16="http://schemas.microsoft.com/office/drawing/2014/main" id="{F42D4670-C32A-E285-09D2-5857048D083F}"/>
              </a:ext>
            </a:extLst>
          </p:cNvPr>
          <p:cNvGrpSpPr/>
          <p:nvPr/>
        </p:nvGrpSpPr>
        <p:grpSpPr>
          <a:xfrm>
            <a:off x="537119" y="3550360"/>
            <a:ext cx="2109662" cy="482449"/>
            <a:chOff x="184599" y="3369743"/>
            <a:chExt cx="2109662" cy="482449"/>
          </a:xfrm>
        </p:grpSpPr>
        <p:sp>
          <p:nvSpPr>
            <p:cNvPr id="97" name="Rectangle 96">
              <a:extLst>
                <a:ext uri="{FF2B5EF4-FFF2-40B4-BE49-F238E27FC236}">
                  <a16:creationId xmlns:a16="http://schemas.microsoft.com/office/drawing/2014/main" id="{8A7222CE-7DEF-ADD8-A978-170FC41E370A}"/>
                </a:ext>
              </a:extLst>
            </p:cNvPr>
            <p:cNvSpPr/>
            <p:nvPr/>
          </p:nvSpPr>
          <p:spPr>
            <a:xfrm>
              <a:off x="184599" y="3369743"/>
              <a:ext cx="2109662"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GameController</a:t>
              </a:r>
              <a:endParaRPr lang="en-US" sz="900" dirty="0"/>
            </a:p>
          </p:txBody>
        </p:sp>
        <p:sp>
          <p:nvSpPr>
            <p:cNvPr id="126" name="Rectangle 125">
              <a:extLst>
                <a:ext uri="{FF2B5EF4-FFF2-40B4-BE49-F238E27FC236}">
                  <a16:creationId xmlns:a16="http://schemas.microsoft.com/office/drawing/2014/main" id="{822C75F3-CDD6-2E7F-52D2-759E41477368}"/>
                </a:ext>
              </a:extLst>
            </p:cNvPr>
            <p:cNvSpPr/>
            <p:nvPr/>
          </p:nvSpPr>
          <p:spPr>
            <a:xfrm>
              <a:off x="239390" y="3685332"/>
              <a:ext cx="86614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a:t>GetActiveGames</a:t>
              </a:r>
              <a:r>
                <a:rPr lang="en-US" sz="900" dirty="0"/>
                <a:t>()</a:t>
              </a:r>
            </a:p>
          </p:txBody>
        </p:sp>
        <p:sp>
          <p:nvSpPr>
            <p:cNvPr id="127" name="Rectangle 126">
              <a:extLst>
                <a:ext uri="{FF2B5EF4-FFF2-40B4-BE49-F238E27FC236}">
                  <a16:creationId xmlns:a16="http://schemas.microsoft.com/office/drawing/2014/main" id="{1CE46474-B767-5875-95C8-E9774702852B}"/>
                </a:ext>
              </a:extLst>
            </p:cNvPr>
            <p:cNvSpPr/>
            <p:nvPr/>
          </p:nvSpPr>
          <p:spPr>
            <a:xfrm>
              <a:off x="1251758" y="3689503"/>
              <a:ext cx="866140" cy="1626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a:t>GetSavedGames</a:t>
              </a:r>
              <a:endParaRPr lang="en-US" sz="900" dirty="0"/>
            </a:p>
          </p:txBody>
        </p:sp>
      </p:grpSp>
      <p:cxnSp>
        <p:nvCxnSpPr>
          <p:cNvPr id="128" name="Straight Arrow Connector 127">
            <a:extLst>
              <a:ext uri="{FF2B5EF4-FFF2-40B4-BE49-F238E27FC236}">
                <a16:creationId xmlns:a16="http://schemas.microsoft.com/office/drawing/2014/main" id="{9B13B2FD-174B-3566-97A1-298007AD1FF9}"/>
              </a:ext>
            </a:extLst>
          </p:cNvPr>
          <p:cNvCxnSpPr>
            <a:cxnSpLocks/>
            <a:endCxn id="97" idx="0"/>
          </p:cNvCxnSpPr>
          <p:nvPr/>
        </p:nvCxnSpPr>
        <p:spPr>
          <a:xfrm flipH="1">
            <a:off x="1591950" y="3182942"/>
            <a:ext cx="12328" cy="3674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DCDCF76C-B39D-FA99-7001-71E9691045D4}"/>
              </a:ext>
            </a:extLst>
          </p:cNvPr>
          <p:cNvSpPr/>
          <p:nvPr/>
        </p:nvSpPr>
        <p:spPr>
          <a:xfrm>
            <a:off x="910668" y="5123818"/>
            <a:ext cx="1248868" cy="11816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solidFill>
                  <a:schemeClr val="tx1"/>
                </a:solidFill>
              </a:rPr>
              <a:t>Home.ts</a:t>
            </a:r>
            <a:endParaRPr lang="en-US" sz="900" dirty="0">
              <a:solidFill>
                <a:schemeClr val="tx1"/>
              </a:solidFill>
            </a:endParaRPr>
          </a:p>
        </p:txBody>
      </p:sp>
      <p:sp>
        <p:nvSpPr>
          <p:cNvPr id="133" name="Smiley Face 132">
            <a:extLst>
              <a:ext uri="{FF2B5EF4-FFF2-40B4-BE49-F238E27FC236}">
                <a16:creationId xmlns:a16="http://schemas.microsoft.com/office/drawing/2014/main" id="{70366F74-C307-BC43-4163-AC942C257E8D}"/>
              </a:ext>
            </a:extLst>
          </p:cNvPr>
          <p:cNvSpPr/>
          <p:nvPr/>
        </p:nvSpPr>
        <p:spPr>
          <a:xfrm>
            <a:off x="1145767" y="6492874"/>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ylinder 3">
            <a:extLst>
              <a:ext uri="{FF2B5EF4-FFF2-40B4-BE49-F238E27FC236}">
                <a16:creationId xmlns:a16="http://schemas.microsoft.com/office/drawing/2014/main" id="{B1FDDA03-5101-307E-8528-921FCC7BA748}"/>
              </a:ext>
            </a:extLst>
          </p:cNvPr>
          <p:cNvSpPr/>
          <p:nvPr/>
        </p:nvSpPr>
        <p:spPr>
          <a:xfrm>
            <a:off x="224904" y="1632600"/>
            <a:ext cx="1165540" cy="63621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Database</a:t>
            </a:r>
          </a:p>
        </p:txBody>
      </p:sp>
      <p:cxnSp>
        <p:nvCxnSpPr>
          <p:cNvPr id="16" name="Straight Arrow Connector 15">
            <a:extLst>
              <a:ext uri="{FF2B5EF4-FFF2-40B4-BE49-F238E27FC236}">
                <a16:creationId xmlns:a16="http://schemas.microsoft.com/office/drawing/2014/main" id="{344F192A-C984-3BF1-2586-0E560D4CC3CE}"/>
              </a:ext>
            </a:extLst>
          </p:cNvPr>
          <p:cNvCxnSpPr>
            <a:cxnSpLocks/>
            <a:stCxn id="107" idx="1"/>
            <a:endCxn id="4" idx="4"/>
          </p:cNvCxnSpPr>
          <p:nvPr/>
        </p:nvCxnSpPr>
        <p:spPr>
          <a:xfrm flipH="1" flipV="1">
            <a:off x="1390444" y="1950707"/>
            <a:ext cx="3534399"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D67C7F7-0FF5-9E4C-5406-34255C483BE9}"/>
              </a:ext>
            </a:extLst>
          </p:cNvPr>
          <p:cNvCxnSpPr>
            <a:cxnSpLocks/>
            <a:stCxn id="127" idx="2"/>
            <a:endCxn id="132" idx="0"/>
          </p:cNvCxnSpPr>
          <p:nvPr/>
        </p:nvCxnSpPr>
        <p:spPr>
          <a:xfrm flipH="1">
            <a:off x="1535102" y="4032809"/>
            <a:ext cx="502246" cy="109100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843DCE6-A7A0-B627-6ABE-F27D56AA8A4E}"/>
              </a:ext>
            </a:extLst>
          </p:cNvPr>
          <p:cNvCxnSpPr>
            <a:cxnSpLocks/>
            <a:stCxn id="126" idx="2"/>
            <a:endCxn id="132" idx="0"/>
          </p:cNvCxnSpPr>
          <p:nvPr/>
        </p:nvCxnSpPr>
        <p:spPr>
          <a:xfrm>
            <a:off x="1024980" y="4014881"/>
            <a:ext cx="510122" cy="11089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AA99893-F5DB-C4BD-22C2-9B561A2698AE}"/>
              </a:ext>
            </a:extLst>
          </p:cNvPr>
          <p:cNvCxnSpPr>
            <a:cxnSpLocks/>
            <a:stCxn id="4" idx="3"/>
            <a:endCxn id="97" idx="0"/>
          </p:cNvCxnSpPr>
          <p:nvPr/>
        </p:nvCxnSpPr>
        <p:spPr>
          <a:xfrm>
            <a:off x="807674" y="2268813"/>
            <a:ext cx="784276" cy="128154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090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08D7-ED52-D258-28EB-5E7B10684133}"/>
              </a:ext>
            </a:extLst>
          </p:cNvPr>
          <p:cNvSpPr>
            <a:spLocks noGrp="1"/>
          </p:cNvSpPr>
          <p:nvPr>
            <p:ph type="title"/>
          </p:nvPr>
        </p:nvSpPr>
        <p:spPr>
          <a:xfrm>
            <a:off x="838200" y="365125"/>
            <a:ext cx="10515600" cy="533091"/>
          </a:xfrm>
        </p:spPr>
        <p:txBody>
          <a:bodyPr>
            <a:normAutofit fontScale="90000"/>
          </a:bodyPr>
          <a:lstStyle/>
          <a:p>
            <a:pPr algn="ctr"/>
            <a:r>
              <a:rPr lang="en-US" dirty="0"/>
              <a:t>Web User Initiate </a:t>
            </a:r>
            <a:r>
              <a:rPr lang="en-US"/>
              <a:t>and Play New </a:t>
            </a:r>
            <a:r>
              <a:rPr lang="en-US" dirty="0"/>
              <a:t>Game</a:t>
            </a:r>
          </a:p>
        </p:txBody>
      </p:sp>
      <p:sp>
        <p:nvSpPr>
          <p:cNvPr id="3" name="Smiley Face 2">
            <a:extLst>
              <a:ext uri="{FF2B5EF4-FFF2-40B4-BE49-F238E27FC236}">
                <a16:creationId xmlns:a16="http://schemas.microsoft.com/office/drawing/2014/main" id="{A5FE8195-4316-B378-0D49-1F3AD65F3AE1}"/>
              </a:ext>
            </a:extLst>
          </p:cNvPr>
          <p:cNvSpPr/>
          <p:nvPr/>
        </p:nvSpPr>
        <p:spPr>
          <a:xfrm>
            <a:off x="5744838" y="1096254"/>
            <a:ext cx="174147" cy="17087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895AB41-3B1C-BD8F-A481-A5ED4D002BC2}"/>
              </a:ext>
            </a:extLst>
          </p:cNvPr>
          <p:cNvSpPr/>
          <p:nvPr/>
        </p:nvSpPr>
        <p:spPr>
          <a:xfrm>
            <a:off x="6554019" y="1468016"/>
            <a:ext cx="1248868" cy="10303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a:t>
            </a:r>
            <a:r>
              <a:rPr lang="en-US" sz="900" dirty="0" err="1">
                <a:solidFill>
                  <a:schemeClr val="tx1"/>
                </a:solidFill>
              </a:rPr>
              <a:t>play.ts</a:t>
            </a:r>
            <a:endParaRPr lang="en-US" sz="900" dirty="0">
              <a:solidFill>
                <a:schemeClr val="tx1"/>
              </a:solidFill>
            </a:endParaRPr>
          </a:p>
        </p:txBody>
      </p:sp>
      <p:sp>
        <p:nvSpPr>
          <p:cNvPr id="6" name="Rectangle 5">
            <a:extLst>
              <a:ext uri="{FF2B5EF4-FFF2-40B4-BE49-F238E27FC236}">
                <a16:creationId xmlns:a16="http://schemas.microsoft.com/office/drawing/2014/main" id="{C172A6F9-8855-1645-9903-61A2569960EC}"/>
              </a:ext>
            </a:extLst>
          </p:cNvPr>
          <p:cNvSpPr/>
          <p:nvPr/>
        </p:nvSpPr>
        <p:spPr>
          <a:xfrm>
            <a:off x="6624740" y="1755417"/>
            <a:ext cx="1085850" cy="6549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t>HTMLConsole</a:t>
            </a:r>
            <a:endParaRPr lang="en-US" sz="900" dirty="0"/>
          </a:p>
        </p:txBody>
      </p:sp>
      <p:sp>
        <p:nvSpPr>
          <p:cNvPr id="7" name="Rectangle 6">
            <a:extLst>
              <a:ext uri="{FF2B5EF4-FFF2-40B4-BE49-F238E27FC236}">
                <a16:creationId xmlns:a16="http://schemas.microsoft.com/office/drawing/2014/main" id="{0F136BFE-876A-306D-01EF-A58949E1CCFE}"/>
              </a:ext>
            </a:extLst>
          </p:cNvPr>
          <p:cNvSpPr/>
          <p:nvPr/>
        </p:nvSpPr>
        <p:spPr>
          <a:xfrm>
            <a:off x="6743990" y="1797976"/>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HTMLCanvas</a:t>
            </a:r>
            <a:endParaRPr lang="en-US" sz="900" dirty="0"/>
          </a:p>
        </p:txBody>
      </p:sp>
      <p:sp>
        <p:nvSpPr>
          <p:cNvPr id="8" name="Cloud 7">
            <a:extLst>
              <a:ext uri="{FF2B5EF4-FFF2-40B4-BE49-F238E27FC236}">
                <a16:creationId xmlns:a16="http://schemas.microsoft.com/office/drawing/2014/main" id="{CE9D2222-B765-8243-F490-351231E50B29}"/>
              </a:ext>
            </a:extLst>
          </p:cNvPr>
          <p:cNvSpPr/>
          <p:nvPr/>
        </p:nvSpPr>
        <p:spPr>
          <a:xfrm>
            <a:off x="5196689" y="2047835"/>
            <a:ext cx="1248868" cy="788563"/>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20F36D2-6A7F-4940-FA54-D9F72BD235FD}"/>
              </a:ext>
            </a:extLst>
          </p:cNvPr>
          <p:cNvSpPr/>
          <p:nvPr/>
        </p:nvSpPr>
        <p:spPr>
          <a:xfrm>
            <a:off x="6748855" y="3191135"/>
            <a:ext cx="868925" cy="3155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err="1"/>
              <a:t>SignalRHub</a:t>
            </a:r>
            <a:endParaRPr lang="en-US" sz="900" dirty="0"/>
          </a:p>
        </p:txBody>
      </p:sp>
      <p:sp>
        <p:nvSpPr>
          <p:cNvPr id="10" name="Rectangle 9">
            <a:extLst>
              <a:ext uri="{FF2B5EF4-FFF2-40B4-BE49-F238E27FC236}">
                <a16:creationId xmlns:a16="http://schemas.microsoft.com/office/drawing/2014/main" id="{5681CE96-4C6A-3238-4AAA-63384767AD45}"/>
              </a:ext>
            </a:extLst>
          </p:cNvPr>
          <p:cNvSpPr/>
          <p:nvPr/>
        </p:nvSpPr>
        <p:spPr>
          <a:xfrm>
            <a:off x="5196689" y="1474687"/>
            <a:ext cx="1248868" cy="2829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a:t>
            </a:r>
            <a:r>
              <a:rPr lang="en-US" sz="900" dirty="0" err="1">
                <a:solidFill>
                  <a:schemeClr val="tx1"/>
                </a:solidFill>
              </a:rPr>
              <a:t>play.ts</a:t>
            </a:r>
            <a:endParaRPr lang="en-US" sz="900" dirty="0">
              <a:solidFill>
                <a:schemeClr val="tx1"/>
              </a:solidFill>
            </a:endParaRPr>
          </a:p>
        </p:txBody>
      </p:sp>
      <p:sp>
        <p:nvSpPr>
          <p:cNvPr id="13" name="Rectangle 12">
            <a:extLst>
              <a:ext uri="{FF2B5EF4-FFF2-40B4-BE49-F238E27FC236}">
                <a16:creationId xmlns:a16="http://schemas.microsoft.com/office/drawing/2014/main" id="{6714259B-86E2-B7F7-E207-FA114F60CB62}"/>
              </a:ext>
            </a:extLst>
          </p:cNvPr>
          <p:cNvSpPr/>
          <p:nvPr/>
        </p:nvSpPr>
        <p:spPr>
          <a:xfrm>
            <a:off x="5375386" y="3199998"/>
            <a:ext cx="891473" cy="390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t>GameHub</a:t>
            </a:r>
            <a:endParaRPr lang="en-US" sz="900" dirty="0"/>
          </a:p>
        </p:txBody>
      </p:sp>
      <p:sp>
        <p:nvSpPr>
          <p:cNvPr id="14" name="Rectangle 13">
            <a:extLst>
              <a:ext uri="{FF2B5EF4-FFF2-40B4-BE49-F238E27FC236}">
                <a16:creationId xmlns:a16="http://schemas.microsoft.com/office/drawing/2014/main" id="{27A162AF-228C-B392-524F-CED1BA08F738}"/>
              </a:ext>
            </a:extLst>
          </p:cNvPr>
          <p:cNvSpPr/>
          <p:nvPr/>
        </p:nvSpPr>
        <p:spPr>
          <a:xfrm>
            <a:off x="5532506" y="3199998"/>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Play()</a:t>
            </a:r>
          </a:p>
        </p:txBody>
      </p:sp>
      <p:cxnSp>
        <p:nvCxnSpPr>
          <p:cNvPr id="16" name="Straight Arrow Connector 15">
            <a:extLst>
              <a:ext uri="{FF2B5EF4-FFF2-40B4-BE49-F238E27FC236}">
                <a16:creationId xmlns:a16="http://schemas.microsoft.com/office/drawing/2014/main" id="{04F5A2D8-9A13-26B4-9D4F-2B5A1A9C20BF}"/>
              </a:ext>
            </a:extLst>
          </p:cNvPr>
          <p:cNvCxnSpPr>
            <a:cxnSpLocks/>
            <a:stCxn id="10" idx="2"/>
            <a:endCxn id="14" idx="0"/>
          </p:cNvCxnSpPr>
          <p:nvPr/>
        </p:nvCxnSpPr>
        <p:spPr>
          <a:xfrm>
            <a:off x="5821123" y="1757666"/>
            <a:ext cx="10788" cy="1442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73C7360-A3B5-9A60-924D-D8B14E91066E}"/>
              </a:ext>
            </a:extLst>
          </p:cNvPr>
          <p:cNvSpPr/>
          <p:nvPr/>
        </p:nvSpPr>
        <p:spPr>
          <a:xfrm>
            <a:off x="3099842" y="1514997"/>
            <a:ext cx="2096847" cy="2829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1. User navigates to the play component</a:t>
            </a:r>
          </a:p>
        </p:txBody>
      </p:sp>
      <p:sp>
        <p:nvSpPr>
          <p:cNvPr id="18" name="Rectangle 17">
            <a:extLst>
              <a:ext uri="{FF2B5EF4-FFF2-40B4-BE49-F238E27FC236}">
                <a16:creationId xmlns:a16="http://schemas.microsoft.com/office/drawing/2014/main" id="{1208D908-E8AB-BFA4-3327-D95699E02B35}"/>
              </a:ext>
            </a:extLst>
          </p:cNvPr>
          <p:cNvSpPr/>
          <p:nvPr/>
        </p:nvSpPr>
        <p:spPr>
          <a:xfrm>
            <a:off x="3095958" y="3148067"/>
            <a:ext cx="2096847" cy="49391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2. Play component calls the Play() method on the </a:t>
            </a:r>
            <a:r>
              <a:rPr lang="en-US" sz="900" dirty="0" err="1">
                <a:solidFill>
                  <a:schemeClr val="tx1"/>
                </a:solidFill>
              </a:rPr>
              <a:t>GameHub</a:t>
            </a:r>
            <a:r>
              <a:rPr lang="en-US" sz="900" dirty="0">
                <a:solidFill>
                  <a:schemeClr val="tx1"/>
                </a:solidFill>
              </a:rPr>
              <a:t> with a null game </a:t>
            </a:r>
            <a:r>
              <a:rPr lang="en-US" sz="900" dirty="0" err="1">
                <a:solidFill>
                  <a:schemeClr val="tx1"/>
                </a:solidFill>
              </a:rPr>
              <a:t>guid</a:t>
            </a:r>
            <a:endParaRPr lang="en-US" sz="900" dirty="0">
              <a:solidFill>
                <a:schemeClr val="tx1"/>
              </a:solidFill>
            </a:endParaRPr>
          </a:p>
        </p:txBody>
      </p:sp>
      <p:sp>
        <p:nvSpPr>
          <p:cNvPr id="19" name="Rectangle 18">
            <a:extLst>
              <a:ext uri="{FF2B5EF4-FFF2-40B4-BE49-F238E27FC236}">
                <a16:creationId xmlns:a16="http://schemas.microsoft.com/office/drawing/2014/main" id="{9B59292E-6EDA-E378-D6C6-01DC7EB2B3F2}"/>
              </a:ext>
            </a:extLst>
          </p:cNvPr>
          <p:cNvSpPr/>
          <p:nvPr/>
        </p:nvSpPr>
        <p:spPr>
          <a:xfrm>
            <a:off x="3095958" y="3750198"/>
            <a:ext cx="2096847" cy="4362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3. </a:t>
            </a:r>
            <a:r>
              <a:rPr lang="en-US" sz="900" dirty="0" err="1">
                <a:solidFill>
                  <a:schemeClr val="tx1"/>
                </a:solidFill>
              </a:rPr>
              <a:t>GameHub</a:t>
            </a:r>
            <a:r>
              <a:rPr lang="en-US" sz="900" dirty="0">
                <a:solidFill>
                  <a:schemeClr val="tx1"/>
                </a:solidFill>
              </a:rPr>
              <a:t> sends the request to the </a:t>
            </a:r>
            <a:r>
              <a:rPr lang="en-US" sz="900" dirty="0" err="1">
                <a:solidFill>
                  <a:schemeClr val="tx1"/>
                </a:solidFill>
              </a:rPr>
              <a:t>GameService</a:t>
            </a:r>
            <a:r>
              <a:rPr lang="en-US" sz="900" dirty="0">
                <a:solidFill>
                  <a:schemeClr val="tx1"/>
                </a:solidFill>
              </a:rPr>
              <a:t> </a:t>
            </a:r>
            <a:r>
              <a:rPr lang="en-US" sz="900" dirty="0" err="1">
                <a:solidFill>
                  <a:schemeClr val="tx1"/>
                </a:solidFill>
              </a:rPr>
              <a:t>PlayAsync</a:t>
            </a:r>
            <a:r>
              <a:rPr lang="en-US" sz="900" dirty="0">
                <a:solidFill>
                  <a:schemeClr val="tx1"/>
                </a:solidFill>
              </a:rPr>
              <a:t>() method</a:t>
            </a:r>
          </a:p>
        </p:txBody>
      </p:sp>
      <p:sp>
        <p:nvSpPr>
          <p:cNvPr id="20" name="Rectangle 19">
            <a:extLst>
              <a:ext uri="{FF2B5EF4-FFF2-40B4-BE49-F238E27FC236}">
                <a16:creationId xmlns:a16="http://schemas.microsoft.com/office/drawing/2014/main" id="{B16225C5-80B6-190E-BE05-A17EF04CB78B}"/>
              </a:ext>
            </a:extLst>
          </p:cNvPr>
          <p:cNvSpPr/>
          <p:nvPr/>
        </p:nvSpPr>
        <p:spPr>
          <a:xfrm>
            <a:off x="5373215" y="4227283"/>
            <a:ext cx="868925" cy="3900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en-US" sz="900" dirty="0" err="1"/>
              <a:t>GameService</a:t>
            </a:r>
            <a:endParaRPr lang="en-US" sz="900" dirty="0"/>
          </a:p>
        </p:txBody>
      </p:sp>
      <p:cxnSp>
        <p:nvCxnSpPr>
          <p:cNvPr id="22" name="Straight Arrow Connector 21">
            <a:extLst>
              <a:ext uri="{FF2B5EF4-FFF2-40B4-BE49-F238E27FC236}">
                <a16:creationId xmlns:a16="http://schemas.microsoft.com/office/drawing/2014/main" id="{22B2166A-FB96-5490-1C22-D85EDA1AF1D0}"/>
              </a:ext>
            </a:extLst>
          </p:cNvPr>
          <p:cNvCxnSpPr>
            <a:cxnSpLocks/>
            <a:stCxn id="13" idx="2"/>
            <a:endCxn id="20" idx="0"/>
          </p:cNvCxnSpPr>
          <p:nvPr/>
        </p:nvCxnSpPr>
        <p:spPr>
          <a:xfrm flipH="1">
            <a:off x="5807678" y="3590053"/>
            <a:ext cx="13445" cy="637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22DDF5B-C55C-EADD-96BB-896A9244B391}"/>
              </a:ext>
            </a:extLst>
          </p:cNvPr>
          <p:cNvSpPr/>
          <p:nvPr/>
        </p:nvSpPr>
        <p:spPr>
          <a:xfrm>
            <a:off x="5508272" y="4244113"/>
            <a:ext cx="598810" cy="1489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a:t>PlayAsync</a:t>
            </a:r>
            <a:r>
              <a:rPr lang="en-US" sz="900" dirty="0"/>
              <a:t>()</a:t>
            </a:r>
          </a:p>
        </p:txBody>
      </p:sp>
      <p:cxnSp>
        <p:nvCxnSpPr>
          <p:cNvPr id="27" name="Straight Arrow Connector 26">
            <a:extLst>
              <a:ext uri="{FF2B5EF4-FFF2-40B4-BE49-F238E27FC236}">
                <a16:creationId xmlns:a16="http://schemas.microsoft.com/office/drawing/2014/main" id="{CC16B335-165E-2652-7A9B-249FB37B0B40}"/>
              </a:ext>
            </a:extLst>
          </p:cNvPr>
          <p:cNvCxnSpPr>
            <a:cxnSpLocks/>
            <a:stCxn id="20" idx="3"/>
            <a:endCxn id="9" idx="2"/>
          </p:cNvCxnSpPr>
          <p:nvPr/>
        </p:nvCxnSpPr>
        <p:spPr>
          <a:xfrm flipV="1">
            <a:off x="6242140" y="3506724"/>
            <a:ext cx="941178" cy="9155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4D62BA6-F6D8-15F6-1110-48E45E1C380F}"/>
              </a:ext>
            </a:extLst>
          </p:cNvPr>
          <p:cNvSpPr/>
          <p:nvPr/>
        </p:nvSpPr>
        <p:spPr>
          <a:xfrm>
            <a:off x="6655312" y="3885706"/>
            <a:ext cx="2096847" cy="4362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4. </a:t>
            </a:r>
            <a:r>
              <a:rPr lang="en-US" sz="900" dirty="0" err="1">
                <a:solidFill>
                  <a:schemeClr val="tx1"/>
                </a:solidFill>
              </a:rPr>
              <a:t>GameService</a:t>
            </a:r>
            <a:r>
              <a:rPr lang="en-US" sz="900" dirty="0">
                <a:solidFill>
                  <a:schemeClr val="tx1"/>
                </a:solidFill>
              </a:rPr>
              <a:t> creates a Core game and provides it to a new </a:t>
            </a:r>
            <a:r>
              <a:rPr lang="en-US" sz="900" dirty="0" err="1">
                <a:solidFill>
                  <a:schemeClr val="tx1"/>
                </a:solidFill>
              </a:rPr>
              <a:t>SignalRHub</a:t>
            </a:r>
            <a:r>
              <a:rPr lang="en-US" sz="900" dirty="0">
                <a:solidFill>
                  <a:schemeClr val="tx1"/>
                </a:solidFill>
              </a:rPr>
              <a:t> object to communicate with the client</a:t>
            </a:r>
          </a:p>
        </p:txBody>
      </p:sp>
      <p:sp>
        <p:nvSpPr>
          <p:cNvPr id="32" name="Rectangle 31">
            <a:extLst>
              <a:ext uri="{FF2B5EF4-FFF2-40B4-BE49-F238E27FC236}">
                <a16:creationId xmlns:a16="http://schemas.microsoft.com/office/drawing/2014/main" id="{2BC8FD4E-0174-C6A6-97BE-DB5A3FBF5E23}"/>
              </a:ext>
            </a:extLst>
          </p:cNvPr>
          <p:cNvSpPr/>
          <p:nvPr/>
        </p:nvSpPr>
        <p:spPr>
          <a:xfrm>
            <a:off x="7257827" y="3606082"/>
            <a:ext cx="355088" cy="2786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a:t>Core</a:t>
            </a:r>
          </a:p>
        </p:txBody>
      </p:sp>
      <p:cxnSp>
        <p:nvCxnSpPr>
          <p:cNvPr id="35" name="Straight Arrow Connector 34">
            <a:extLst>
              <a:ext uri="{FF2B5EF4-FFF2-40B4-BE49-F238E27FC236}">
                <a16:creationId xmlns:a16="http://schemas.microsoft.com/office/drawing/2014/main" id="{02BF26EC-F4CC-6675-606A-1ABCEBEB9B9D}"/>
              </a:ext>
            </a:extLst>
          </p:cNvPr>
          <p:cNvCxnSpPr>
            <a:stCxn id="9" idx="0"/>
            <a:endCxn id="6" idx="2"/>
          </p:cNvCxnSpPr>
          <p:nvPr/>
        </p:nvCxnSpPr>
        <p:spPr>
          <a:xfrm flipH="1" flipV="1">
            <a:off x="7167665" y="2410346"/>
            <a:ext cx="15653" cy="780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2240882-EB3A-6589-E612-18B22B3E7F4B}"/>
              </a:ext>
            </a:extLst>
          </p:cNvPr>
          <p:cNvSpPr/>
          <p:nvPr/>
        </p:nvSpPr>
        <p:spPr>
          <a:xfrm>
            <a:off x="7257827" y="2609564"/>
            <a:ext cx="2096847" cy="43629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900" dirty="0">
                <a:solidFill>
                  <a:schemeClr val="tx1"/>
                </a:solidFill>
              </a:rPr>
              <a:t>5. The </a:t>
            </a:r>
            <a:r>
              <a:rPr lang="en-US" sz="900" dirty="0" err="1">
                <a:solidFill>
                  <a:schemeClr val="tx1"/>
                </a:solidFill>
              </a:rPr>
              <a:t>SignalRHub</a:t>
            </a:r>
            <a:r>
              <a:rPr lang="en-US" sz="900" dirty="0">
                <a:solidFill>
                  <a:schemeClr val="tx1"/>
                </a:solidFill>
              </a:rPr>
              <a:t> sends game communication to the </a:t>
            </a:r>
            <a:r>
              <a:rPr lang="en-US" sz="900" dirty="0" err="1">
                <a:solidFill>
                  <a:schemeClr val="tx1"/>
                </a:solidFill>
              </a:rPr>
              <a:t>HTMLConsole</a:t>
            </a:r>
            <a:r>
              <a:rPr lang="en-US" sz="900" dirty="0">
                <a:solidFill>
                  <a:schemeClr val="tx1"/>
                </a:solidFill>
              </a:rPr>
              <a:t> module</a:t>
            </a:r>
          </a:p>
        </p:txBody>
      </p:sp>
    </p:spTree>
    <p:extLst>
      <p:ext uri="{BB962C8B-B14F-4D97-AF65-F5344CB8AC3E}">
        <p14:creationId xmlns:p14="http://schemas.microsoft.com/office/powerpoint/2010/main" val="724311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E1D03-5709-E0F0-EEED-F6E19EA55AC2}"/>
              </a:ext>
            </a:extLst>
          </p:cNvPr>
          <p:cNvSpPr>
            <a:spLocks noGrp="1"/>
          </p:cNvSpPr>
          <p:nvPr>
            <p:ph type="title"/>
          </p:nvPr>
        </p:nvSpPr>
        <p:spPr/>
        <p:txBody>
          <a:bodyPr/>
          <a:lstStyle/>
          <a:p>
            <a:r>
              <a:rPr lang="en-US" dirty="0"/>
              <a:t>Core Framework</a:t>
            </a:r>
          </a:p>
        </p:txBody>
      </p:sp>
      <p:sp>
        <p:nvSpPr>
          <p:cNvPr id="3" name="Content Placeholder 2">
            <a:extLst>
              <a:ext uri="{FF2B5EF4-FFF2-40B4-BE49-F238E27FC236}">
                <a16:creationId xmlns:a16="http://schemas.microsoft.com/office/drawing/2014/main" id="{4272E5F5-36DE-F79F-510C-761D2E8F58C2}"/>
              </a:ext>
            </a:extLst>
          </p:cNvPr>
          <p:cNvSpPr>
            <a:spLocks noGrp="1"/>
          </p:cNvSpPr>
          <p:nvPr>
            <p:ph idx="1"/>
          </p:nvPr>
        </p:nvSpPr>
        <p:spPr/>
        <p:txBody>
          <a:bodyPr/>
          <a:lstStyle/>
          <a:p>
            <a:pPr marL="0" indent="0">
              <a:buNone/>
            </a:pPr>
            <a:r>
              <a:rPr lang="en-US" dirty="0" err="1"/>
              <a:t>AngbandOS</a:t>
            </a:r>
            <a:r>
              <a:rPr lang="en-US" dirty="0"/>
              <a:t> is designed to be configurable.  To accommodate this, </a:t>
            </a:r>
            <a:r>
              <a:rPr lang="en-US" dirty="0" err="1"/>
              <a:t>AngbandOS</a:t>
            </a:r>
            <a:r>
              <a:rPr lang="en-US" dirty="0"/>
              <a:t> is only a core framework and does not have any details on any specific game—not even vanilla </a:t>
            </a:r>
            <a:r>
              <a:rPr lang="en-US" dirty="0" err="1"/>
              <a:t>Angband</a:t>
            </a:r>
            <a:r>
              <a:rPr lang="en-US" dirty="0"/>
              <a:t>.  This core framework is built into the </a:t>
            </a:r>
            <a:r>
              <a:rPr lang="en-US" dirty="0" err="1"/>
              <a:t>AngbandOS.Core</a:t>
            </a:r>
            <a:r>
              <a:rPr lang="en-US" dirty="0"/>
              <a:t> library. </a:t>
            </a:r>
          </a:p>
        </p:txBody>
      </p:sp>
    </p:spTree>
    <p:extLst>
      <p:ext uri="{BB962C8B-B14F-4D97-AF65-F5344CB8AC3E}">
        <p14:creationId xmlns:p14="http://schemas.microsoft.com/office/powerpoint/2010/main" val="537109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2C17-C4AA-AF4A-91F3-BC5C1B92E087}"/>
              </a:ext>
            </a:extLst>
          </p:cNvPr>
          <p:cNvSpPr>
            <a:spLocks noGrp="1"/>
          </p:cNvSpPr>
          <p:nvPr>
            <p:ph type="title"/>
          </p:nvPr>
        </p:nvSpPr>
        <p:spPr/>
        <p:txBody>
          <a:bodyPr/>
          <a:lstStyle/>
          <a:p>
            <a:r>
              <a:rPr lang="en-US" dirty="0"/>
              <a:t>Declarative Configuration</a:t>
            </a:r>
          </a:p>
        </p:txBody>
      </p:sp>
      <p:sp>
        <p:nvSpPr>
          <p:cNvPr id="3" name="Content Placeholder 2">
            <a:extLst>
              <a:ext uri="{FF2B5EF4-FFF2-40B4-BE49-F238E27FC236}">
                <a16:creationId xmlns:a16="http://schemas.microsoft.com/office/drawing/2014/main" id="{E502426F-3649-1C09-0E73-4F9702D120A4}"/>
              </a:ext>
            </a:extLst>
          </p:cNvPr>
          <p:cNvSpPr>
            <a:spLocks noGrp="1"/>
          </p:cNvSpPr>
          <p:nvPr>
            <p:ph idx="1"/>
          </p:nvPr>
        </p:nvSpPr>
        <p:spPr/>
        <p:txBody>
          <a:bodyPr/>
          <a:lstStyle/>
          <a:p>
            <a:pPr marL="0" indent="0">
              <a:buNone/>
            </a:pPr>
            <a:r>
              <a:rPr lang="en-US" dirty="0"/>
              <a:t>One of the primary goals of </a:t>
            </a:r>
            <a:r>
              <a:rPr lang="en-US" dirty="0" err="1"/>
              <a:t>AngbandOS</a:t>
            </a:r>
            <a:r>
              <a:rPr lang="en-US" dirty="0"/>
              <a:t> was to allow non-developers to create their own games.  To accommodate this, the configuration for </a:t>
            </a:r>
            <a:r>
              <a:rPr lang="en-US" dirty="0" err="1"/>
              <a:t>AngbandOS</a:t>
            </a:r>
            <a:r>
              <a:rPr lang="en-US" dirty="0"/>
              <a:t> games was designed to be declarative.  This allows the game configurations to be serialized.  Serialized configurations can be easily stored in files and/or databases.  The term declarative means that the configuration files only contain values and not C# code or "scripting"—since code/scripts cannot be serialized.</a:t>
            </a:r>
          </a:p>
        </p:txBody>
      </p:sp>
    </p:spTree>
    <p:extLst>
      <p:ext uri="{BB962C8B-B14F-4D97-AF65-F5344CB8AC3E}">
        <p14:creationId xmlns:p14="http://schemas.microsoft.com/office/powerpoint/2010/main" val="961199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2505-0F82-1B02-FCB2-9DF078B5DBBE}"/>
              </a:ext>
            </a:extLst>
          </p:cNvPr>
          <p:cNvSpPr>
            <a:spLocks noGrp="1"/>
          </p:cNvSpPr>
          <p:nvPr>
            <p:ph type="title"/>
          </p:nvPr>
        </p:nvSpPr>
        <p:spPr/>
        <p:txBody>
          <a:bodyPr/>
          <a:lstStyle/>
          <a:p>
            <a:r>
              <a:rPr lang="en-US" dirty="0"/>
              <a:t>Game Packs vs Generics</a:t>
            </a:r>
          </a:p>
        </p:txBody>
      </p:sp>
      <p:sp>
        <p:nvSpPr>
          <p:cNvPr id="3" name="Content Placeholder 2">
            <a:extLst>
              <a:ext uri="{FF2B5EF4-FFF2-40B4-BE49-F238E27FC236}">
                <a16:creationId xmlns:a16="http://schemas.microsoft.com/office/drawing/2014/main" id="{F8B83005-38C2-E822-00E6-355048DD0159}"/>
              </a:ext>
            </a:extLst>
          </p:cNvPr>
          <p:cNvSpPr>
            <a:spLocks noGrp="1"/>
          </p:cNvSpPr>
          <p:nvPr>
            <p:ph idx="1"/>
          </p:nvPr>
        </p:nvSpPr>
        <p:spPr/>
        <p:txBody>
          <a:bodyPr>
            <a:normAutofit fontScale="92500"/>
          </a:bodyPr>
          <a:lstStyle/>
          <a:p>
            <a:pPr marL="0" indent="0">
              <a:buNone/>
            </a:pPr>
            <a:r>
              <a:rPr lang="en-US" dirty="0" err="1"/>
              <a:t>AngbandOS</a:t>
            </a:r>
            <a:r>
              <a:rPr lang="en-US" dirty="0"/>
              <a:t> supports two types of declarative configuration designs:</a:t>
            </a:r>
          </a:p>
          <a:p>
            <a:pPr marL="514350" indent="-514350">
              <a:buFont typeface="+mj-lt"/>
              <a:buAutoNum type="arabicPeriod"/>
            </a:pPr>
            <a:r>
              <a:rPr lang="en-US" dirty="0" err="1"/>
              <a:t>GamePacks</a:t>
            </a:r>
            <a:r>
              <a:rPr lang="en-US" dirty="0"/>
              <a:t> – </a:t>
            </a:r>
            <a:r>
              <a:rPr lang="en-US" dirty="0" err="1"/>
              <a:t>GamePack</a:t>
            </a:r>
            <a:r>
              <a:rPr lang="en-US" dirty="0"/>
              <a:t> configuration files and assemblies are .</a:t>
            </a:r>
            <a:r>
              <a:rPr lang="en-US" dirty="0" err="1"/>
              <a:t>dll</a:t>
            </a:r>
            <a:r>
              <a:rPr lang="en-US" dirty="0"/>
              <a:t> files that contain classes that define the game.  This allows games to be packages into libraries.  A typical </a:t>
            </a:r>
            <a:r>
              <a:rPr lang="en-US" dirty="0" err="1"/>
              <a:t>GamePack</a:t>
            </a:r>
            <a:r>
              <a:rPr lang="en-US" dirty="0"/>
              <a:t> configuration is a class that inherits from an API class and provides values for the properties.  API class properties are always </a:t>
            </a:r>
            <a:r>
              <a:rPr lang="en-US" dirty="0" err="1"/>
              <a:t>readonly</a:t>
            </a:r>
            <a:r>
              <a:rPr lang="en-US" dirty="0"/>
              <a:t> (e.g. { get; }).</a:t>
            </a:r>
          </a:p>
          <a:p>
            <a:pPr marL="514350" indent="-514350">
              <a:buFont typeface="+mj-lt"/>
              <a:buAutoNum type="arabicPeriod"/>
            </a:pPr>
            <a:r>
              <a:rPr lang="en-US" dirty="0"/>
              <a:t>Generics – </a:t>
            </a:r>
            <a:r>
              <a:rPr lang="en-US" dirty="0" err="1"/>
              <a:t>AngbandOS</a:t>
            </a:r>
            <a:r>
              <a:rPr lang="en-US" dirty="0"/>
              <a:t> comes with a generic for each and every API class.  This generic uses variables to provide the values for every API class property.  Generics also accept a deserialized configuration that load the values that are presented to the API class.</a:t>
            </a:r>
          </a:p>
        </p:txBody>
      </p:sp>
    </p:spTree>
    <p:extLst>
      <p:ext uri="{BB962C8B-B14F-4D97-AF65-F5344CB8AC3E}">
        <p14:creationId xmlns:p14="http://schemas.microsoft.com/office/powerpoint/2010/main" val="2856065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2608A-5A0D-CBAB-8D31-35E89B1865C2}"/>
              </a:ext>
            </a:extLst>
          </p:cNvPr>
          <p:cNvSpPr>
            <a:spLocks noGrp="1"/>
          </p:cNvSpPr>
          <p:nvPr>
            <p:ph type="title"/>
          </p:nvPr>
        </p:nvSpPr>
        <p:spPr/>
        <p:txBody>
          <a:bodyPr/>
          <a:lstStyle/>
          <a:p>
            <a:r>
              <a:rPr lang="en-US" dirty="0"/>
              <a:t>Configuration Objects</a:t>
            </a:r>
          </a:p>
        </p:txBody>
      </p:sp>
      <p:sp>
        <p:nvSpPr>
          <p:cNvPr id="3" name="Content Placeholder 2">
            <a:extLst>
              <a:ext uri="{FF2B5EF4-FFF2-40B4-BE49-F238E27FC236}">
                <a16:creationId xmlns:a16="http://schemas.microsoft.com/office/drawing/2014/main" id="{5D4448FB-9A38-EEBC-A765-CADDF78F3605}"/>
              </a:ext>
            </a:extLst>
          </p:cNvPr>
          <p:cNvSpPr>
            <a:spLocks noGrp="1"/>
          </p:cNvSpPr>
          <p:nvPr>
            <p:ph idx="1"/>
          </p:nvPr>
        </p:nvSpPr>
        <p:spPr/>
        <p:txBody>
          <a:bodyPr/>
          <a:lstStyle/>
          <a:p>
            <a:pPr marL="0" indent="0">
              <a:buNone/>
            </a:pPr>
            <a:r>
              <a:rPr lang="en-US" dirty="0" err="1"/>
              <a:t>AngbandOS</a:t>
            </a:r>
            <a:r>
              <a:rPr lang="en-US" dirty="0"/>
              <a:t> uses configuration objects that represent how the game will be played.  Configuration files always represent singletons.  </a:t>
            </a:r>
            <a:r>
              <a:rPr lang="en-US" dirty="0" err="1"/>
              <a:t>AngbandOS</a:t>
            </a:r>
            <a:r>
              <a:rPr lang="en-US" dirty="0"/>
              <a:t> stores all singletons in an object called </a:t>
            </a:r>
            <a:r>
              <a:rPr lang="en-US" dirty="0" err="1"/>
              <a:t>SingletonRepository</a:t>
            </a:r>
            <a:r>
              <a:rPr lang="en-US" dirty="0"/>
              <a:t>.  The </a:t>
            </a:r>
            <a:r>
              <a:rPr lang="en-US" dirty="0" err="1"/>
              <a:t>SingletonRepository</a:t>
            </a:r>
            <a:r>
              <a:rPr lang="en-US" dirty="0"/>
              <a:t> is responsible for storing and supporting all of the singletons.  Singleton support consists of loading and binding each and every singleton.</a:t>
            </a:r>
          </a:p>
        </p:txBody>
      </p:sp>
    </p:spTree>
    <p:extLst>
      <p:ext uri="{BB962C8B-B14F-4D97-AF65-F5344CB8AC3E}">
        <p14:creationId xmlns:p14="http://schemas.microsoft.com/office/powerpoint/2010/main" val="1786906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5B537-F7E2-16DC-19E4-287533C512F5}"/>
              </a:ext>
            </a:extLst>
          </p:cNvPr>
          <p:cNvSpPr>
            <a:spLocks noGrp="1"/>
          </p:cNvSpPr>
          <p:nvPr>
            <p:ph type="title"/>
          </p:nvPr>
        </p:nvSpPr>
        <p:spPr/>
        <p:txBody>
          <a:bodyPr/>
          <a:lstStyle/>
          <a:p>
            <a:r>
              <a:rPr lang="en-US" dirty="0"/>
              <a:t>Singletons Load and Bind Description</a:t>
            </a:r>
          </a:p>
        </p:txBody>
      </p:sp>
      <p:sp>
        <p:nvSpPr>
          <p:cNvPr id="3" name="Content Placeholder 2">
            <a:extLst>
              <a:ext uri="{FF2B5EF4-FFF2-40B4-BE49-F238E27FC236}">
                <a16:creationId xmlns:a16="http://schemas.microsoft.com/office/drawing/2014/main" id="{432F7811-92F1-52A2-5A95-28A4F294D5D5}"/>
              </a:ext>
            </a:extLst>
          </p:cNvPr>
          <p:cNvSpPr>
            <a:spLocks noGrp="1"/>
          </p:cNvSpPr>
          <p:nvPr>
            <p:ph idx="1"/>
          </p:nvPr>
        </p:nvSpPr>
        <p:spPr/>
        <p:txBody>
          <a:bodyPr/>
          <a:lstStyle/>
          <a:p>
            <a:pPr marL="0" indent="0">
              <a:buNone/>
            </a:pPr>
            <a:r>
              <a:rPr lang="en-US" dirty="0" err="1"/>
              <a:t>AngbandOS</a:t>
            </a:r>
            <a:r>
              <a:rPr lang="en-US" dirty="0"/>
              <a:t> tries to minimize object lookup during game-time.  This is to maximize performance.  It also helps to ensure there are no run-time errors.  It expects configuration objects that reference other configuration objects to resolve the binding during the bind phase.</a:t>
            </a:r>
          </a:p>
          <a:p>
            <a:pPr marL="0" indent="0">
              <a:buNone/>
            </a:pPr>
            <a:endParaRPr lang="en-US" dirty="0"/>
          </a:p>
          <a:p>
            <a:pPr marL="0" indent="0">
              <a:buNone/>
            </a:pPr>
            <a:r>
              <a:rPr lang="en-US" dirty="0" err="1"/>
              <a:t>AngbandOS</a:t>
            </a:r>
            <a:r>
              <a:rPr lang="en-US" dirty="0"/>
              <a:t> performs a 2-phase, load and bind lifecycle algorithm for this process.</a:t>
            </a:r>
          </a:p>
        </p:txBody>
      </p:sp>
    </p:spTree>
    <p:extLst>
      <p:ext uri="{BB962C8B-B14F-4D97-AF65-F5344CB8AC3E}">
        <p14:creationId xmlns:p14="http://schemas.microsoft.com/office/powerpoint/2010/main" val="3219467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CFB1-651D-D3CD-FA3A-664681693D0A}"/>
              </a:ext>
            </a:extLst>
          </p:cNvPr>
          <p:cNvSpPr>
            <a:spLocks noGrp="1"/>
          </p:cNvSpPr>
          <p:nvPr>
            <p:ph type="title"/>
          </p:nvPr>
        </p:nvSpPr>
        <p:spPr/>
        <p:txBody>
          <a:bodyPr/>
          <a:lstStyle/>
          <a:p>
            <a:r>
              <a:rPr lang="en-US" dirty="0"/>
              <a:t>Singletons Load and Bind Algorithm</a:t>
            </a:r>
          </a:p>
        </p:txBody>
      </p:sp>
      <p:sp>
        <p:nvSpPr>
          <p:cNvPr id="3" name="Content Placeholder 2">
            <a:extLst>
              <a:ext uri="{FF2B5EF4-FFF2-40B4-BE49-F238E27FC236}">
                <a16:creationId xmlns:a16="http://schemas.microsoft.com/office/drawing/2014/main" id="{09DDC179-0802-67C4-4878-E538663AEAA7}"/>
              </a:ext>
            </a:extLst>
          </p:cNvPr>
          <p:cNvSpPr>
            <a:spLocks noGrp="1"/>
          </p:cNvSpPr>
          <p:nvPr>
            <p:ph idx="1"/>
          </p:nvPr>
        </p:nvSpPr>
        <p:spPr/>
        <p:txBody>
          <a:bodyPr>
            <a:normAutofit fontScale="77500" lnSpcReduction="20000"/>
          </a:bodyPr>
          <a:lstStyle/>
          <a:p>
            <a:pPr marL="0" indent="0">
              <a:buNone/>
            </a:pPr>
            <a:r>
              <a:rPr lang="en-US" dirty="0" err="1"/>
              <a:t>AngbandOS</a:t>
            </a:r>
            <a:r>
              <a:rPr lang="en-US" dirty="0"/>
              <a:t> uses two phases to perform the loading and binding of singletons.  This two-phase approach allows singletons to binding to other singletons without the risk of run-time errors attempting to bind to a singleton that wasn't loaded.</a:t>
            </a:r>
          </a:p>
          <a:p>
            <a:pPr marL="0" indent="0">
              <a:buNone/>
            </a:pPr>
            <a:r>
              <a:rPr lang="en-US" dirty="0"/>
              <a:t>The load phase is responsible for gathering all of the singleton objects and tracking the capabilities of each singleton object.  Manifests (implemented using C# dictionaries) are used to track each singleton against each capability (C# interface and class).</a:t>
            </a:r>
          </a:p>
          <a:p>
            <a:pPr marL="0" indent="0">
              <a:buNone/>
            </a:pPr>
            <a:r>
              <a:rPr lang="en-US" dirty="0"/>
              <a:t>Once all singletons are loaded, no additional singletons will be introduced and the </a:t>
            </a:r>
            <a:r>
              <a:rPr lang="en-US" dirty="0" err="1"/>
              <a:t>SingletonRepository</a:t>
            </a:r>
            <a:r>
              <a:rPr lang="en-US" dirty="0"/>
              <a:t> will allow each and every singleton to bind once and only once.</a:t>
            </a:r>
          </a:p>
          <a:p>
            <a:pPr marL="0" indent="0">
              <a:buNone/>
            </a:pPr>
            <a:r>
              <a:rPr lang="en-US" dirty="0"/>
              <a:t>During the binding for each singleton, the singleton can request the reference for another singleton from the </a:t>
            </a:r>
            <a:r>
              <a:rPr lang="en-US" dirty="0" err="1"/>
              <a:t>SingletonRepository</a:t>
            </a:r>
            <a:r>
              <a:rPr lang="en-US" dirty="0"/>
              <a:t> through the Get method.  To support this binding, singletons only have the names of the other singletons they need to bind to, not actual references.  The </a:t>
            </a:r>
            <a:r>
              <a:rPr lang="en-US" dirty="0" err="1"/>
              <a:t>SingletonRepository</a:t>
            </a:r>
            <a:r>
              <a:rPr lang="en-US" dirty="0"/>
              <a:t> Get method is used to convert the name into an actual reference.</a:t>
            </a:r>
          </a:p>
        </p:txBody>
      </p:sp>
    </p:spTree>
    <p:extLst>
      <p:ext uri="{BB962C8B-B14F-4D97-AF65-F5344CB8AC3E}">
        <p14:creationId xmlns:p14="http://schemas.microsoft.com/office/powerpoint/2010/main" val="9519199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671BA-BAB5-0683-BF5B-E1289F686DDB}"/>
              </a:ext>
            </a:extLst>
          </p:cNvPr>
          <p:cNvSpPr>
            <a:spLocks noGrp="1"/>
          </p:cNvSpPr>
          <p:nvPr>
            <p:ph type="title"/>
          </p:nvPr>
        </p:nvSpPr>
        <p:spPr/>
        <p:txBody>
          <a:bodyPr/>
          <a:lstStyle/>
          <a:p>
            <a:r>
              <a:rPr lang="en-US" dirty="0"/>
              <a:t>Singletons Load Phase</a:t>
            </a:r>
          </a:p>
        </p:txBody>
      </p:sp>
      <p:sp>
        <p:nvSpPr>
          <p:cNvPr id="3" name="Content Placeholder 2">
            <a:extLst>
              <a:ext uri="{FF2B5EF4-FFF2-40B4-BE49-F238E27FC236}">
                <a16:creationId xmlns:a16="http://schemas.microsoft.com/office/drawing/2014/main" id="{2082E75E-2534-FDD0-5D6B-DBF23ACE71E6}"/>
              </a:ext>
            </a:extLst>
          </p:cNvPr>
          <p:cNvSpPr>
            <a:spLocks noGrp="1"/>
          </p:cNvSpPr>
          <p:nvPr>
            <p:ph idx="1"/>
          </p:nvPr>
        </p:nvSpPr>
        <p:spPr/>
        <p:txBody>
          <a:bodyPr/>
          <a:lstStyle/>
          <a:p>
            <a:pPr marL="514350" indent="-514350">
              <a:buFont typeface="+mj-lt"/>
              <a:buAutoNum type="arabicPeriod"/>
            </a:pPr>
            <a:r>
              <a:rPr lang="en-US" dirty="0"/>
              <a:t>The Load process starts by registering manifests for the interfaces and classes that singletons can request for binding.  This is done through the use of the </a:t>
            </a:r>
            <a:r>
              <a:rPr lang="en-US" dirty="0" err="1"/>
              <a:t>RegisterRepository</a:t>
            </a:r>
            <a:r>
              <a:rPr lang="en-US" dirty="0"/>
              <a:t> method.</a:t>
            </a:r>
          </a:p>
          <a:p>
            <a:pPr marL="514350" indent="-514350">
              <a:buFont typeface="+mj-lt"/>
              <a:buAutoNum type="arabicPeriod"/>
            </a:pPr>
            <a:r>
              <a:rPr lang="en-US" dirty="0"/>
              <a:t>Singleton objects are loaded from game packs and generics.  This is done through the use of the </a:t>
            </a:r>
            <a:r>
              <a:rPr lang="en-US" dirty="0" err="1"/>
              <a:t>LoadFromConfiguration</a:t>
            </a:r>
            <a:r>
              <a:rPr lang="en-US" dirty="0"/>
              <a:t> and </a:t>
            </a:r>
            <a:r>
              <a:rPr lang="en-US" dirty="0" err="1"/>
              <a:t>LoadAllAssemblyTypes</a:t>
            </a:r>
            <a:r>
              <a:rPr lang="en-US" dirty="0"/>
              <a:t> methods for Generics and </a:t>
            </a:r>
            <a:r>
              <a:rPr lang="en-US" dirty="0" err="1"/>
              <a:t>GamePacks</a:t>
            </a:r>
            <a:r>
              <a:rPr lang="en-US" dirty="0"/>
              <a:t> respectively).</a:t>
            </a:r>
          </a:p>
          <a:p>
            <a:pPr marL="0" indent="0">
              <a:buNone/>
            </a:pPr>
            <a:endParaRPr lang="en-US" dirty="0"/>
          </a:p>
        </p:txBody>
      </p:sp>
    </p:spTree>
    <p:extLst>
      <p:ext uri="{BB962C8B-B14F-4D97-AF65-F5344CB8AC3E}">
        <p14:creationId xmlns:p14="http://schemas.microsoft.com/office/powerpoint/2010/main" val="1949865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0EE1A-B478-ADF1-64E7-9A868D9E985F}"/>
              </a:ext>
            </a:extLst>
          </p:cNvPr>
          <p:cNvSpPr>
            <a:spLocks noGrp="1"/>
          </p:cNvSpPr>
          <p:nvPr>
            <p:ph type="title"/>
          </p:nvPr>
        </p:nvSpPr>
        <p:spPr/>
        <p:txBody>
          <a:bodyPr/>
          <a:lstStyle/>
          <a:p>
            <a:r>
              <a:rPr lang="en-US" dirty="0"/>
              <a:t>Singletons Bind Phase</a:t>
            </a:r>
          </a:p>
        </p:txBody>
      </p:sp>
      <p:sp>
        <p:nvSpPr>
          <p:cNvPr id="3" name="Content Placeholder 2">
            <a:extLst>
              <a:ext uri="{FF2B5EF4-FFF2-40B4-BE49-F238E27FC236}">
                <a16:creationId xmlns:a16="http://schemas.microsoft.com/office/drawing/2014/main" id="{FAC01961-8249-CC95-2641-99878D8F3FDE}"/>
              </a:ext>
            </a:extLst>
          </p:cNvPr>
          <p:cNvSpPr>
            <a:spLocks noGrp="1"/>
          </p:cNvSpPr>
          <p:nvPr>
            <p:ph idx="1"/>
          </p:nvPr>
        </p:nvSpPr>
        <p:spPr/>
        <p:txBody>
          <a:bodyPr/>
          <a:lstStyle/>
          <a:p>
            <a:pPr marL="0" indent="0">
              <a:buNone/>
            </a:pPr>
            <a:r>
              <a:rPr lang="en-US" dirty="0"/>
              <a:t>The bind phase is where the </a:t>
            </a:r>
            <a:r>
              <a:rPr lang="en-US" dirty="0" err="1"/>
              <a:t>SingletonRepository</a:t>
            </a:r>
            <a:r>
              <a:rPr lang="en-US" dirty="0"/>
              <a:t> calls the Bind method for each and every singleton.  Each API object is responsible for calling the </a:t>
            </a:r>
            <a:r>
              <a:rPr lang="en-US" dirty="0" err="1"/>
              <a:t>SingletonRepostory</a:t>
            </a:r>
            <a:r>
              <a:rPr lang="en-US" dirty="0"/>
              <a:t> Get method to convert a singleton key into a reference and store the reference in a "private set" property </a:t>
            </a:r>
            <a:r>
              <a:rPr lang="en-US"/>
              <a:t>for in-game use</a:t>
            </a:r>
            <a:r>
              <a:rPr lang="en-US" dirty="0"/>
              <a:t>.</a:t>
            </a:r>
          </a:p>
        </p:txBody>
      </p:sp>
    </p:spTree>
    <p:extLst>
      <p:ext uri="{BB962C8B-B14F-4D97-AF65-F5344CB8AC3E}">
        <p14:creationId xmlns:p14="http://schemas.microsoft.com/office/powerpoint/2010/main" val="1554571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9E31-6831-E6E5-DE8F-6340911A0AED}"/>
              </a:ext>
            </a:extLst>
          </p:cNvPr>
          <p:cNvSpPr>
            <a:spLocks noGrp="1"/>
          </p:cNvSpPr>
          <p:nvPr>
            <p:ph type="ctrTitle"/>
          </p:nvPr>
        </p:nvSpPr>
        <p:spPr/>
        <p:txBody>
          <a:bodyPr/>
          <a:lstStyle/>
          <a:p>
            <a:r>
              <a:rPr lang="en-US" dirty="0"/>
              <a:t>Object Property Design and Binding</a:t>
            </a:r>
          </a:p>
        </p:txBody>
      </p:sp>
      <p:sp>
        <p:nvSpPr>
          <p:cNvPr id="3" name="Subtitle 2">
            <a:extLst>
              <a:ext uri="{FF2B5EF4-FFF2-40B4-BE49-F238E27FC236}">
                <a16:creationId xmlns:a16="http://schemas.microsoft.com/office/drawing/2014/main" id="{1120AFE6-DBF9-8B48-83D5-0067B8FAEA43}"/>
              </a:ext>
            </a:extLst>
          </p:cNvPr>
          <p:cNvSpPr>
            <a:spLocks noGrp="1"/>
          </p:cNvSpPr>
          <p:nvPr>
            <p:ph type="subTitle" idx="1"/>
          </p:nvPr>
        </p:nvSpPr>
        <p:spPr/>
        <p:txBody>
          <a:bodyPr/>
          <a:lstStyle/>
          <a:p>
            <a:r>
              <a:rPr lang="en-US" dirty="0"/>
              <a:t>This document identifies the standards for designing and building API objects.</a:t>
            </a:r>
          </a:p>
        </p:txBody>
      </p:sp>
    </p:spTree>
    <p:extLst>
      <p:ext uri="{BB962C8B-B14F-4D97-AF65-F5344CB8AC3E}">
        <p14:creationId xmlns:p14="http://schemas.microsoft.com/office/powerpoint/2010/main" val="30859372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A9C98-BEFB-201E-5222-B454BFD9FE7B}"/>
              </a:ext>
            </a:extLst>
          </p:cNvPr>
          <p:cNvSpPr>
            <a:spLocks noGrp="1"/>
          </p:cNvSpPr>
          <p:nvPr>
            <p:ph type="title"/>
          </p:nvPr>
        </p:nvSpPr>
        <p:spPr/>
        <p:txBody>
          <a:bodyPr/>
          <a:lstStyle/>
          <a:p>
            <a:r>
              <a:rPr lang="en-US" dirty="0"/>
              <a:t>Core API Class Diagram</a:t>
            </a:r>
          </a:p>
        </p:txBody>
      </p:sp>
      <p:sp>
        <p:nvSpPr>
          <p:cNvPr id="4" name="TextBox 3">
            <a:extLst>
              <a:ext uri="{FF2B5EF4-FFF2-40B4-BE49-F238E27FC236}">
                <a16:creationId xmlns:a16="http://schemas.microsoft.com/office/drawing/2014/main" id="{22F9EC1E-F884-7394-AF01-F09EB01CC299}"/>
              </a:ext>
            </a:extLst>
          </p:cNvPr>
          <p:cNvSpPr txBox="1"/>
          <p:nvPr/>
        </p:nvSpPr>
        <p:spPr>
          <a:xfrm>
            <a:off x="596347" y="2670850"/>
            <a:ext cx="1840396" cy="369332"/>
          </a:xfrm>
          <a:prstGeom prst="rect">
            <a:avLst/>
          </a:prstGeom>
          <a:noFill/>
          <a:ln>
            <a:solidFill>
              <a:schemeClr val="accent1"/>
            </a:solidFill>
          </a:ln>
        </p:spPr>
        <p:txBody>
          <a:bodyPr wrap="square" rtlCol="0">
            <a:spAutoFit/>
          </a:bodyPr>
          <a:lstStyle/>
          <a:p>
            <a:r>
              <a:rPr lang="en-US" dirty="0"/>
              <a:t>API Object</a:t>
            </a:r>
          </a:p>
        </p:txBody>
      </p:sp>
      <p:sp>
        <p:nvSpPr>
          <p:cNvPr id="5" name="TextBox 4">
            <a:extLst>
              <a:ext uri="{FF2B5EF4-FFF2-40B4-BE49-F238E27FC236}">
                <a16:creationId xmlns:a16="http://schemas.microsoft.com/office/drawing/2014/main" id="{1D053073-21BF-0ADB-A23A-853398CAFC42}"/>
              </a:ext>
            </a:extLst>
          </p:cNvPr>
          <p:cNvSpPr txBox="1"/>
          <p:nvPr/>
        </p:nvSpPr>
        <p:spPr>
          <a:xfrm>
            <a:off x="3690612" y="2120557"/>
            <a:ext cx="2317474" cy="369332"/>
          </a:xfrm>
          <a:prstGeom prst="rect">
            <a:avLst/>
          </a:prstGeom>
          <a:noFill/>
          <a:ln>
            <a:solidFill>
              <a:schemeClr val="accent1"/>
            </a:solidFill>
          </a:ln>
        </p:spPr>
        <p:txBody>
          <a:bodyPr wrap="square" rtlCol="0">
            <a:spAutoFit/>
          </a:bodyPr>
          <a:lstStyle/>
          <a:p>
            <a:r>
              <a:rPr lang="en-US" dirty="0"/>
              <a:t>Generic API Object 1</a:t>
            </a:r>
          </a:p>
        </p:txBody>
      </p:sp>
      <p:sp>
        <p:nvSpPr>
          <p:cNvPr id="6" name="TextBox 5">
            <a:extLst>
              <a:ext uri="{FF2B5EF4-FFF2-40B4-BE49-F238E27FC236}">
                <a16:creationId xmlns:a16="http://schemas.microsoft.com/office/drawing/2014/main" id="{FDB7B500-7766-6D4D-ABDE-5E81306E2D5D}"/>
              </a:ext>
            </a:extLst>
          </p:cNvPr>
          <p:cNvSpPr txBox="1"/>
          <p:nvPr/>
        </p:nvSpPr>
        <p:spPr>
          <a:xfrm>
            <a:off x="3690612" y="2670850"/>
            <a:ext cx="2317474" cy="369332"/>
          </a:xfrm>
          <a:prstGeom prst="rect">
            <a:avLst/>
          </a:prstGeom>
          <a:noFill/>
          <a:ln>
            <a:solidFill>
              <a:schemeClr val="accent1"/>
            </a:solidFill>
          </a:ln>
        </p:spPr>
        <p:txBody>
          <a:bodyPr wrap="square" rtlCol="0">
            <a:spAutoFit/>
          </a:bodyPr>
          <a:lstStyle/>
          <a:p>
            <a:r>
              <a:rPr lang="en-US" dirty="0"/>
              <a:t>Generic API Object 2</a:t>
            </a:r>
          </a:p>
        </p:txBody>
      </p:sp>
      <p:sp>
        <p:nvSpPr>
          <p:cNvPr id="7" name="TextBox 6">
            <a:extLst>
              <a:ext uri="{FF2B5EF4-FFF2-40B4-BE49-F238E27FC236}">
                <a16:creationId xmlns:a16="http://schemas.microsoft.com/office/drawing/2014/main" id="{0470E547-B5C2-BF26-70F6-B539CD48BA04}"/>
              </a:ext>
            </a:extLst>
          </p:cNvPr>
          <p:cNvSpPr txBox="1"/>
          <p:nvPr/>
        </p:nvSpPr>
        <p:spPr>
          <a:xfrm>
            <a:off x="3690612" y="3770833"/>
            <a:ext cx="2665581" cy="369332"/>
          </a:xfrm>
          <a:prstGeom prst="rect">
            <a:avLst/>
          </a:prstGeom>
          <a:noFill/>
          <a:ln>
            <a:solidFill>
              <a:schemeClr val="accent1"/>
            </a:solidFill>
          </a:ln>
        </p:spPr>
        <p:txBody>
          <a:bodyPr wrap="square" rtlCol="0">
            <a:spAutoFit/>
          </a:bodyPr>
          <a:lstStyle/>
          <a:p>
            <a:r>
              <a:rPr lang="en-US" dirty="0"/>
              <a:t>Game Pack API Object 1</a:t>
            </a:r>
          </a:p>
        </p:txBody>
      </p:sp>
      <p:sp>
        <p:nvSpPr>
          <p:cNvPr id="9" name="TextBox 8">
            <a:extLst>
              <a:ext uri="{FF2B5EF4-FFF2-40B4-BE49-F238E27FC236}">
                <a16:creationId xmlns:a16="http://schemas.microsoft.com/office/drawing/2014/main" id="{3DD2CA45-10AD-1B78-17CE-F8493529F3F1}"/>
              </a:ext>
            </a:extLst>
          </p:cNvPr>
          <p:cNvSpPr txBox="1"/>
          <p:nvPr/>
        </p:nvSpPr>
        <p:spPr>
          <a:xfrm>
            <a:off x="7232138" y="2120557"/>
            <a:ext cx="2199861" cy="369332"/>
          </a:xfrm>
          <a:prstGeom prst="rect">
            <a:avLst/>
          </a:prstGeom>
          <a:noFill/>
          <a:ln>
            <a:solidFill>
              <a:schemeClr val="accent1"/>
            </a:solidFill>
          </a:ln>
        </p:spPr>
        <p:txBody>
          <a:bodyPr wrap="square" rtlCol="0">
            <a:spAutoFit/>
          </a:bodyPr>
          <a:lstStyle/>
          <a:p>
            <a:r>
              <a:rPr lang="en-US" dirty="0" err="1"/>
              <a:t>GameConfiguration</a:t>
            </a:r>
            <a:endParaRPr lang="en-US" dirty="0"/>
          </a:p>
        </p:txBody>
      </p:sp>
      <p:cxnSp>
        <p:nvCxnSpPr>
          <p:cNvPr id="11" name="Straight Arrow Connector 10">
            <a:extLst>
              <a:ext uri="{FF2B5EF4-FFF2-40B4-BE49-F238E27FC236}">
                <a16:creationId xmlns:a16="http://schemas.microsoft.com/office/drawing/2014/main" id="{EC245C1E-9752-6C9D-EDEE-451F06600833}"/>
              </a:ext>
            </a:extLst>
          </p:cNvPr>
          <p:cNvCxnSpPr>
            <a:cxnSpLocks/>
            <a:stCxn id="9" idx="1"/>
            <a:endCxn id="5" idx="3"/>
          </p:cNvCxnSpPr>
          <p:nvPr/>
        </p:nvCxnSpPr>
        <p:spPr>
          <a:xfrm flipH="1">
            <a:off x="6008086" y="2305223"/>
            <a:ext cx="12240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C7E5D7AA-09C6-FD05-6DA5-D15EA8549A4F}"/>
              </a:ext>
            </a:extLst>
          </p:cNvPr>
          <p:cNvCxnSpPr>
            <a:cxnSpLocks/>
            <a:stCxn id="5" idx="1"/>
            <a:endCxn id="4" idx="3"/>
          </p:cNvCxnSpPr>
          <p:nvPr/>
        </p:nvCxnSpPr>
        <p:spPr>
          <a:xfrm flipH="1">
            <a:off x="2436743" y="2305223"/>
            <a:ext cx="1253869" cy="5502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30EB16C-F253-C821-8A8F-940F689BA981}"/>
              </a:ext>
            </a:extLst>
          </p:cNvPr>
          <p:cNvSpPr txBox="1"/>
          <p:nvPr/>
        </p:nvSpPr>
        <p:spPr>
          <a:xfrm>
            <a:off x="7232137" y="2670850"/>
            <a:ext cx="2199861" cy="369332"/>
          </a:xfrm>
          <a:prstGeom prst="rect">
            <a:avLst/>
          </a:prstGeom>
          <a:noFill/>
          <a:ln>
            <a:solidFill>
              <a:schemeClr val="accent1"/>
            </a:solidFill>
          </a:ln>
        </p:spPr>
        <p:txBody>
          <a:bodyPr wrap="square" rtlCol="0">
            <a:spAutoFit/>
          </a:bodyPr>
          <a:lstStyle/>
          <a:p>
            <a:r>
              <a:rPr lang="en-US" dirty="0" err="1"/>
              <a:t>GameConfiguration</a:t>
            </a:r>
            <a:endParaRPr lang="en-US" dirty="0"/>
          </a:p>
        </p:txBody>
      </p:sp>
      <p:cxnSp>
        <p:nvCxnSpPr>
          <p:cNvPr id="17" name="Straight Arrow Connector 16">
            <a:extLst>
              <a:ext uri="{FF2B5EF4-FFF2-40B4-BE49-F238E27FC236}">
                <a16:creationId xmlns:a16="http://schemas.microsoft.com/office/drawing/2014/main" id="{6C44E866-6074-99C5-CC7D-C1F2E8E9EE8F}"/>
              </a:ext>
            </a:extLst>
          </p:cNvPr>
          <p:cNvCxnSpPr>
            <a:cxnSpLocks/>
            <a:stCxn id="14" idx="1"/>
            <a:endCxn id="6" idx="3"/>
          </p:cNvCxnSpPr>
          <p:nvPr/>
        </p:nvCxnSpPr>
        <p:spPr>
          <a:xfrm flipH="1">
            <a:off x="6008086" y="2855516"/>
            <a:ext cx="12240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86931388-AD01-FD82-7E8B-7D5F7F6974DC}"/>
              </a:ext>
            </a:extLst>
          </p:cNvPr>
          <p:cNvCxnSpPr>
            <a:cxnSpLocks/>
            <a:stCxn id="6" idx="1"/>
            <a:endCxn id="4" idx="3"/>
          </p:cNvCxnSpPr>
          <p:nvPr/>
        </p:nvCxnSpPr>
        <p:spPr>
          <a:xfrm flipH="1">
            <a:off x="2436743" y="2855516"/>
            <a:ext cx="12538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1B8C80A-88AF-B9A6-713E-F188769B9C36}"/>
              </a:ext>
            </a:extLst>
          </p:cNvPr>
          <p:cNvCxnSpPr>
            <a:cxnSpLocks/>
            <a:stCxn id="7" idx="1"/>
            <a:endCxn id="4" idx="3"/>
          </p:cNvCxnSpPr>
          <p:nvPr/>
        </p:nvCxnSpPr>
        <p:spPr>
          <a:xfrm flipH="1" flipV="1">
            <a:off x="2436743" y="2855516"/>
            <a:ext cx="1253869" cy="10999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F20859CE-D828-0003-A604-EA3674F589A8}"/>
              </a:ext>
            </a:extLst>
          </p:cNvPr>
          <p:cNvSpPr txBox="1"/>
          <p:nvPr/>
        </p:nvSpPr>
        <p:spPr>
          <a:xfrm>
            <a:off x="596348" y="3835678"/>
            <a:ext cx="1840396" cy="646331"/>
          </a:xfrm>
          <a:prstGeom prst="rect">
            <a:avLst/>
          </a:prstGeom>
          <a:noFill/>
          <a:ln>
            <a:solidFill>
              <a:schemeClr val="accent1"/>
            </a:solidFill>
          </a:ln>
        </p:spPr>
        <p:txBody>
          <a:bodyPr wrap="square" rtlCol="0">
            <a:spAutoFit/>
          </a:bodyPr>
          <a:lstStyle/>
          <a:p>
            <a:r>
              <a:rPr lang="en-US" dirty="0"/>
              <a:t>API Base Object</a:t>
            </a:r>
            <a:br>
              <a:rPr lang="en-US" dirty="0"/>
            </a:br>
            <a:r>
              <a:rPr lang="en-US" dirty="0"/>
              <a:t>(optional)</a:t>
            </a:r>
          </a:p>
        </p:txBody>
      </p:sp>
      <p:cxnSp>
        <p:nvCxnSpPr>
          <p:cNvPr id="30" name="Straight Arrow Connector 29">
            <a:extLst>
              <a:ext uri="{FF2B5EF4-FFF2-40B4-BE49-F238E27FC236}">
                <a16:creationId xmlns:a16="http://schemas.microsoft.com/office/drawing/2014/main" id="{B4DDB048-1936-1081-1C9D-DABFAB2EB269}"/>
              </a:ext>
            </a:extLst>
          </p:cNvPr>
          <p:cNvCxnSpPr>
            <a:cxnSpLocks/>
            <a:stCxn id="28" idx="0"/>
            <a:endCxn id="4" idx="2"/>
          </p:cNvCxnSpPr>
          <p:nvPr/>
        </p:nvCxnSpPr>
        <p:spPr>
          <a:xfrm flipH="1" flipV="1">
            <a:off x="1516545" y="3040182"/>
            <a:ext cx="1" cy="795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3082C74-DDFE-BB79-27CB-99F35F673585}"/>
              </a:ext>
            </a:extLst>
          </p:cNvPr>
          <p:cNvSpPr/>
          <p:nvPr/>
        </p:nvSpPr>
        <p:spPr>
          <a:xfrm>
            <a:off x="9431998" y="2088437"/>
            <a:ext cx="1152796" cy="184664"/>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000" dirty="0">
                <a:solidFill>
                  <a:schemeClr val="tx1"/>
                </a:solidFill>
              </a:rPr>
              <a:t>Deserialization</a:t>
            </a:r>
          </a:p>
        </p:txBody>
      </p:sp>
      <p:sp>
        <p:nvSpPr>
          <p:cNvPr id="16" name="Rectangle 15">
            <a:extLst>
              <a:ext uri="{FF2B5EF4-FFF2-40B4-BE49-F238E27FC236}">
                <a16:creationId xmlns:a16="http://schemas.microsoft.com/office/drawing/2014/main" id="{A6BF0B90-8C55-7126-B20E-657EEAA28539}"/>
              </a:ext>
            </a:extLst>
          </p:cNvPr>
          <p:cNvSpPr/>
          <p:nvPr/>
        </p:nvSpPr>
        <p:spPr>
          <a:xfrm>
            <a:off x="3356941" y="3382023"/>
            <a:ext cx="6376437" cy="1004448"/>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Game Pack</a:t>
            </a:r>
          </a:p>
        </p:txBody>
      </p:sp>
      <p:sp>
        <p:nvSpPr>
          <p:cNvPr id="3" name="TextBox 2">
            <a:extLst>
              <a:ext uri="{FF2B5EF4-FFF2-40B4-BE49-F238E27FC236}">
                <a16:creationId xmlns:a16="http://schemas.microsoft.com/office/drawing/2014/main" id="{0FC7137B-C077-0676-7EF3-6E224346524A}"/>
              </a:ext>
            </a:extLst>
          </p:cNvPr>
          <p:cNvSpPr txBox="1"/>
          <p:nvPr/>
        </p:nvSpPr>
        <p:spPr>
          <a:xfrm>
            <a:off x="10584794" y="2120557"/>
            <a:ext cx="1482864" cy="369332"/>
          </a:xfrm>
          <a:prstGeom prst="rect">
            <a:avLst/>
          </a:prstGeom>
          <a:noFill/>
          <a:ln>
            <a:solidFill>
              <a:schemeClr val="accent1"/>
            </a:solidFill>
          </a:ln>
        </p:spPr>
        <p:txBody>
          <a:bodyPr wrap="square" rtlCol="0">
            <a:spAutoFit/>
          </a:bodyPr>
          <a:lstStyle/>
          <a:p>
            <a:r>
              <a:rPr lang="en-US" dirty="0"/>
              <a:t>{ </a:t>
            </a:r>
            <a:r>
              <a:rPr lang="en-US" dirty="0" err="1"/>
              <a:t>json</a:t>
            </a:r>
            <a:r>
              <a:rPr lang="en-US" dirty="0"/>
              <a:t> string }</a:t>
            </a:r>
          </a:p>
        </p:txBody>
      </p:sp>
      <p:cxnSp>
        <p:nvCxnSpPr>
          <p:cNvPr id="12" name="Straight Arrow Connector 11">
            <a:extLst>
              <a:ext uri="{FF2B5EF4-FFF2-40B4-BE49-F238E27FC236}">
                <a16:creationId xmlns:a16="http://schemas.microsoft.com/office/drawing/2014/main" id="{E06D1AE5-41FB-7480-3224-CDC7EE42A785}"/>
              </a:ext>
            </a:extLst>
          </p:cNvPr>
          <p:cNvCxnSpPr>
            <a:stCxn id="3" idx="1"/>
            <a:endCxn id="9" idx="3"/>
          </p:cNvCxnSpPr>
          <p:nvPr/>
        </p:nvCxnSpPr>
        <p:spPr>
          <a:xfrm flipH="1">
            <a:off x="9431999" y="2305223"/>
            <a:ext cx="1152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35740539-E2C0-1A41-BB3A-1701AD048419}"/>
              </a:ext>
            </a:extLst>
          </p:cNvPr>
          <p:cNvSpPr/>
          <p:nvPr/>
        </p:nvSpPr>
        <p:spPr>
          <a:xfrm>
            <a:off x="6079341" y="2076679"/>
            <a:ext cx="1152796" cy="184664"/>
          </a:xfrm>
          <a:prstGeom prst="rect">
            <a:avLst/>
          </a:prstGeom>
          <a:noFill/>
          <a:ln>
            <a:no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000" dirty="0">
                <a:solidFill>
                  <a:schemeClr val="tx1"/>
                </a:solidFill>
              </a:rPr>
              <a:t>Construction</a:t>
            </a:r>
          </a:p>
        </p:txBody>
      </p:sp>
    </p:spTree>
    <p:extLst>
      <p:ext uri="{BB962C8B-B14F-4D97-AF65-F5344CB8AC3E}">
        <p14:creationId xmlns:p14="http://schemas.microsoft.com/office/powerpoint/2010/main" val="4237790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F3F476D-10F5-59C3-F94C-0352FFC3637D}"/>
              </a:ext>
            </a:extLst>
          </p:cNvPr>
          <p:cNvSpPr txBox="1"/>
          <p:nvPr/>
        </p:nvSpPr>
        <p:spPr>
          <a:xfrm>
            <a:off x="730526" y="1548714"/>
            <a:ext cx="10730948" cy="4678943"/>
          </a:xfrm>
          <a:prstGeom prst="rect">
            <a:avLst/>
          </a:prstGeom>
          <a:noFill/>
          <a:ln>
            <a:solidFill>
              <a:schemeClr val="accent1"/>
            </a:solidFill>
          </a:ln>
        </p:spPr>
        <p:txBody>
          <a:bodyPr wrap="square" rtlCol="0">
            <a:normAutofit fontScale="92500" lnSpcReduction="20000"/>
          </a:bodyPr>
          <a:lstStyle/>
          <a:p>
            <a:pPr marL="342900" indent="-342900">
              <a:buFont typeface="+mj-lt"/>
              <a:buAutoNum type="arabicPeriod"/>
            </a:pPr>
            <a:r>
              <a:rPr lang="en-US" dirty="0"/>
              <a:t>Are internal classes.</a:t>
            </a:r>
          </a:p>
          <a:p>
            <a:pPr marL="342900" indent="-342900">
              <a:buFont typeface="+mj-lt"/>
              <a:buAutoNum type="arabicPeriod"/>
            </a:pPr>
            <a:r>
              <a:rPr lang="en-US" dirty="0"/>
              <a:t>Can, optionally, be derived from API Base Objects.</a:t>
            </a:r>
          </a:p>
          <a:p>
            <a:pPr marL="342900" indent="-342900">
              <a:buFont typeface="+mj-lt"/>
              <a:buAutoNum type="arabicPeriod"/>
            </a:pPr>
            <a:r>
              <a:rPr lang="en-US"/>
              <a:t>Can </a:t>
            </a:r>
            <a:r>
              <a:rPr lang="en-US" dirty="0"/>
              <a:t>maintain state.</a:t>
            </a:r>
          </a:p>
          <a:p>
            <a:pPr marL="342900" indent="-342900">
              <a:buFont typeface="+mj-lt"/>
              <a:buAutoNum type="arabicPeriod"/>
            </a:pPr>
            <a:r>
              <a:rPr lang="en-US" dirty="0"/>
              <a:t>Are always abstract because they require either a Game Pack Objects or a Generic API Objects for implementation.</a:t>
            </a:r>
          </a:p>
          <a:p>
            <a:pPr marL="342900" indent="-342900">
              <a:buFont typeface="+mj-lt"/>
              <a:buAutoNum type="arabicPeriod"/>
            </a:pPr>
            <a:r>
              <a:rPr lang="en-US" dirty="0"/>
              <a:t>Methods and properties may have any access modifier (Typically, private, protected, internal or public),</a:t>
            </a:r>
          </a:p>
          <a:p>
            <a:pPr marL="342900" indent="-342900">
              <a:buFont typeface="+mj-lt"/>
              <a:buAutoNum type="arabicPeriod"/>
            </a:pPr>
            <a:r>
              <a:rPr lang="en-US" dirty="0"/>
              <a:t>Are heavy weight objects that often implement methods for functionality and</a:t>
            </a:r>
          </a:p>
          <a:p>
            <a:pPr marL="800100" lvl="1" indent="-342900">
              <a:buFont typeface="Arial" panose="020B0604020202020204" pitchFamily="34" charset="0"/>
              <a:buChar char="•"/>
            </a:pPr>
            <a:r>
              <a:rPr lang="en-US" dirty="0"/>
              <a:t>Never declare new abstract or virtual methods to ensure derived objects are light-weight,</a:t>
            </a:r>
          </a:p>
          <a:p>
            <a:pPr marL="800100" lvl="1" indent="-342900">
              <a:buFont typeface="Arial" panose="020B0604020202020204" pitchFamily="34" charset="0"/>
              <a:buChar char="•"/>
            </a:pPr>
            <a:r>
              <a:rPr lang="en-US" dirty="0"/>
              <a:t>Optionally, Seal overridden base methods to further ensure derived generic objects conform to the light-weight standards.</a:t>
            </a:r>
          </a:p>
          <a:p>
            <a:pPr marL="342900" indent="-342900">
              <a:buFont typeface="+mj-lt"/>
              <a:buAutoNum type="arabicPeriod"/>
            </a:pPr>
            <a:r>
              <a:rPr lang="en-US" dirty="0"/>
              <a:t>Must implement the </a:t>
            </a:r>
            <a:r>
              <a:rPr lang="en-US" dirty="0" err="1"/>
              <a:t>IGetKey</a:t>
            </a:r>
            <a:r>
              <a:rPr lang="en-US" dirty="0"/>
              <a:t> interface which declare:</a:t>
            </a:r>
          </a:p>
          <a:p>
            <a:pPr marL="800100" lvl="1" indent="-342900">
              <a:buFont typeface="Arial" panose="020B0604020202020204" pitchFamily="34" charset="0"/>
              <a:buChar char="•"/>
            </a:pPr>
            <a:r>
              <a:rPr lang="en-US" dirty="0"/>
              <a:t>A unique key for each instance (e.g. </a:t>
            </a:r>
            <a:r>
              <a:rPr lang="en-US" dirty="0" err="1"/>
              <a:t>GetKey</a:t>
            </a:r>
            <a:r>
              <a:rPr lang="en-US" dirty="0"/>
              <a:t>), with a similar implementation to:</a:t>
            </a:r>
          </a:p>
          <a:p>
            <a:pPr marL="798513" lvl="1"/>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GetKey</a:t>
            </a:r>
            <a:r>
              <a:rPr lang="en-US" sz="1800" dirty="0">
                <a:solidFill>
                  <a:srgbClr val="000000"/>
                </a:solidFill>
                <a:latin typeface="Cascadia Mono" panose="020B0609020000020004" pitchFamily="49" charset="0"/>
              </a:rPr>
              <a:t> =&gt; Key;</a:t>
            </a:r>
            <a:endParaRPr lang="en-US" dirty="0"/>
          </a:p>
          <a:p>
            <a:pPr marL="800100" lvl="1" indent="-342900">
              <a:buFont typeface="Arial" panose="020B0604020202020204" pitchFamily="34" charset="0"/>
              <a:buChar char="•"/>
            </a:pPr>
            <a:r>
              <a:rPr lang="en-US" dirty="0"/>
              <a:t>A bind property (e.g. Bind) that allows the object to bind to other objects.</a:t>
            </a:r>
          </a:p>
          <a:p>
            <a:pPr marL="342900" indent="-342900">
              <a:buFont typeface="+mj-lt"/>
              <a:buAutoNum type="arabicPeriod"/>
            </a:pPr>
            <a:r>
              <a:rPr lang="en-US" dirty="0"/>
              <a:t>Implement abstract and virtual read-only properties using the </a:t>
            </a:r>
            <a:r>
              <a:rPr lang="en-US" dirty="0">
                <a:latin typeface="Courier New" panose="02070309020205020404" pitchFamily="49" charset="0"/>
                <a:cs typeface="Courier New" panose="02070309020205020404" pitchFamily="49" charset="0"/>
              </a:rPr>
              <a:t>{get;}</a:t>
            </a:r>
            <a:r>
              <a:rPr lang="en-US" dirty="0"/>
              <a:t> syntax so that derived objects can supply required or override default values.  Virtual properties can use the go to (</a:t>
            </a:r>
            <a:r>
              <a:rPr lang="en-US" dirty="0">
                <a:latin typeface="Courier New" panose="02070309020205020404" pitchFamily="49" charset="0"/>
                <a:cs typeface="Courier New" panose="02070309020205020404" pitchFamily="49" charset="0"/>
              </a:rPr>
              <a:t>=&gt;</a:t>
            </a:r>
            <a:r>
              <a:rPr lang="en-US" dirty="0"/>
              <a:t>) operator to provide a default value.  </a:t>
            </a:r>
          </a:p>
          <a:p>
            <a:pPr marL="342900" indent="-342900">
              <a:buFont typeface="+mj-lt"/>
              <a:buAutoNum type="arabicPeriod"/>
            </a:pPr>
            <a:r>
              <a:rPr lang="en-US" dirty="0"/>
              <a:t>Assignment of default property values is accomplished by using the </a:t>
            </a:r>
            <a:r>
              <a:rPr lang="en-US" dirty="0">
                <a:latin typeface="Courier New" panose="02070309020205020404" pitchFamily="49" charset="0"/>
                <a:cs typeface="Courier New" panose="02070309020205020404" pitchFamily="49" charset="0"/>
              </a:rPr>
              <a:t>{get;}=value</a:t>
            </a:r>
            <a:r>
              <a:rPr lang="en-US" dirty="0"/>
              <a:t> syntax.</a:t>
            </a:r>
          </a:p>
          <a:p>
            <a:pPr marL="342900" indent="-342900">
              <a:buFont typeface="+mj-lt"/>
              <a:buAutoNum type="arabicPeriod"/>
            </a:pPr>
            <a:r>
              <a:rPr lang="en-US" dirty="0"/>
              <a:t>Properties that need to be set during the Bind phase can use the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get;private</a:t>
            </a:r>
            <a:r>
              <a:rPr lang="en-US" dirty="0">
                <a:latin typeface="Courier New" panose="02070309020205020404" pitchFamily="49" charset="0"/>
                <a:cs typeface="Courier New" panose="02070309020205020404" pitchFamily="49" charset="0"/>
              </a:rPr>
              <a:t> set;}</a:t>
            </a:r>
            <a:r>
              <a:rPr lang="en-US" dirty="0"/>
              <a:t> syntax.</a:t>
            </a:r>
          </a:p>
          <a:p>
            <a:pPr marL="342900" indent="-342900">
              <a:buFont typeface="+mj-lt"/>
              <a:buAutoNum type="arabicPeriod"/>
            </a:pPr>
            <a:r>
              <a:rPr lang="en-US" dirty="0"/>
              <a:t>Must accept the Game object in the constructor and maintain a </a:t>
            </a:r>
            <a:r>
              <a:rPr lang="en-US" dirty="0" err="1"/>
              <a:t>readonly</a:t>
            </a:r>
            <a:r>
              <a:rPr lang="en-US" dirty="0"/>
              <a:t> copy of the Game.</a:t>
            </a:r>
          </a:p>
          <a:p>
            <a:pPr marL="342900" indent="-342900">
              <a:buFont typeface="+mj-lt"/>
              <a:buAutoNum type="arabicPeriod"/>
            </a:pPr>
            <a:r>
              <a:rPr lang="en-US" dirty="0"/>
              <a:t>The access modifier for the constructor must be less than public.</a:t>
            </a:r>
          </a:p>
        </p:txBody>
      </p:sp>
      <p:sp>
        <p:nvSpPr>
          <p:cNvPr id="10" name="Title 1">
            <a:extLst>
              <a:ext uri="{FF2B5EF4-FFF2-40B4-BE49-F238E27FC236}">
                <a16:creationId xmlns:a16="http://schemas.microsoft.com/office/drawing/2014/main" id="{F9138841-B12A-DDA7-247E-758B2B6F8653}"/>
              </a:ext>
            </a:extLst>
          </p:cNvPr>
          <p:cNvSpPr>
            <a:spLocks noGrp="1"/>
          </p:cNvSpPr>
          <p:nvPr>
            <p:ph type="title"/>
          </p:nvPr>
        </p:nvSpPr>
        <p:spPr>
          <a:xfrm>
            <a:off x="838200" y="365125"/>
            <a:ext cx="10515600" cy="1325563"/>
          </a:xfrm>
        </p:spPr>
        <p:txBody>
          <a:bodyPr/>
          <a:lstStyle/>
          <a:p>
            <a:r>
              <a:rPr lang="en-US" dirty="0"/>
              <a:t>API Objects</a:t>
            </a:r>
          </a:p>
        </p:txBody>
      </p:sp>
    </p:spTree>
    <p:extLst>
      <p:ext uri="{BB962C8B-B14F-4D97-AF65-F5344CB8AC3E}">
        <p14:creationId xmlns:p14="http://schemas.microsoft.com/office/powerpoint/2010/main" val="2854252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D934F-5EE3-9E4B-988A-F1182BFE9ADD}"/>
              </a:ext>
            </a:extLst>
          </p:cNvPr>
          <p:cNvSpPr>
            <a:spLocks noGrp="1"/>
          </p:cNvSpPr>
          <p:nvPr>
            <p:ph type="title"/>
          </p:nvPr>
        </p:nvSpPr>
        <p:spPr/>
        <p:txBody>
          <a:bodyPr/>
          <a:lstStyle/>
          <a:p>
            <a:r>
              <a:rPr lang="en-US" dirty="0"/>
              <a:t>API Object Example</a:t>
            </a:r>
          </a:p>
        </p:txBody>
      </p:sp>
      <p:sp>
        <p:nvSpPr>
          <p:cNvPr id="3" name="Content Placeholder 2">
            <a:extLst>
              <a:ext uri="{FF2B5EF4-FFF2-40B4-BE49-F238E27FC236}">
                <a16:creationId xmlns:a16="http://schemas.microsoft.com/office/drawing/2014/main" id="{8271C69D-3107-A813-D9F4-B2E8C5F221DC}"/>
              </a:ext>
            </a:extLst>
          </p:cNvPr>
          <p:cNvSpPr>
            <a:spLocks noGrp="1"/>
          </p:cNvSpPr>
          <p:nvPr>
            <p:ph idx="1"/>
          </p:nvPr>
        </p:nvSpPr>
        <p:spPr/>
        <p:txBody>
          <a:bodyPr>
            <a:normAutofit fontScale="62500" lnSpcReduction="20000"/>
          </a:bodyPr>
          <a:lstStyle/>
          <a:p>
            <a:pPr marL="0" indent="0">
              <a:lnSpc>
                <a:spcPct val="120000"/>
              </a:lnSpc>
              <a:spcBef>
                <a:spcPts val="0"/>
              </a:spcBef>
              <a:buNone/>
            </a:pPr>
            <a:r>
              <a:rPr lang="en-US" sz="1800" dirty="0">
                <a:solidFill>
                  <a:srgbClr val="000000"/>
                </a:solidFill>
                <a:latin typeface="Cascadia Mono" panose="020B0609020000020004" pitchFamily="49" charset="0"/>
              </a:rPr>
              <a:t>[</a:t>
            </a:r>
            <a:r>
              <a:rPr lang="en-US" sz="1800" dirty="0">
                <a:solidFill>
                  <a:srgbClr val="2B91AF"/>
                </a:solidFill>
                <a:latin typeface="Cascadia Mono" panose="020B0609020000020004" pitchFamily="49" charset="0"/>
              </a:rPr>
              <a:t>Serializable</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FF"/>
                </a:solidFill>
                <a:latin typeface="Cascadia Mono" panose="020B0609020000020004" pitchFamily="49" charset="0"/>
              </a:rPr>
              <a:t>internal</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abstract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class</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HelpGroup</a:t>
            </a:r>
            <a:r>
              <a:rPr lang="en-US" sz="1800" dirty="0">
                <a:solidFill>
                  <a:srgbClr val="000000"/>
                </a:solidFill>
                <a:latin typeface="Cascadia Mono" panose="020B0609020000020004" pitchFamily="49" charset="0"/>
              </a:rPr>
              <a:t> : </a:t>
            </a:r>
            <a:r>
              <a:rPr lang="en-US" sz="1800" dirty="0" err="1">
                <a:solidFill>
                  <a:srgbClr val="2B91AF"/>
                </a:solidFill>
                <a:latin typeface="Cascadia Mono" panose="020B0609020000020004" pitchFamily="49" charset="0"/>
              </a:rPr>
              <a:t>IGetKey</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IToJson</a:t>
            </a:r>
            <a:endParaRPr lang="en-US" sz="1800" dirty="0">
              <a:solidFill>
                <a:srgbClr val="000000"/>
              </a:solidFill>
              <a:latin typeface="Cascadia Mono" panose="020B0609020000020004" pitchFamily="49" charset="0"/>
            </a:endParaRPr>
          </a:p>
          <a:p>
            <a:pPr marL="0" indent="0">
              <a:lnSpc>
                <a:spcPct val="120000"/>
              </a:lnSpc>
              <a:spcBef>
                <a:spcPts val="0"/>
              </a:spcBef>
              <a:buNone/>
            </a:pP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protected</a:t>
            </a:r>
            <a:r>
              <a:rPr lang="en-US" sz="1800" dirty="0">
                <a:solidFill>
                  <a:srgbClr val="000000"/>
                </a:solidFill>
                <a:latin typeface="Cascadia Mono" panose="020B0609020000020004" pitchFamily="49" charset="0"/>
              </a:rPr>
              <a:t> </a:t>
            </a:r>
            <a:r>
              <a:rPr lang="en-US" sz="1800" dirty="0" err="1">
                <a:solidFill>
                  <a:srgbClr val="0000FF"/>
                </a:solidFill>
                <a:latin typeface="Cascadia Mono" panose="020B0609020000020004" pitchFamily="49" charset="0"/>
              </a:rPr>
              <a:t>readonly</a:t>
            </a:r>
            <a:r>
              <a:rPr lang="en-US" sz="1800" dirty="0">
                <a:solidFill>
                  <a:srgbClr val="000000"/>
                </a:solidFill>
                <a:latin typeface="Cascadia Mono" panose="020B0609020000020004" pitchFamily="49" charset="0"/>
              </a:rPr>
              <a:t> </a:t>
            </a:r>
            <a:r>
              <a:rPr lang="en-US" sz="1800" dirty="0">
                <a:solidFill>
                  <a:srgbClr val="2B91AF"/>
                </a:solidFill>
                <a:latin typeface="Cascadia Mono" panose="020B0609020000020004" pitchFamily="49" charset="0"/>
              </a:rPr>
              <a:t>Game</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Game</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protected</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HelpGroup</a:t>
            </a:r>
            <a:r>
              <a:rPr lang="en-US" sz="1800" dirty="0">
                <a:solidFill>
                  <a:srgbClr val="000000"/>
                </a:solidFill>
                <a:latin typeface="Cascadia Mono" panose="020B0609020000020004" pitchFamily="49" charset="0"/>
              </a:rPr>
              <a:t>(</a:t>
            </a:r>
            <a:r>
              <a:rPr lang="en-US" sz="1800" dirty="0">
                <a:solidFill>
                  <a:srgbClr val="2B91AF"/>
                </a:solidFill>
                <a:latin typeface="Cascadia Mono" panose="020B0609020000020004" pitchFamily="49" charset="0"/>
              </a:rPr>
              <a:t>Game</a:t>
            </a:r>
            <a:r>
              <a:rPr lang="en-US" sz="1800" dirty="0">
                <a:solidFill>
                  <a:srgbClr val="000000"/>
                </a:solidFill>
                <a:latin typeface="Cascadia Mono" panose="020B0609020000020004" pitchFamily="49" charset="0"/>
              </a:rPr>
              <a:t> game) </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Game = game;</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virtual</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Key =&gt; </a:t>
            </a:r>
            <a:r>
              <a:rPr lang="en-US" sz="1800" dirty="0" err="1">
                <a:solidFill>
                  <a:srgbClr val="000000"/>
                </a:solidFill>
                <a:latin typeface="Cascadia Mono" panose="020B0609020000020004" pitchFamily="49" charset="0"/>
              </a:rPr>
              <a:t>GetType</a:t>
            </a:r>
            <a:r>
              <a:rPr lang="en-US" sz="1800" dirty="0">
                <a:solidFill>
                  <a:srgbClr val="000000"/>
                </a:solidFill>
                <a:latin typeface="Cascadia Mono" panose="020B0609020000020004" pitchFamily="49" charset="0"/>
              </a:rPr>
              <a:t>().Name;</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GetKey</a:t>
            </a:r>
            <a:r>
              <a:rPr lang="en-US" sz="1800" dirty="0">
                <a:solidFill>
                  <a:srgbClr val="000000"/>
                </a:solidFill>
                <a:latin typeface="Cascadia Mono" panose="020B0609020000020004" pitchFamily="49" charset="0"/>
              </a:rPr>
              <a:t> =&gt; Key;</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void</a:t>
            </a:r>
            <a:r>
              <a:rPr lang="en-US" sz="1800" dirty="0">
                <a:solidFill>
                  <a:srgbClr val="000000"/>
                </a:solidFill>
                <a:latin typeface="Cascadia Mono" panose="020B0609020000020004" pitchFamily="49" charset="0"/>
              </a:rPr>
              <a:t> Bind() {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ToJson</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HelpGroupGameConfiguration</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helpGroupDefinition</a:t>
            </a:r>
            <a:r>
              <a:rPr lang="en-US" sz="1800" dirty="0">
                <a:solidFill>
                  <a:srgbClr val="000000"/>
                </a:solidFill>
                <a:latin typeface="Cascadia Mono" panose="020B0609020000020004" pitchFamily="49" charset="0"/>
              </a:rPr>
              <a:t> = </a:t>
            </a:r>
            <a:r>
              <a:rPr lang="en-US" sz="1800" dirty="0">
                <a:solidFill>
                  <a:srgbClr val="0000FF"/>
                </a:solidFill>
                <a:latin typeface="Cascadia Mono" panose="020B0609020000020004" pitchFamily="49" charset="0"/>
              </a:rPr>
              <a:t>new</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Key = Key,</a:t>
            </a:r>
          </a:p>
          <a:p>
            <a:pPr marL="0" indent="0">
              <a:lnSpc>
                <a:spcPct val="120000"/>
              </a:lnSpc>
              <a:spcBef>
                <a:spcPts val="0"/>
              </a:spcBef>
              <a:buNone/>
            </a:pPr>
            <a:r>
              <a:rPr lang="en-US" sz="1800" dirty="0">
                <a:solidFill>
                  <a:srgbClr val="000000"/>
                </a:solidFill>
                <a:latin typeface="Cascadia Mono" panose="020B0609020000020004" pitchFamily="49" charset="0"/>
              </a:rPr>
              <a:t>            Title = Title,</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SortIndex</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SortIndex</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return</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JsonSerializer</a:t>
            </a:r>
            <a:r>
              <a:rPr lang="en-US" sz="1800" dirty="0" err="1">
                <a:solidFill>
                  <a:srgbClr val="000000"/>
                </a:solidFill>
                <a:latin typeface="Cascadia Mono" panose="020B0609020000020004" pitchFamily="49" charset="0"/>
              </a:rPr>
              <a:t>.Serialize</a:t>
            </a:r>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helpGroupDefinition</a:t>
            </a:r>
            <a:r>
              <a:rPr lang="en-US" sz="1800" dirty="0">
                <a:solidFill>
                  <a:srgbClr val="000000"/>
                </a:solidFill>
                <a:latin typeface="Cascadia Mono" panose="020B0609020000020004" pitchFamily="49" charset="0"/>
              </a:rPr>
              <a:t>, </a:t>
            </a:r>
            <a:r>
              <a:rPr lang="en-US" sz="1800" dirty="0" err="1">
                <a:solidFill>
                  <a:srgbClr val="2B91AF"/>
                </a:solidFill>
                <a:latin typeface="Cascadia Mono" panose="020B0609020000020004" pitchFamily="49" charset="0"/>
              </a:rPr>
              <a:t>Game</a:t>
            </a:r>
            <a:r>
              <a:rPr lang="en-US" sz="1800" dirty="0" err="1">
                <a:solidFill>
                  <a:srgbClr val="000000"/>
                </a:solidFill>
                <a:latin typeface="Cascadia Mono" panose="020B0609020000020004" pitchFamily="49" charset="0"/>
              </a:rPr>
              <a:t>.GetJsonSerializerOptions</a:t>
            </a:r>
            <a:r>
              <a:rPr lang="en-US" sz="1800" dirty="0">
                <a:solidFill>
                  <a:srgbClr val="000000"/>
                </a:solidFill>
                <a:latin typeface="Cascadia Mono" panose="020B0609020000020004" pitchFamily="49" charset="0"/>
              </a:rPr>
              <a:t>());</a:t>
            </a:r>
          </a:p>
          <a:p>
            <a:pPr marL="0" indent="0">
              <a:lnSpc>
                <a:spcPct val="120000"/>
              </a:lnSpc>
              <a:spcBef>
                <a:spcPts val="0"/>
              </a:spcBef>
              <a:buNone/>
            </a:pP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abstract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string</a:t>
            </a:r>
            <a:r>
              <a:rPr lang="en-US" sz="1800" dirty="0">
                <a:solidFill>
                  <a:srgbClr val="000000"/>
                </a:solidFill>
                <a:latin typeface="Cascadia Mono" panose="020B0609020000020004" pitchFamily="49" charset="0"/>
              </a:rPr>
              <a:t> Title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public</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abstract</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int</a:t>
            </a:r>
            <a:r>
              <a:rPr lang="en-US" sz="1800" dirty="0">
                <a:solidFill>
                  <a:srgbClr val="000000"/>
                </a:solidFill>
                <a:latin typeface="Cascadia Mono" panose="020B0609020000020004" pitchFamily="49" charset="0"/>
              </a:rPr>
              <a:t> </a:t>
            </a:r>
            <a:r>
              <a:rPr lang="en-US" sz="1800" dirty="0" err="1">
                <a:solidFill>
                  <a:srgbClr val="000000"/>
                </a:solidFill>
                <a:latin typeface="Cascadia Mono" panose="020B0609020000020004" pitchFamily="49" charset="0"/>
              </a:rPr>
              <a:t>SortIndex</a:t>
            </a:r>
            <a:r>
              <a:rPr lang="en-US" sz="1800" dirty="0">
                <a:solidFill>
                  <a:srgbClr val="000000"/>
                </a:solidFill>
                <a:latin typeface="Cascadia Mono" panose="020B0609020000020004" pitchFamily="49" charset="0"/>
              </a:rPr>
              <a:t> { </a:t>
            </a:r>
            <a:r>
              <a:rPr lang="en-US" sz="1800" dirty="0">
                <a:solidFill>
                  <a:srgbClr val="0000FF"/>
                </a:solidFill>
                <a:latin typeface="Cascadia Mono" panose="020B0609020000020004" pitchFamily="49" charset="0"/>
              </a:rPr>
              <a:t>get</a:t>
            </a:r>
            <a:r>
              <a:rPr lang="en-US" sz="1800" dirty="0">
                <a:solidFill>
                  <a:srgbClr val="000000"/>
                </a:solidFill>
                <a:latin typeface="Cascadia Mono" panose="020B0609020000020004" pitchFamily="49" charset="0"/>
              </a:rPr>
              <a:t>; }</a:t>
            </a:r>
          </a:p>
          <a:p>
            <a:pPr marL="0" indent="0">
              <a:lnSpc>
                <a:spcPct val="120000"/>
              </a:lnSpc>
              <a:spcBef>
                <a:spcPts val="0"/>
              </a:spcBef>
              <a:buNone/>
            </a:pPr>
            <a:r>
              <a:rPr lang="en-US" sz="1800" dirty="0">
                <a:solidFill>
                  <a:srgbClr val="000000"/>
                </a:solidFill>
                <a:latin typeface="Cascadia Mono" panose="020B0609020000020004" pitchFamily="49" charset="0"/>
              </a:rPr>
              <a:t>}</a:t>
            </a:r>
          </a:p>
          <a:p>
            <a:pPr marL="0" indent="0">
              <a:buNone/>
            </a:pPr>
            <a:endParaRPr lang="en-US" dirty="0"/>
          </a:p>
        </p:txBody>
      </p:sp>
    </p:spTree>
    <p:extLst>
      <p:ext uri="{BB962C8B-B14F-4D97-AF65-F5344CB8AC3E}">
        <p14:creationId xmlns:p14="http://schemas.microsoft.com/office/powerpoint/2010/main" val="19572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600B8-35B2-7895-C1E8-4A51ED808A15}"/>
              </a:ext>
            </a:extLst>
          </p:cNvPr>
          <p:cNvSpPr>
            <a:spLocks noGrp="1"/>
          </p:cNvSpPr>
          <p:nvPr>
            <p:ph type="title"/>
          </p:nvPr>
        </p:nvSpPr>
        <p:spPr/>
        <p:txBody>
          <a:bodyPr/>
          <a:lstStyle/>
          <a:p>
            <a:r>
              <a:rPr lang="en-US" dirty="0"/>
              <a:t>Light-Weight Supported Data Types</a:t>
            </a:r>
          </a:p>
        </p:txBody>
      </p:sp>
      <p:graphicFrame>
        <p:nvGraphicFramePr>
          <p:cNvPr id="4" name="Table 3">
            <a:extLst>
              <a:ext uri="{FF2B5EF4-FFF2-40B4-BE49-F238E27FC236}">
                <a16:creationId xmlns:a16="http://schemas.microsoft.com/office/drawing/2014/main" id="{36349636-65F2-978A-78C7-7C1E8C159957}"/>
              </a:ext>
            </a:extLst>
          </p:cNvPr>
          <p:cNvGraphicFramePr>
            <a:graphicFrameLocks noGrp="1"/>
          </p:cNvGraphicFramePr>
          <p:nvPr>
            <p:extLst>
              <p:ext uri="{D42A27DB-BD31-4B8C-83A1-F6EECF244321}">
                <p14:modId xmlns:p14="http://schemas.microsoft.com/office/powerpoint/2010/main" val="1450914386"/>
              </p:ext>
            </p:extLst>
          </p:nvPr>
        </p:nvGraphicFramePr>
        <p:xfrm>
          <a:off x="838200" y="2419558"/>
          <a:ext cx="10515600" cy="286512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545872413"/>
                    </a:ext>
                  </a:extLst>
                </a:gridCol>
                <a:gridCol w="1752600">
                  <a:extLst>
                    <a:ext uri="{9D8B030D-6E8A-4147-A177-3AD203B41FA5}">
                      <a16:colId xmlns:a16="http://schemas.microsoft.com/office/drawing/2014/main" val="3047561943"/>
                    </a:ext>
                  </a:extLst>
                </a:gridCol>
                <a:gridCol w="1752600">
                  <a:extLst>
                    <a:ext uri="{9D8B030D-6E8A-4147-A177-3AD203B41FA5}">
                      <a16:colId xmlns:a16="http://schemas.microsoft.com/office/drawing/2014/main" val="3544181040"/>
                    </a:ext>
                  </a:extLst>
                </a:gridCol>
                <a:gridCol w="1752600">
                  <a:extLst>
                    <a:ext uri="{9D8B030D-6E8A-4147-A177-3AD203B41FA5}">
                      <a16:colId xmlns:a16="http://schemas.microsoft.com/office/drawing/2014/main" val="3643237834"/>
                    </a:ext>
                  </a:extLst>
                </a:gridCol>
                <a:gridCol w="1752600">
                  <a:extLst>
                    <a:ext uri="{9D8B030D-6E8A-4147-A177-3AD203B41FA5}">
                      <a16:colId xmlns:a16="http://schemas.microsoft.com/office/drawing/2014/main" val="2785572034"/>
                    </a:ext>
                  </a:extLst>
                </a:gridCol>
                <a:gridCol w="1752600">
                  <a:extLst>
                    <a:ext uri="{9D8B030D-6E8A-4147-A177-3AD203B41FA5}">
                      <a16:colId xmlns:a16="http://schemas.microsoft.com/office/drawing/2014/main" val="1113481982"/>
                    </a:ext>
                  </a:extLst>
                </a:gridCol>
              </a:tblGrid>
              <a:tr h="370840">
                <a:tc>
                  <a:txBody>
                    <a:bodyPr/>
                    <a:lstStyle/>
                    <a:p>
                      <a:r>
                        <a:rPr lang="en-US" dirty="0"/>
                        <a:t>Data Type</a:t>
                      </a:r>
                    </a:p>
                  </a:txBody>
                  <a:tcPr/>
                </a:tc>
                <a:tc>
                  <a:txBody>
                    <a:bodyPr/>
                    <a:lstStyle/>
                    <a:p>
                      <a:r>
                        <a:rPr lang="en-US" dirty="0"/>
                        <a:t>Nullable</a:t>
                      </a:r>
                    </a:p>
                  </a:txBody>
                  <a:tcPr/>
                </a:tc>
                <a:tc>
                  <a:txBody>
                    <a:bodyPr/>
                    <a:lstStyle/>
                    <a:p>
                      <a:r>
                        <a:rPr lang="en-US" dirty="0"/>
                        <a:t>Array</a:t>
                      </a:r>
                    </a:p>
                  </a:txBody>
                  <a:tcPr/>
                </a:tc>
                <a:tc>
                  <a:txBody>
                    <a:bodyPr/>
                    <a:lstStyle/>
                    <a:p>
                      <a:r>
                        <a:rPr lang="en-US" dirty="0"/>
                        <a:t>Nullable Array</a:t>
                      </a:r>
                    </a:p>
                  </a:txBody>
                  <a:tcPr/>
                </a:tc>
                <a:tc>
                  <a:txBody>
                    <a:bodyPr/>
                    <a:lstStyle/>
                    <a:p>
                      <a:r>
                        <a:rPr lang="en-US" dirty="0"/>
                        <a:t>Array of Nullable</a:t>
                      </a:r>
                    </a:p>
                  </a:txBody>
                  <a:tcPr/>
                </a:tc>
                <a:tc>
                  <a:txBody>
                    <a:bodyPr/>
                    <a:lstStyle/>
                    <a:p>
                      <a:r>
                        <a:rPr lang="en-US" dirty="0"/>
                        <a:t>Nested in a Tuple</a:t>
                      </a:r>
                    </a:p>
                  </a:txBody>
                  <a:tcPr/>
                </a:tc>
                <a:extLst>
                  <a:ext uri="{0D108BD9-81ED-4DB2-BD59-A6C34878D82A}">
                    <a16:rowId xmlns:a16="http://schemas.microsoft.com/office/drawing/2014/main" val="3361014533"/>
                  </a:ext>
                </a:extLst>
              </a:tr>
              <a:tr h="370840">
                <a:tc>
                  <a:txBody>
                    <a:bodyPr/>
                    <a:lstStyle/>
                    <a:p>
                      <a:r>
                        <a:rPr lang="en-US" dirty="0"/>
                        <a:t>bool</a:t>
                      </a:r>
                    </a:p>
                  </a:txBody>
                  <a:tcPr/>
                </a:tc>
                <a:tc>
                  <a:txBody>
                    <a:bodyPr/>
                    <a:lstStyle/>
                    <a:p>
                      <a:r>
                        <a:rPr lang="en-US" dirty="0"/>
                        <a:t>Yes</a:t>
                      </a:r>
                    </a:p>
                  </a:txBody>
                  <a:tcPr/>
                </a:tc>
                <a:tc>
                  <a:txBody>
                    <a:bodyPr/>
                    <a:lstStyle/>
                    <a:p>
                      <a:r>
                        <a:rPr lang="en-US" dirty="0"/>
                        <a:t>No</a:t>
                      </a:r>
                    </a:p>
                  </a:txBody>
                  <a:tcPr/>
                </a:tc>
                <a:tc>
                  <a:txBody>
                    <a:bodyPr/>
                    <a:lstStyle/>
                    <a:p>
                      <a:r>
                        <a:rPr lang="en-US" dirty="0"/>
                        <a:t>No</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2505738034"/>
                  </a:ext>
                </a:extLst>
              </a:tr>
              <a:tr h="370840">
                <a:tc>
                  <a:txBody>
                    <a:bodyPr/>
                    <a:lstStyle/>
                    <a:p>
                      <a:r>
                        <a:rPr lang="en-US" dirty="0"/>
                        <a:t>int</a:t>
                      </a:r>
                    </a:p>
                  </a:txBody>
                  <a:tcPr/>
                </a:tc>
                <a:tc>
                  <a:txBody>
                    <a:bodyPr/>
                    <a:lstStyle/>
                    <a:p>
                      <a:r>
                        <a:rPr lang="en-US" dirty="0"/>
                        <a:t>Yes</a:t>
                      </a:r>
                    </a:p>
                  </a:txBody>
                  <a:tcPr/>
                </a:tc>
                <a:tc>
                  <a:txBody>
                    <a:bodyPr/>
                    <a:lstStyle/>
                    <a:p>
                      <a:r>
                        <a:rPr lang="en-US" dirty="0"/>
                        <a:t>No</a:t>
                      </a:r>
                    </a:p>
                  </a:txBody>
                  <a:tcPr/>
                </a:tc>
                <a:tc>
                  <a:txBody>
                    <a:bodyPr/>
                    <a:lstStyle/>
                    <a:p>
                      <a:r>
                        <a:rPr lang="en-US" dirty="0"/>
                        <a:t>No</a:t>
                      </a:r>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813293842"/>
                  </a:ext>
                </a:extLst>
              </a:tr>
              <a:tr h="370840">
                <a:tc>
                  <a:txBody>
                    <a:bodyPr/>
                    <a:lstStyle/>
                    <a:p>
                      <a:r>
                        <a:rPr lang="en-US" dirty="0"/>
                        <a:t>char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Yes</a:t>
                      </a:r>
                    </a:p>
                  </a:txBody>
                  <a:tcPr/>
                </a:tc>
                <a:extLst>
                  <a:ext uri="{0D108BD9-81ED-4DB2-BD59-A6C34878D82A}">
                    <a16:rowId xmlns:a16="http://schemas.microsoft.com/office/drawing/2014/main" val="173100049"/>
                  </a:ext>
                </a:extLst>
              </a:tr>
              <a:tr h="370840">
                <a:tc>
                  <a:txBody>
                    <a:bodyPr/>
                    <a:lstStyle/>
                    <a:p>
                      <a:r>
                        <a:rPr lang="en-US" dirty="0" err="1"/>
                        <a:t>ColorEnum</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Yes</a:t>
                      </a:r>
                    </a:p>
                  </a:txBody>
                  <a:tcPr/>
                </a:tc>
                <a:extLst>
                  <a:ext uri="{0D108BD9-81ED-4DB2-BD59-A6C34878D82A}">
                    <a16:rowId xmlns:a16="http://schemas.microsoft.com/office/drawing/2014/main" val="2173646313"/>
                  </a:ext>
                </a:extLst>
              </a:tr>
              <a:tr h="370840">
                <a:tc>
                  <a:txBody>
                    <a:bodyPr/>
                    <a:lstStyle/>
                    <a:p>
                      <a:r>
                        <a:rPr lang="en-US" dirty="0"/>
                        <a:t>string</a:t>
                      </a:r>
                    </a:p>
                  </a:txBody>
                  <a:tcPr/>
                </a:tc>
                <a:tc>
                  <a:txBody>
                    <a:bodyPr/>
                    <a:lstStyle/>
                    <a:p>
                      <a:r>
                        <a:rPr lang="en-US" dirty="0"/>
                        <a:t>Yes</a:t>
                      </a:r>
                    </a:p>
                  </a:txBody>
                  <a:tcPr/>
                </a:tc>
                <a:tc>
                  <a:txBody>
                    <a:bodyPr/>
                    <a:lstStyle/>
                    <a:p>
                      <a:r>
                        <a:rPr lang="en-US" dirty="0"/>
                        <a:t>Yes</a:t>
                      </a:r>
                    </a:p>
                  </a:txBody>
                  <a:tcPr/>
                </a:tc>
                <a:tc>
                  <a:txBody>
                    <a:bodyPr/>
                    <a:lstStyle/>
                    <a:p>
                      <a:endParaRPr lang="en-US" dirty="0"/>
                    </a:p>
                  </a:txBody>
                  <a:tcPr/>
                </a:tc>
                <a:tc>
                  <a:txBody>
                    <a:bodyPr/>
                    <a:lstStyle/>
                    <a:p>
                      <a:endParaRPr lang="en-US" dirty="0"/>
                    </a:p>
                  </a:txBody>
                  <a:tcPr/>
                </a:tc>
                <a:tc>
                  <a:txBody>
                    <a:bodyPr/>
                    <a:lstStyle/>
                    <a:p>
                      <a:r>
                        <a:rPr lang="en-US" dirty="0"/>
                        <a:t>Yes</a:t>
                      </a:r>
                    </a:p>
                  </a:txBody>
                  <a:tcPr/>
                </a:tc>
                <a:extLst>
                  <a:ext uri="{0D108BD9-81ED-4DB2-BD59-A6C34878D82A}">
                    <a16:rowId xmlns:a16="http://schemas.microsoft.com/office/drawing/2014/main" val="917287987"/>
                  </a:ext>
                </a:extLst>
              </a:tr>
              <a:tr h="370840">
                <a:tc>
                  <a:txBody>
                    <a:bodyPr/>
                    <a:lstStyle/>
                    <a:p>
                      <a:r>
                        <a:rPr lang="en-US" dirty="0"/>
                        <a:t>(tuple)</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No</a:t>
                      </a:r>
                    </a:p>
                  </a:txBody>
                  <a:tcPr/>
                </a:tc>
                <a:extLst>
                  <a:ext uri="{0D108BD9-81ED-4DB2-BD59-A6C34878D82A}">
                    <a16:rowId xmlns:a16="http://schemas.microsoft.com/office/drawing/2014/main" val="3509476848"/>
                  </a:ext>
                </a:extLst>
              </a:tr>
            </a:tbl>
          </a:graphicData>
        </a:graphic>
      </p:graphicFrame>
      <p:sp>
        <p:nvSpPr>
          <p:cNvPr id="5" name="TextBox 4">
            <a:extLst>
              <a:ext uri="{FF2B5EF4-FFF2-40B4-BE49-F238E27FC236}">
                <a16:creationId xmlns:a16="http://schemas.microsoft.com/office/drawing/2014/main" id="{C97102F6-0A0D-60DF-2F76-3DAF3F62D3FA}"/>
              </a:ext>
            </a:extLst>
          </p:cNvPr>
          <p:cNvSpPr txBox="1"/>
          <p:nvPr/>
        </p:nvSpPr>
        <p:spPr>
          <a:xfrm>
            <a:off x="838200" y="1690688"/>
            <a:ext cx="10515600" cy="728870"/>
          </a:xfrm>
          <a:prstGeom prst="rect">
            <a:avLst/>
          </a:prstGeom>
          <a:noFill/>
        </p:spPr>
        <p:txBody>
          <a:bodyPr wrap="square" rtlCol="0">
            <a:normAutofit/>
          </a:bodyPr>
          <a:lstStyle/>
          <a:p>
            <a:r>
              <a:rPr lang="en-US" dirty="0"/>
              <a:t>The table below identifies the return data-types for API object properties.  Data-types that are not listed are not supported.</a:t>
            </a:r>
          </a:p>
        </p:txBody>
      </p:sp>
    </p:spTree>
    <p:extLst>
      <p:ext uri="{BB962C8B-B14F-4D97-AF65-F5344CB8AC3E}">
        <p14:creationId xmlns:p14="http://schemas.microsoft.com/office/powerpoint/2010/main" val="1697295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C25E-C14E-8008-FC8F-56443FE9006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5B89918-411A-D855-0665-700F96E30F78}"/>
              </a:ext>
            </a:extLst>
          </p:cNvPr>
          <p:cNvSpPr txBox="1"/>
          <p:nvPr/>
        </p:nvSpPr>
        <p:spPr>
          <a:xfrm>
            <a:off x="730526" y="1690689"/>
            <a:ext cx="10730948" cy="4536968"/>
          </a:xfrm>
          <a:prstGeom prst="rect">
            <a:avLst/>
          </a:prstGeom>
          <a:noFill/>
          <a:ln>
            <a:solidFill>
              <a:schemeClr val="accent1"/>
            </a:solidFill>
          </a:ln>
        </p:spPr>
        <p:txBody>
          <a:bodyPr wrap="square" rtlCol="0">
            <a:normAutofit/>
          </a:bodyPr>
          <a:lstStyle/>
          <a:p>
            <a:pPr marL="285750" indent="-285750">
              <a:buFont typeface="Arial" panose="020B0604020202020204" pitchFamily="34" charset="0"/>
              <a:buChar char="•"/>
            </a:pPr>
            <a:r>
              <a:rPr lang="en-US" sz="2400" dirty="0"/>
              <a:t>Are light-weight, by definition.</a:t>
            </a:r>
          </a:p>
          <a:p>
            <a:pPr marL="285750" indent="-285750">
              <a:buFont typeface="Arial" panose="020B0604020202020204" pitchFamily="34" charset="0"/>
              <a:buChar char="•"/>
            </a:pPr>
            <a:r>
              <a:rPr lang="en-US" sz="2400" dirty="0"/>
              <a:t>Implement an API Object as a base class.</a:t>
            </a:r>
          </a:p>
          <a:p>
            <a:pPr marL="285750" indent="-285750">
              <a:buFont typeface="Arial" panose="020B0604020202020204" pitchFamily="34" charset="0"/>
              <a:buChar char="•"/>
            </a:pPr>
            <a:r>
              <a:rPr lang="en-US" sz="2400" dirty="0"/>
              <a:t>Override all abstract and virtual properties of the base class.</a:t>
            </a:r>
          </a:p>
          <a:p>
            <a:pPr marL="285750" indent="-285750">
              <a:buFont typeface="Arial" panose="020B0604020202020204" pitchFamily="34" charset="0"/>
              <a:buChar char="•"/>
            </a:pPr>
            <a:r>
              <a:rPr lang="en-US" sz="2400" dirty="0"/>
              <a:t>Implement the </a:t>
            </a:r>
            <a:r>
              <a:rPr lang="en-US" sz="2400" dirty="0" err="1"/>
              <a:t>IToJson</a:t>
            </a:r>
            <a:r>
              <a:rPr lang="en-US" sz="2400" dirty="0"/>
              <a:t> interface for serialization.</a:t>
            </a:r>
          </a:p>
          <a:p>
            <a:pPr marL="285750" indent="-285750">
              <a:buFont typeface="Arial" panose="020B0604020202020204" pitchFamily="34" charset="0"/>
              <a:buChar char="•"/>
            </a:pPr>
            <a:r>
              <a:rPr lang="en-US" sz="2400" dirty="0"/>
              <a:t>Never maintain state.</a:t>
            </a:r>
          </a:p>
          <a:p>
            <a:pPr marL="285750" indent="-285750">
              <a:buFont typeface="Arial" panose="020B0604020202020204" pitchFamily="34" charset="0"/>
              <a:buChar char="•"/>
            </a:pPr>
            <a:r>
              <a:rPr lang="en-US" sz="2400" dirty="0"/>
              <a:t>Never have default property value assignments.</a:t>
            </a:r>
          </a:p>
          <a:p>
            <a:pPr marL="285750" indent="-285750">
              <a:buFont typeface="Arial" panose="020B0604020202020204" pitchFamily="34" charset="0"/>
              <a:buChar char="•"/>
            </a:pPr>
            <a:r>
              <a:rPr lang="en-US" sz="2400" dirty="0"/>
              <a:t>Shouldn’t need to include XML comments because they are all derived from the base API Object.</a:t>
            </a:r>
          </a:p>
          <a:p>
            <a:endParaRPr lang="en-US" dirty="0"/>
          </a:p>
        </p:txBody>
      </p:sp>
      <p:sp>
        <p:nvSpPr>
          <p:cNvPr id="10" name="Title 1">
            <a:extLst>
              <a:ext uri="{FF2B5EF4-FFF2-40B4-BE49-F238E27FC236}">
                <a16:creationId xmlns:a16="http://schemas.microsoft.com/office/drawing/2014/main" id="{4ABC5E94-6C72-F5DA-4359-FF1F8E08506D}"/>
              </a:ext>
            </a:extLst>
          </p:cNvPr>
          <p:cNvSpPr>
            <a:spLocks noGrp="1"/>
          </p:cNvSpPr>
          <p:nvPr>
            <p:ph type="title"/>
          </p:nvPr>
        </p:nvSpPr>
        <p:spPr>
          <a:xfrm>
            <a:off x="838200" y="365125"/>
            <a:ext cx="10515600" cy="1325563"/>
          </a:xfrm>
        </p:spPr>
        <p:txBody>
          <a:bodyPr/>
          <a:lstStyle/>
          <a:p>
            <a:r>
              <a:rPr lang="en-US" dirty="0"/>
              <a:t>Generic Objects</a:t>
            </a:r>
          </a:p>
        </p:txBody>
      </p:sp>
    </p:spTree>
    <p:extLst>
      <p:ext uri="{BB962C8B-B14F-4D97-AF65-F5344CB8AC3E}">
        <p14:creationId xmlns:p14="http://schemas.microsoft.com/office/powerpoint/2010/main" val="4060417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6989-4186-A7E3-57FF-B5AD60750B90}"/>
              </a:ext>
            </a:extLst>
          </p:cNvPr>
          <p:cNvSpPr>
            <a:spLocks noGrp="1"/>
          </p:cNvSpPr>
          <p:nvPr>
            <p:ph type="title"/>
          </p:nvPr>
        </p:nvSpPr>
        <p:spPr/>
        <p:txBody>
          <a:bodyPr/>
          <a:lstStyle/>
          <a:p>
            <a:r>
              <a:rPr lang="en-US" dirty="0"/>
              <a:t>Generic Object Example</a:t>
            </a:r>
          </a:p>
        </p:txBody>
      </p:sp>
      <p:sp>
        <p:nvSpPr>
          <p:cNvPr id="3" name="Content Placeholder 2">
            <a:extLst>
              <a:ext uri="{FF2B5EF4-FFF2-40B4-BE49-F238E27FC236}">
                <a16:creationId xmlns:a16="http://schemas.microsoft.com/office/drawing/2014/main" id="{1EC213C5-B5D6-9F1C-ED6A-29D432E9DCBB}"/>
              </a:ext>
            </a:extLst>
          </p:cNvPr>
          <p:cNvSpPr>
            <a:spLocks noGrp="1"/>
          </p:cNvSpPr>
          <p:nvPr>
            <p:ph idx="1"/>
          </p:nvPr>
        </p:nvSpPr>
        <p:spPr/>
        <p:txBody>
          <a:bodyPr>
            <a:normAutofit/>
          </a:bodyPr>
          <a:lstStyle/>
          <a:p>
            <a:pPr marL="0" indent="0">
              <a:buNone/>
            </a:pPr>
            <a:r>
              <a:rPr lang="en-US" sz="1300" dirty="0">
                <a:solidFill>
                  <a:srgbClr val="000000"/>
                </a:solidFill>
                <a:latin typeface="Cascadia Mono" panose="020B0609020000020004" pitchFamily="49" charset="0"/>
              </a:rPr>
              <a:t>[</a:t>
            </a:r>
            <a:r>
              <a:rPr lang="en-US" sz="1300" dirty="0">
                <a:solidFill>
                  <a:srgbClr val="2B91AF"/>
                </a:solidFill>
                <a:latin typeface="Cascadia Mono" panose="020B0609020000020004" pitchFamily="49" charset="0"/>
              </a:rPr>
              <a:t>Serializable</a:t>
            </a:r>
            <a:r>
              <a:rPr lang="en-US" sz="1300" dirty="0">
                <a:solidFill>
                  <a:srgbClr val="000000"/>
                </a:solidFill>
                <a:latin typeface="Cascadia Mono" panose="020B0609020000020004" pitchFamily="49" charset="0"/>
              </a:rPr>
              <a:t>]</a:t>
            </a:r>
          </a:p>
          <a:p>
            <a:pPr marL="0" indent="0">
              <a:buNone/>
            </a:pPr>
            <a:r>
              <a:rPr lang="en-US" sz="1300" dirty="0">
                <a:solidFill>
                  <a:srgbClr val="0000FF"/>
                </a:solidFill>
                <a:latin typeface="Cascadia Mono" panose="020B0609020000020004" pitchFamily="49" charset="0"/>
              </a:rPr>
              <a:t>internal</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class</a:t>
            </a:r>
            <a:r>
              <a:rPr lang="en-US" sz="1300" dirty="0">
                <a:solidFill>
                  <a:srgbClr val="000000"/>
                </a:solidFill>
                <a:latin typeface="Cascadia Mono" panose="020B0609020000020004" pitchFamily="49" charset="0"/>
              </a:rPr>
              <a:t> </a:t>
            </a:r>
            <a:r>
              <a:rPr lang="en-US" sz="1300" dirty="0" err="1">
                <a:solidFill>
                  <a:srgbClr val="2B91AF"/>
                </a:solidFill>
                <a:latin typeface="Cascadia Mono" panose="020B0609020000020004" pitchFamily="49" charset="0"/>
              </a:rPr>
              <a:t>GenericHelpGroup</a:t>
            </a:r>
            <a:r>
              <a:rPr lang="en-US" sz="1300" dirty="0">
                <a:solidFill>
                  <a:srgbClr val="000000"/>
                </a:solidFill>
                <a:latin typeface="Cascadia Mono" panose="020B0609020000020004" pitchFamily="49" charset="0"/>
              </a:rPr>
              <a:t> : </a:t>
            </a:r>
            <a:r>
              <a:rPr lang="en-US" sz="1300" dirty="0" err="1">
                <a:solidFill>
                  <a:srgbClr val="2B91AF"/>
                </a:solidFill>
                <a:latin typeface="Cascadia Mono" panose="020B0609020000020004" pitchFamily="49" charset="0"/>
              </a:rPr>
              <a:t>HelpGroup</a:t>
            </a:r>
            <a:endParaRPr lang="en-US" sz="1300" dirty="0">
              <a:solidFill>
                <a:srgbClr val="000000"/>
              </a:solidFill>
              <a:latin typeface="Cascadia Mono" panose="020B0609020000020004" pitchFamily="49" charset="0"/>
            </a:endParaRPr>
          </a:p>
          <a:p>
            <a:pPr marL="0" indent="0">
              <a:buNone/>
            </a:pPr>
            <a:r>
              <a:rPr lang="en-US" sz="1300" dirty="0">
                <a:solidFill>
                  <a:srgbClr val="000000"/>
                </a:solidFill>
                <a:latin typeface="Cascadia Mono" panose="020B0609020000020004" pitchFamily="49" charset="0"/>
              </a:rPr>
              <a:t>{</a:t>
            </a:r>
          </a:p>
          <a:p>
            <a:pPr marL="0" indent="0">
              <a:buNone/>
            </a:pP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public</a:t>
            </a:r>
            <a:r>
              <a:rPr lang="en-US" sz="1300" dirty="0">
                <a:solidFill>
                  <a:srgbClr val="000000"/>
                </a:solidFill>
                <a:latin typeface="Cascadia Mono" panose="020B0609020000020004" pitchFamily="49" charset="0"/>
              </a:rPr>
              <a:t> </a:t>
            </a:r>
            <a:r>
              <a:rPr lang="en-US" sz="1300" dirty="0" err="1">
                <a:solidFill>
                  <a:srgbClr val="2B91AF"/>
                </a:solidFill>
                <a:latin typeface="Cascadia Mono" panose="020B0609020000020004" pitchFamily="49" charset="0"/>
              </a:rPr>
              <a:t>GenericHelpGroup</a:t>
            </a:r>
            <a:r>
              <a:rPr lang="en-US" sz="1300" dirty="0">
                <a:solidFill>
                  <a:srgbClr val="000000"/>
                </a:solidFill>
                <a:latin typeface="Cascadia Mono" panose="020B0609020000020004" pitchFamily="49" charset="0"/>
              </a:rPr>
              <a:t>(</a:t>
            </a:r>
            <a:r>
              <a:rPr lang="en-US" sz="1300" dirty="0">
                <a:solidFill>
                  <a:srgbClr val="2B91AF"/>
                </a:solidFill>
                <a:latin typeface="Cascadia Mono" panose="020B0609020000020004" pitchFamily="49" charset="0"/>
              </a:rPr>
              <a:t>Game</a:t>
            </a:r>
            <a:r>
              <a:rPr lang="en-US" sz="1300" dirty="0">
                <a:solidFill>
                  <a:srgbClr val="000000"/>
                </a:solidFill>
                <a:latin typeface="Cascadia Mono" panose="020B0609020000020004" pitchFamily="49" charset="0"/>
              </a:rPr>
              <a:t> </a:t>
            </a:r>
            <a:r>
              <a:rPr lang="en-US" sz="1300" dirty="0" err="1">
                <a:solidFill>
                  <a:srgbClr val="000000"/>
                </a:solidFill>
                <a:latin typeface="Cascadia Mono" panose="020B0609020000020004" pitchFamily="49" charset="0"/>
              </a:rPr>
              <a:t>game</a:t>
            </a:r>
            <a:r>
              <a:rPr lang="en-US" sz="1300" dirty="0">
                <a:solidFill>
                  <a:srgbClr val="000000"/>
                </a:solidFill>
                <a:latin typeface="Cascadia Mono" panose="020B0609020000020004" pitchFamily="49" charset="0"/>
              </a:rPr>
              <a:t>, </a:t>
            </a:r>
            <a:r>
              <a:rPr lang="en-US" sz="1300" dirty="0" err="1">
                <a:solidFill>
                  <a:srgbClr val="2B91AF"/>
                </a:solidFill>
                <a:latin typeface="Cascadia Mono" panose="020B0609020000020004" pitchFamily="49" charset="0"/>
              </a:rPr>
              <a:t>HelpGroupGameConfiguration</a:t>
            </a:r>
            <a:r>
              <a:rPr lang="en-US" sz="1300" dirty="0">
                <a:solidFill>
                  <a:srgbClr val="000000"/>
                </a:solidFill>
                <a:latin typeface="Cascadia Mono" panose="020B0609020000020004" pitchFamily="49" charset="0"/>
              </a:rPr>
              <a:t> </a:t>
            </a:r>
            <a:r>
              <a:rPr lang="en-US" sz="1300" dirty="0" err="1">
                <a:solidFill>
                  <a:srgbClr val="000000"/>
                </a:solidFill>
                <a:latin typeface="Cascadia Mono" panose="020B0609020000020004" pitchFamily="49" charset="0"/>
              </a:rPr>
              <a:t>helpGroupDefinition</a:t>
            </a:r>
            <a:r>
              <a:rPr lang="en-US" sz="1300" dirty="0">
                <a:solidFill>
                  <a:srgbClr val="000000"/>
                </a:solidFill>
                <a:latin typeface="Cascadia Mono" panose="020B0609020000020004" pitchFamily="49" charset="0"/>
              </a:rPr>
              <a:t>) : </a:t>
            </a:r>
            <a:r>
              <a:rPr lang="en-US" sz="1300" dirty="0">
                <a:solidFill>
                  <a:srgbClr val="0000FF"/>
                </a:solidFill>
                <a:latin typeface="Cascadia Mono" panose="020B0609020000020004" pitchFamily="49" charset="0"/>
              </a:rPr>
              <a:t>base</a:t>
            </a:r>
            <a:r>
              <a:rPr lang="en-US" sz="1300" dirty="0">
                <a:solidFill>
                  <a:srgbClr val="000000"/>
                </a:solidFill>
                <a:latin typeface="Cascadia Mono" panose="020B0609020000020004" pitchFamily="49" charset="0"/>
              </a:rPr>
              <a:t>(game)</a:t>
            </a:r>
          </a:p>
          <a:p>
            <a:pPr marL="0" indent="0">
              <a:buNone/>
            </a:pPr>
            <a:r>
              <a:rPr lang="en-US" sz="1300" dirty="0">
                <a:solidFill>
                  <a:srgbClr val="000000"/>
                </a:solidFill>
                <a:latin typeface="Cascadia Mono" panose="020B0609020000020004" pitchFamily="49" charset="0"/>
              </a:rPr>
              <a:t>    {</a:t>
            </a:r>
          </a:p>
          <a:p>
            <a:pPr marL="0" indent="0">
              <a:buNone/>
            </a:pPr>
            <a:r>
              <a:rPr lang="en-US" sz="1300" dirty="0">
                <a:solidFill>
                  <a:srgbClr val="000000"/>
                </a:solidFill>
                <a:latin typeface="Cascadia Mono" panose="020B0609020000020004" pitchFamily="49" charset="0"/>
              </a:rPr>
              <a:t>        Key = </a:t>
            </a:r>
            <a:r>
              <a:rPr lang="en-US" sz="1300" dirty="0" err="1">
                <a:solidFill>
                  <a:srgbClr val="000000"/>
                </a:solidFill>
                <a:latin typeface="Cascadia Mono" panose="020B0609020000020004" pitchFamily="49" charset="0"/>
              </a:rPr>
              <a:t>helpGroupDefinition.Key</a:t>
            </a:r>
            <a:r>
              <a:rPr lang="en-US" sz="1300" dirty="0">
                <a:solidFill>
                  <a:srgbClr val="000000"/>
                </a:solidFill>
                <a:latin typeface="Cascadia Mono" panose="020B0609020000020004" pitchFamily="49" charset="0"/>
              </a:rPr>
              <a:t>;</a:t>
            </a:r>
          </a:p>
          <a:p>
            <a:pPr marL="0" indent="0">
              <a:buNone/>
            </a:pPr>
            <a:r>
              <a:rPr lang="en-US" sz="1300" dirty="0">
                <a:solidFill>
                  <a:srgbClr val="000000"/>
                </a:solidFill>
                <a:latin typeface="Cascadia Mono" panose="020B0609020000020004" pitchFamily="49" charset="0"/>
              </a:rPr>
              <a:t>        </a:t>
            </a:r>
            <a:r>
              <a:rPr lang="en-US" sz="1300" dirty="0" err="1">
                <a:solidFill>
                  <a:srgbClr val="000000"/>
                </a:solidFill>
                <a:latin typeface="Cascadia Mono" panose="020B0609020000020004" pitchFamily="49" charset="0"/>
              </a:rPr>
              <a:t>SortIndex</a:t>
            </a:r>
            <a:r>
              <a:rPr lang="en-US" sz="1300" dirty="0">
                <a:solidFill>
                  <a:srgbClr val="000000"/>
                </a:solidFill>
                <a:latin typeface="Cascadia Mono" panose="020B0609020000020004" pitchFamily="49" charset="0"/>
              </a:rPr>
              <a:t> = </a:t>
            </a:r>
            <a:r>
              <a:rPr lang="en-US" sz="1300" dirty="0" err="1">
                <a:solidFill>
                  <a:srgbClr val="000000"/>
                </a:solidFill>
                <a:latin typeface="Cascadia Mono" panose="020B0609020000020004" pitchFamily="49" charset="0"/>
              </a:rPr>
              <a:t>helpGroupDefinition.SortIndex</a:t>
            </a:r>
            <a:r>
              <a:rPr lang="en-US" sz="1300" dirty="0">
                <a:solidFill>
                  <a:srgbClr val="000000"/>
                </a:solidFill>
                <a:latin typeface="Cascadia Mono" panose="020B0609020000020004" pitchFamily="49" charset="0"/>
              </a:rPr>
              <a:t>;</a:t>
            </a:r>
          </a:p>
          <a:p>
            <a:pPr marL="0" indent="0">
              <a:buNone/>
            </a:pPr>
            <a:r>
              <a:rPr lang="en-US" sz="1300" dirty="0">
                <a:solidFill>
                  <a:srgbClr val="000000"/>
                </a:solidFill>
                <a:latin typeface="Cascadia Mono" panose="020B0609020000020004" pitchFamily="49" charset="0"/>
              </a:rPr>
              <a:t>        Title = </a:t>
            </a:r>
            <a:r>
              <a:rPr lang="en-US" sz="1300" dirty="0" err="1">
                <a:solidFill>
                  <a:srgbClr val="000000"/>
                </a:solidFill>
                <a:latin typeface="Cascadia Mono" panose="020B0609020000020004" pitchFamily="49" charset="0"/>
              </a:rPr>
              <a:t>helpGroupDefinition.Title</a:t>
            </a:r>
            <a:r>
              <a:rPr lang="en-US" sz="1300" dirty="0">
                <a:solidFill>
                  <a:srgbClr val="000000"/>
                </a:solidFill>
                <a:latin typeface="Cascadia Mono" panose="020B0609020000020004" pitchFamily="49" charset="0"/>
              </a:rPr>
              <a:t>;</a:t>
            </a:r>
          </a:p>
          <a:p>
            <a:pPr marL="0" indent="0">
              <a:buNone/>
            </a:pPr>
            <a:r>
              <a:rPr lang="en-US" sz="1300" dirty="0">
                <a:solidFill>
                  <a:srgbClr val="000000"/>
                </a:solidFill>
                <a:latin typeface="Cascadia Mono" panose="020B0609020000020004" pitchFamily="49" charset="0"/>
              </a:rPr>
              <a:t>    }</a:t>
            </a:r>
          </a:p>
          <a:p>
            <a:pPr marL="0" indent="0">
              <a:buNone/>
            </a:pP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public</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override</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string</a:t>
            </a:r>
            <a:r>
              <a:rPr lang="en-US" sz="1300" dirty="0">
                <a:solidFill>
                  <a:srgbClr val="000000"/>
                </a:solidFill>
                <a:latin typeface="Cascadia Mono" panose="020B0609020000020004" pitchFamily="49" charset="0"/>
              </a:rPr>
              <a:t> Key { </a:t>
            </a:r>
            <a:r>
              <a:rPr lang="en-US" sz="1300" dirty="0">
                <a:solidFill>
                  <a:srgbClr val="0000FF"/>
                </a:solidFill>
                <a:latin typeface="Cascadia Mono" panose="020B0609020000020004" pitchFamily="49" charset="0"/>
              </a:rPr>
              <a:t>get</a:t>
            </a:r>
            <a:r>
              <a:rPr lang="en-US" sz="1300" dirty="0">
                <a:solidFill>
                  <a:srgbClr val="000000"/>
                </a:solidFill>
                <a:latin typeface="Cascadia Mono" panose="020B0609020000020004" pitchFamily="49" charset="0"/>
              </a:rPr>
              <a:t>; }</a:t>
            </a:r>
          </a:p>
          <a:p>
            <a:pPr marL="0" indent="0">
              <a:buNone/>
            </a:pP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public</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override</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string</a:t>
            </a:r>
            <a:r>
              <a:rPr lang="en-US" sz="1300" dirty="0">
                <a:solidFill>
                  <a:srgbClr val="000000"/>
                </a:solidFill>
                <a:latin typeface="Cascadia Mono" panose="020B0609020000020004" pitchFamily="49" charset="0"/>
              </a:rPr>
              <a:t> Title { </a:t>
            </a:r>
            <a:r>
              <a:rPr lang="en-US" sz="1300" dirty="0">
                <a:solidFill>
                  <a:srgbClr val="0000FF"/>
                </a:solidFill>
                <a:latin typeface="Cascadia Mono" panose="020B0609020000020004" pitchFamily="49" charset="0"/>
              </a:rPr>
              <a:t>get</a:t>
            </a:r>
            <a:r>
              <a:rPr lang="en-US" sz="1300" dirty="0">
                <a:solidFill>
                  <a:srgbClr val="000000"/>
                </a:solidFill>
                <a:latin typeface="Cascadia Mono" panose="020B0609020000020004" pitchFamily="49" charset="0"/>
              </a:rPr>
              <a:t>; }</a:t>
            </a:r>
          </a:p>
          <a:p>
            <a:pPr marL="0" indent="0">
              <a:buNone/>
            </a:pP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public</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override</a:t>
            </a:r>
            <a:r>
              <a:rPr lang="en-US" sz="1300" dirty="0">
                <a:solidFill>
                  <a:srgbClr val="000000"/>
                </a:solidFill>
                <a:latin typeface="Cascadia Mono" panose="020B0609020000020004" pitchFamily="49" charset="0"/>
              </a:rPr>
              <a:t> </a:t>
            </a:r>
            <a:r>
              <a:rPr lang="en-US" sz="1300" dirty="0">
                <a:solidFill>
                  <a:srgbClr val="0000FF"/>
                </a:solidFill>
                <a:latin typeface="Cascadia Mono" panose="020B0609020000020004" pitchFamily="49" charset="0"/>
              </a:rPr>
              <a:t>int</a:t>
            </a:r>
            <a:r>
              <a:rPr lang="en-US" sz="1300" dirty="0">
                <a:solidFill>
                  <a:srgbClr val="000000"/>
                </a:solidFill>
                <a:latin typeface="Cascadia Mono" panose="020B0609020000020004" pitchFamily="49" charset="0"/>
              </a:rPr>
              <a:t> </a:t>
            </a:r>
            <a:r>
              <a:rPr lang="en-US" sz="1300" dirty="0" err="1">
                <a:solidFill>
                  <a:srgbClr val="000000"/>
                </a:solidFill>
                <a:latin typeface="Cascadia Mono" panose="020B0609020000020004" pitchFamily="49" charset="0"/>
              </a:rPr>
              <a:t>SortIndex</a:t>
            </a:r>
            <a:r>
              <a:rPr lang="en-US" sz="1300" dirty="0">
                <a:solidFill>
                  <a:srgbClr val="000000"/>
                </a:solidFill>
                <a:latin typeface="Cascadia Mono" panose="020B0609020000020004" pitchFamily="49" charset="0"/>
              </a:rPr>
              <a:t> { </a:t>
            </a:r>
            <a:r>
              <a:rPr lang="en-US" sz="1300" dirty="0">
                <a:solidFill>
                  <a:srgbClr val="0000FF"/>
                </a:solidFill>
                <a:latin typeface="Cascadia Mono" panose="020B0609020000020004" pitchFamily="49" charset="0"/>
              </a:rPr>
              <a:t>get</a:t>
            </a:r>
            <a:r>
              <a:rPr lang="en-US" sz="1300" dirty="0">
                <a:solidFill>
                  <a:srgbClr val="000000"/>
                </a:solidFill>
                <a:latin typeface="Cascadia Mono" panose="020B0609020000020004" pitchFamily="49" charset="0"/>
              </a:rPr>
              <a:t>; }</a:t>
            </a:r>
          </a:p>
          <a:p>
            <a:pPr marL="0" indent="0">
              <a:buNone/>
            </a:pPr>
            <a:r>
              <a:rPr lang="en-US" sz="1300" dirty="0">
                <a:solidFill>
                  <a:srgbClr val="000000"/>
                </a:solidFill>
                <a:latin typeface="Cascadia Mono" panose="020B0609020000020004" pitchFamily="49" charset="0"/>
              </a:rPr>
              <a:t>}</a:t>
            </a:r>
          </a:p>
          <a:p>
            <a:pPr marL="0" indent="0">
              <a:buNone/>
            </a:pPr>
            <a:endParaRPr lang="en-US" dirty="0"/>
          </a:p>
        </p:txBody>
      </p:sp>
    </p:spTree>
    <p:extLst>
      <p:ext uri="{BB962C8B-B14F-4D97-AF65-F5344CB8AC3E}">
        <p14:creationId xmlns:p14="http://schemas.microsoft.com/office/powerpoint/2010/main" val="2212574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1E55-145F-88A9-6F87-B34B9BA2561B}"/>
              </a:ext>
            </a:extLst>
          </p:cNvPr>
          <p:cNvSpPr>
            <a:spLocks noGrp="1"/>
          </p:cNvSpPr>
          <p:nvPr>
            <p:ph type="title"/>
          </p:nvPr>
        </p:nvSpPr>
        <p:spPr/>
        <p:txBody>
          <a:bodyPr/>
          <a:lstStyle/>
          <a:p>
            <a:r>
              <a:rPr lang="en-US" dirty="0"/>
              <a:t>API Object Serialization</a:t>
            </a:r>
          </a:p>
        </p:txBody>
      </p:sp>
      <p:sp>
        <p:nvSpPr>
          <p:cNvPr id="3" name="Content Placeholder 2">
            <a:extLst>
              <a:ext uri="{FF2B5EF4-FFF2-40B4-BE49-F238E27FC236}">
                <a16:creationId xmlns:a16="http://schemas.microsoft.com/office/drawing/2014/main" id="{08781D79-BC0F-6945-6B95-BD4D1ABD90C6}"/>
              </a:ext>
            </a:extLst>
          </p:cNvPr>
          <p:cNvSpPr>
            <a:spLocks noGrp="1"/>
          </p:cNvSpPr>
          <p:nvPr>
            <p:ph idx="1"/>
          </p:nvPr>
        </p:nvSpPr>
        <p:spPr/>
        <p:txBody>
          <a:bodyPr/>
          <a:lstStyle/>
          <a:p>
            <a:r>
              <a:rPr lang="en-US" dirty="0"/>
              <a:t>API Objects must implement the </a:t>
            </a:r>
            <a:r>
              <a:rPr lang="en-US" dirty="0" err="1"/>
              <a:t>IToJson</a:t>
            </a:r>
            <a:r>
              <a:rPr lang="en-US" dirty="0"/>
              <a:t> interface for serialization.  Eventually, the </a:t>
            </a:r>
            <a:r>
              <a:rPr lang="en-US" dirty="0" err="1"/>
              <a:t>IToJson</a:t>
            </a:r>
            <a:r>
              <a:rPr lang="en-US" dirty="0"/>
              <a:t> interface will be merged with the </a:t>
            </a:r>
            <a:r>
              <a:rPr lang="en-US" dirty="0" err="1"/>
              <a:t>IGetKey</a:t>
            </a:r>
            <a:r>
              <a:rPr lang="en-US" dirty="0"/>
              <a:t> interface.</a:t>
            </a:r>
          </a:p>
          <a:p>
            <a:r>
              <a:rPr lang="en-US" dirty="0"/>
              <a:t>Generic API Objects must append a </a:t>
            </a:r>
            <a:r>
              <a:rPr lang="en-US" dirty="0" err="1"/>
              <a:t>GameConfiguration</a:t>
            </a:r>
            <a:r>
              <a:rPr lang="en-US" dirty="0"/>
              <a:t> object to the constructor and assign the </a:t>
            </a:r>
            <a:r>
              <a:rPr lang="en-US" dirty="0" err="1"/>
              <a:t>GameConfiguration</a:t>
            </a:r>
            <a:r>
              <a:rPr lang="en-US" dirty="0"/>
              <a:t> properties to the properties of the generic API object.</a:t>
            </a:r>
          </a:p>
          <a:p>
            <a:endParaRPr lang="en-US" dirty="0"/>
          </a:p>
          <a:p>
            <a:endParaRPr lang="en-US" dirty="0"/>
          </a:p>
        </p:txBody>
      </p:sp>
    </p:spTree>
    <p:extLst>
      <p:ext uri="{BB962C8B-B14F-4D97-AF65-F5344CB8AC3E}">
        <p14:creationId xmlns:p14="http://schemas.microsoft.com/office/powerpoint/2010/main" val="2117860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06A12-9689-1867-84F8-B9F88296B75E}"/>
              </a:ext>
            </a:extLst>
          </p:cNvPr>
          <p:cNvSpPr>
            <a:spLocks noGrp="1"/>
          </p:cNvSpPr>
          <p:nvPr>
            <p:ph type="title"/>
          </p:nvPr>
        </p:nvSpPr>
        <p:spPr/>
        <p:txBody>
          <a:bodyPr/>
          <a:lstStyle/>
          <a:p>
            <a:r>
              <a:rPr lang="en-US" dirty="0"/>
              <a:t>Game Pack Objects</a:t>
            </a:r>
          </a:p>
        </p:txBody>
      </p:sp>
      <p:sp>
        <p:nvSpPr>
          <p:cNvPr id="3" name="Content Placeholder 2">
            <a:extLst>
              <a:ext uri="{FF2B5EF4-FFF2-40B4-BE49-F238E27FC236}">
                <a16:creationId xmlns:a16="http://schemas.microsoft.com/office/drawing/2014/main" id="{FF9FAB0B-07FF-0D76-0D3F-A95780817835}"/>
              </a:ext>
            </a:extLst>
          </p:cNvPr>
          <p:cNvSpPr>
            <a:spLocks noGrp="1"/>
          </p:cNvSpPr>
          <p:nvPr>
            <p:ph idx="1"/>
          </p:nvPr>
        </p:nvSpPr>
        <p:spPr/>
        <p:txBody>
          <a:bodyPr>
            <a:normAutofit fontScale="85000" lnSpcReduction="10000"/>
          </a:bodyPr>
          <a:lstStyle/>
          <a:p>
            <a:r>
              <a:rPr lang="en-US" dirty="0"/>
              <a:t>Are light-weight, by definition.</a:t>
            </a:r>
          </a:p>
          <a:p>
            <a:r>
              <a:rPr lang="en-US" dirty="0"/>
              <a:t>Implement an API Object as a base class.</a:t>
            </a:r>
          </a:p>
          <a:p>
            <a:r>
              <a:rPr lang="en-US" dirty="0"/>
              <a:t>Cannot override API Object or API Base Object methods</a:t>
            </a:r>
          </a:p>
          <a:p>
            <a:r>
              <a:rPr lang="en-US" dirty="0"/>
              <a:t>Override all abstract properties to provide required values for functionality.</a:t>
            </a:r>
          </a:p>
          <a:p>
            <a:r>
              <a:rPr lang="en-US" dirty="0"/>
              <a:t>Optionally, override virtual properties to provide alternate values, as desired.</a:t>
            </a:r>
          </a:p>
          <a:p>
            <a:r>
              <a:rPr lang="en-US" dirty="0"/>
              <a:t>Must specify a private access modifier for the constructor.</a:t>
            </a:r>
          </a:p>
          <a:p>
            <a:r>
              <a:rPr lang="en-US" dirty="0"/>
              <a:t>Cannot have any other constructors.</a:t>
            </a:r>
          </a:p>
          <a:p>
            <a:r>
              <a:rPr lang="en-US" dirty="0"/>
              <a:t>Constructor must accept a single parameter for the Game and pass it to the base API object.</a:t>
            </a:r>
          </a:p>
          <a:p>
            <a:r>
              <a:rPr lang="en-US" dirty="0"/>
              <a:t>Never maintain state.</a:t>
            </a:r>
          </a:p>
          <a:p>
            <a:endParaRPr lang="en-US" dirty="0"/>
          </a:p>
        </p:txBody>
      </p:sp>
    </p:spTree>
    <p:extLst>
      <p:ext uri="{BB962C8B-B14F-4D97-AF65-F5344CB8AC3E}">
        <p14:creationId xmlns:p14="http://schemas.microsoft.com/office/powerpoint/2010/main" val="2843370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2314-9444-78BC-7431-72B0112244EC}"/>
              </a:ext>
            </a:extLst>
          </p:cNvPr>
          <p:cNvSpPr>
            <a:spLocks noGrp="1"/>
          </p:cNvSpPr>
          <p:nvPr>
            <p:ph type="title"/>
          </p:nvPr>
        </p:nvSpPr>
        <p:spPr/>
        <p:txBody>
          <a:bodyPr/>
          <a:lstStyle/>
          <a:p>
            <a:r>
              <a:rPr lang="en-US" dirty="0"/>
              <a:t>Game Pack Object Example</a:t>
            </a:r>
          </a:p>
        </p:txBody>
      </p:sp>
      <p:sp>
        <p:nvSpPr>
          <p:cNvPr id="3" name="Content Placeholder 2">
            <a:extLst>
              <a:ext uri="{FF2B5EF4-FFF2-40B4-BE49-F238E27FC236}">
                <a16:creationId xmlns:a16="http://schemas.microsoft.com/office/drawing/2014/main" id="{E31363C7-035C-692A-68AA-69274F4FDB09}"/>
              </a:ext>
            </a:extLst>
          </p:cNvPr>
          <p:cNvSpPr>
            <a:spLocks noGrp="1"/>
          </p:cNvSpPr>
          <p:nvPr>
            <p:ph idx="1"/>
          </p:nvPr>
        </p:nvSpPr>
        <p:spPr/>
        <p:txBody>
          <a:bodyPr>
            <a:normAutofit/>
          </a:bodyPr>
          <a:lstStyle/>
          <a:p>
            <a:pPr marL="0" indent="0">
              <a:buNone/>
            </a:pP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Serializable</a:t>
            </a:r>
            <a:r>
              <a:rPr lang="en-US" sz="1200" dirty="0">
                <a:solidFill>
                  <a:srgbClr val="000000"/>
                </a:solidFill>
                <a:latin typeface="Cascadia Mono" panose="020B0609020000020004" pitchFamily="49" charset="0"/>
              </a:rPr>
              <a:t>]</a:t>
            </a:r>
          </a:p>
          <a:p>
            <a:pPr marL="0" indent="0">
              <a:buNone/>
            </a:pPr>
            <a:r>
              <a:rPr lang="en-US" sz="1200" dirty="0">
                <a:solidFill>
                  <a:srgbClr val="0000FF"/>
                </a:solidFill>
                <a:latin typeface="Cascadia Mono" panose="020B0609020000020004" pitchFamily="49" charset="0"/>
              </a:rPr>
              <a:t>internal</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HagargRyonisGod</a:t>
            </a:r>
            <a:r>
              <a:rPr lang="en-US" sz="1200" dirty="0">
                <a:solidFill>
                  <a:srgbClr val="000000"/>
                </a:solidFill>
                <a:latin typeface="Cascadia Mono" panose="020B0609020000020004" pitchFamily="49" charset="0"/>
              </a:rPr>
              <a:t> : </a:t>
            </a:r>
            <a:r>
              <a:rPr lang="en-US" sz="1200" dirty="0">
                <a:solidFill>
                  <a:srgbClr val="2B91AF"/>
                </a:solidFill>
                <a:latin typeface="Cascadia Mono" panose="020B0609020000020004" pitchFamily="49" charset="0"/>
              </a:rPr>
              <a:t>God</a:t>
            </a:r>
            <a:endParaRPr lang="en-US" sz="1200" dirty="0">
              <a:solidFill>
                <a:srgbClr val="000000"/>
              </a:solidFill>
              <a:latin typeface="Cascadia Mono" panose="020B0609020000020004" pitchFamily="49" charset="0"/>
            </a:endParaRPr>
          </a:p>
          <a:p>
            <a:pPr marL="0" indent="0">
              <a:buNone/>
            </a:pPr>
            <a:r>
              <a:rPr lang="en-US" sz="1200" dirty="0">
                <a:solidFill>
                  <a:srgbClr val="000000"/>
                </a:solidFill>
                <a:latin typeface="Cascadia Mono" panose="020B0609020000020004" pitchFamily="49" charset="0"/>
              </a:rPr>
              <a:t>{</a:t>
            </a:r>
          </a:p>
          <a:p>
            <a:pPr marL="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private</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HagargRyonisGod</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Game</a:t>
            </a:r>
            <a:r>
              <a:rPr lang="en-US" sz="1200" dirty="0">
                <a:solidFill>
                  <a:srgbClr val="000000"/>
                </a:solidFill>
                <a:latin typeface="Cascadia Mono" panose="020B0609020000020004" pitchFamily="49" charset="0"/>
              </a:rPr>
              <a:t> game) : </a:t>
            </a:r>
            <a:r>
              <a:rPr lang="en-US" sz="1200" dirty="0">
                <a:solidFill>
                  <a:srgbClr val="0000FF"/>
                </a:solidFill>
                <a:latin typeface="Cascadia Mono" panose="020B0609020000020004" pitchFamily="49" charset="0"/>
              </a:rPr>
              <a:t>base</a:t>
            </a:r>
            <a:r>
              <a:rPr lang="en-US" sz="1200" dirty="0">
                <a:solidFill>
                  <a:srgbClr val="000000"/>
                </a:solidFill>
                <a:latin typeface="Cascadia Mono" panose="020B0609020000020004" pitchFamily="49" charset="0"/>
              </a:rPr>
              <a:t>(game) { } </a:t>
            </a:r>
            <a:r>
              <a:rPr lang="en-US" sz="1200" dirty="0">
                <a:solidFill>
                  <a:srgbClr val="008000"/>
                </a:solidFill>
                <a:latin typeface="Cascadia Mono" panose="020B0609020000020004" pitchFamily="49" charset="0"/>
              </a:rPr>
              <a:t>// This object is a singleton.</a:t>
            </a:r>
            <a:endParaRPr lang="en-US" sz="1200" dirty="0">
              <a:solidFill>
                <a:srgbClr val="000000"/>
              </a:solidFill>
              <a:latin typeface="Cascadia Mono" panose="020B0609020000020004" pitchFamily="49" charset="0"/>
            </a:endParaRPr>
          </a:p>
          <a:p>
            <a:pPr marL="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override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LongName</a:t>
            </a:r>
            <a:r>
              <a:rPr lang="en-US" sz="1200" dirty="0">
                <a:solidFill>
                  <a:srgbClr val="000000"/>
                </a:solidFill>
                <a:latin typeface="Cascadia Mono" panose="020B0609020000020004" pitchFamily="49" charset="0"/>
              </a:rPr>
              <a:t> =&gt;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Hagarg</a:t>
            </a:r>
            <a:r>
              <a:rPr lang="en-US" sz="1200" dirty="0">
                <a:solidFill>
                  <a:srgbClr val="A31515"/>
                </a:solidFill>
                <a:latin typeface="Cascadia Mono" panose="020B0609020000020004" pitchFamily="49" charset="0"/>
              </a:rPr>
              <a:t> </a:t>
            </a:r>
            <a:r>
              <a:rPr lang="en-US" sz="1200" dirty="0" err="1">
                <a:solidFill>
                  <a:srgbClr val="A31515"/>
                </a:solidFill>
                <a:latin typeface="Cascadia Mono" panose="020B0609020000020004" pitchFamily="49" charset="0"/>
              </a:rPr>
              <a:t>Ryonis</a:t>
            </a:r>
            <a:r>
              <a:rPr lang="en-US" sz="1200" dirty="0">
                <a:solidFill>
                  <a:srgbClr val="A31515"/>
                </a:solidFill>
                <a:latin typeface="Cascadia Mono" panose="020B0609020000020004" pitchFamily="49" charset="0"/>
              </a:rPr>
              <a:t>, goddess of beasts"</a:t>
            </a:r>
            <a:r>
              <a:rPr lang="en-US" sz="1200" dirty="0">
                <a:solidFill>
                  <a:srgbClr val="000000"/>
                </a:solidFill>
                <a:latin typeface="Cascadia Mono" panose="020B0609020000020004" pitchFamily="49" charset="0"/>
              </a:rPr>
              <a:t>;</a:t>
            </a:r>
          </a:p>
          <a:p>
            <a:pPr marL="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override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ShortName</a:t>
            </a:r>
            <a:r>
              <a:rPr lang="en-US" sz="1200" dirty="0">
                <a:solidFill>
                  <a:srgbClr val="000000"/>
                </a:solidFill>
                <a:latin typeface="Cascadia Mono" panose="020B0609020000020004" pitchFamily="49" charset="0"/>
              </a:rPr>
              <a:t> =&gt;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Hagarg</a:t>
            </a:r>
            <a:r>
              <a:rPr lang="en-US" sz="1200" dirty="0">
                <a:solidFill>
                  <a:srgbClr val="A31515"/>
                </a:solidFill>
                <a:latin typeface="Cascadia Mono" panose="020B0609020000020004" pitchFamily="49" charset="0"/>
              </a:rPr>
              <a:t> </a:t>
            </a:r>
            <a:r>
              <a:rPr lang="en-US" sz="1200" dirty="0" err="1">
                <a:solidFill>
                  <a:srgbClr val="A31515"/>
                </a:solidFill>
                <a:latin typeface="Cascadia Mono" panose="020B0609020000020004" pitchFamily="49" charset="0"/>
              </a:rPr>
              <a:t>Ryonis</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pPr marL="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override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FavorDescription</a:t>
            </a:r>
            <a:r>
              <a:rPr lang="en-US" sz="1200" dirty="0">
                <a:solidFill>
                  <a:srgbClr val="000000"/>
                </a:solidFill>
                <a:latin typeface="Cascadia Mono" panose="020B0609020000020004" pitchFamily="49" charset="0"/>
              </a:rPr>
              <a:t> =&gt; </a:t>
            </a:r>
            <a:r>
              <a:rPr lang="en-US" sz="1200" dirty="0">
                <a:solidFill>
                  <a:srgbClr val="A31515"/>
                </a:solidFill>
                <a:latin typeface="Cascadia Mono" panose="020B0609020000020004" pitchFamily="49" charset="0"/>
              </a:rPr>
              <a:t>" ({0}% chance to avoid poison/life drain)"</a:t>
            </a:r>
            <a:r>
              <a:rPr lang="en-US" sz="1200" dirty="0">
                <a:solidFill>
                  <a:srgbClr val="000000"/>
                </a:solidFill>
                <a:latin typeface="Cascadia Mono" panose="020B0609020000020004" pitchFamily="49" charset="0"/>
              </a:rPr>
              <a:t>;</a:t>
            </a:r>
          </a:p>
          <a:p>
            <a:pPr marL="0" indent="0">
              <a:buNone/>
            </a:pPr>
            <a:r>
              <a:rPr lang="en-US" sz="1200" dirty="0">
                <a:solidFill>
                  <a:srgbClr val="000000"/>
                </a:solidFill>
                <a:latin typeface="Cascadia Mono" panose="020B0609020000020004" pitchFamily="49" charset="0"/>
              </a:rPr>
              <a:t>}</a:t>
            </a:r>
            <a:endParaRPr lang="en-US" sz="1200" dirty="0"/>
          </a:p>
        </p:txBody>
      </p:sp>
    </p:spTree>
    <p:extLst>
      <p:ext uri="{BB962C8B-B14F-4D97-AF65-F5344CB8AC3E}">
        <p14:creationId xmlns:p14="http://schemas.microsoft.com/office/powerpoint/2010/main" val="408214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0CB4B-4C89-2749-1A44-04E00EC35BA2}"/>
              </a:ext>
            </a:extLst>
          </p:cNvPr>
          <p:cNvSpPr>
            <a:spLocks noGrp="1"/>
          </p:cNvSpPr>
          <p:nvPr>
            <p:ph type="title"/>
          </p:nvPr>
        </p:nvSpPr>
        <p:spPr/>
        <p:txBody>
          <a:bodyPr/>
          <a:lstStyle/>
          <a:p>
            <a:r>
              <a:rPr lang="en-US" dirty="0"/>
              <a:t>Binding Implementation</a:t>
            </a:r>
          </a:p>
        </p:txBody>
      </p:sp>
      <p:sp>
        <p:nvSpPr>
          <p:cNvPr id="3" name="Content Placeholder 2">
            <a:extLst>
              <a:ext uri="{FF2B5EF4-FFF2-40B4-BE49-F238E27FC236}">
                <a16:creationId xmlns:a16="http://schemas.microsoft.com/office/drawing/2014/main" id="{07FD3693-BA4E-FDA4-B2C5-4494D2747D87}"/>
              </a:ext>
            </a:extLst>
          </p:cNvPr>
          <p:cNvSpPr>
            <a:spLocks noGrp="1"/>
          </p:cNvSpPr>
          <p:nvPr>
            <p:ph idx="1"/>
          </p:nvPr>
        </p:nvSpPr>
        <p:spPr>
          <a:xfrm>
            <a:off x="838200" y="1537252"/>
            <a:ext cx="10515600" cy="4639711"/>
          </a:xfrm>
        </p:spPr>
        <p:txBody>
          <a:bodyPr>
            <a:normAutofit fontScale="62500" lnSpcReduction="20000"/>
          </a:bodyPr>
          <a:lstStyle/>
          <a:p>
            <a:pPr marL="0" indent="0">
              <a:buNone/>
            </a:pPr>
            <a:r>
              <a:rPr lang="en-US" dirty="0"/>
              <a:t>The binding phase is used  by API Objects to attach to other objects.  The </a:t>
            </a:r>
            <a:r>
              <a:rPr lang="en-US" dirty="0" err="1"/>
              <a:t>AngbandOS</a:t>
            </a:r>
            <a:r>
              <a:rPr lang="en-US" dirty="0"/>
              <a:t> core uses a two-phase process for loading API Objects.</a:t>
            </a:r>
          </a:p>
          <a:p>
            <a:pPr marL="514350" indent="-514350">
              <a:buAutoNum type="arabicPeriod"/>
            </a:pPr>
            <a:r>
              <a:rPr lang="en-US" dirty="0"/>
              <a:t>Load Phase – this phase loads all of the objects from either a game pack or by deserialization.  These objects are stored in the </a:t>
            </a:r>
            <a:r>
              <a:rPr lang="en-US" dirty="0" err="1"/>
              <a:t>Game.SingletonRepository</a:t>
            </a:r>
            <a:r>
              <a:rPr lang="en-US" dirty="0"/>
              <a:t>.</a:t>
            </a:r>
          </a:p>
          <a:p>
            <a:pPr marL="514350" indent="-514350">
              <a:buAutoNum type="arabicPeriod"/>
            </a:pPr>
            <a:r>
              <a:rPr lang="en-US" dirty="0"/>
              <a:t>Bind Phase – this phase occurs after the load phase is complete.  </a:t>
            </a:r>
            <a:r>
              <a:rPr lang="en-US" dirty="0" err="1"/>
              <a:t>AngbandOS</a:t>
            </a:r>
            <a:r>
              <a:rPr lang="en-US" dirty="0"/>
              <a:t> calls the Bind method for every API Object that was loaded.  API Objects are guaranteed that all of their dependent API objects that they need references to exist and can use the </a:t>
            </a:r>
            <a:r>
              <a:rPr lang="en-US" dirty="0" err="1"/>
              <a:t>SingletonRepository.Get</a:t>
            </a:r>
            <a:r>
              <a:rPr lang="en-US" dirty="0"/>
              <a:t> properties to generate the reference.</a:t>
            </a:r>
          </a:p>
          <a:p>
            <a:pPr marL="0" indent="0">
              <a:buNone/>
            </a:pPr>
            <a:r>
              <a:rPr lang="en-US" dirty="0"/>
              <a:t>To implement this:</a:t>
            </a:r>
          </a:p>
          <a:p>
            <a:r>
              <a:rPr lang="en-US" dirty="0"/>
              <a:t>API Objects:</a:t>
            </a:r>
          </a:p>
          <a:p>
            <a:pPr lvl="1"/>
            <a:r>
              <a:rPr lang="en-US" dirty="0"/>
              <a:t>Need to define </a:t>
            </a:r>
            <a:r>
              <a:rPr lang="en-US"/>
              <a:t>an protected abstract </a:t>
            </a:r>
            <a:r>
              <a:rPr lang="en-US" dirty="0"/>
              <a:t>property that returns a string value.  This property is considered light-weight for Generic API Objects and Game Pack objects.  The property name should have a suffix of "Key".   It should note, in the XML comments, which property receives the bound object during the bind phase.</a:t>
            </a:r>
          </a:p>
          <a:p>
            <a:pPr lvl="1"/>
            <a:r>
              <a:rPr lang="en-US" dirty="0"/>
              <a:t>Should identify in the XML comment which collection that hosts the object.  See the Singleton Collection Interface Binding slide for more information.</a:t>
            </a:r>
          </a:p>
          <a:p>
            <a:pPr lvl="1"/>
            <a:r>
              <a:rPr lang="en-US" dirty="0"/>
              <a:t>Need to define a non-abstract, non-virtual property that holds the reference to the bound object.  It should note in the XML comment which property it is using for binding during the bind phase.</a:t>
            </a:r>
          </a:p>
          <a:p>
            <a:pPr lvl="1"/>
            <a:r>
              <a:rPr lang="en-US" dirty="0"/>
              <a:t>Should call the </a:t>
            </a:r>
            <a:r>
              <a:rPr lang="en-US" dirty="0" err="1"/>
              <a:t>SingletonRepository.Get</a:t>
            </a:r>
            <a:r>
              <a:rPr lang="en-US" dirty="0"/>
              <a:t> method in the Bind method to </a:t>
            </a:r>
          </a:p>
          <a:p>
            <a:r>
              <a:rPr lang="en-US" dirty="0"/>
              <a:t>Generic API Objects and Game Pack Objects can provide the key value of the desired object.</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899274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CA20-4661-9E6B-799D-D1E05FEC65EC}"/>
              </a:ext>
            </a:extLst>
          </p:cNvPr>
          <p:cNvSpPr>
            <a:spLocks noGrp="1"/>
          </p:cNvSpPr>
          <p:nvPr>
            <p:ph type="title"/>
          </p:nvPr>
        </p:nvSpPr>
        <p:spPr/>
        <p:txBody>
          <a:bodyPr/>
          <a:lstStyle/>
          <a:p>
            <a:r>
              <a:rPr lang="en-US" dirty="0"/>
              <a:t>Binding Naming Convention</a:t>
            </a:r>
          </a:p>
        </p:txBody>
      </p:sp>
      <p:sp>
        <p:nvSpPr>
          <p:cNvPr id="3" name="Content Placeholder 2">
            <a:extLst>
              <a:ext uri="{FF2B5EF4-FFF2-40B4-BE49-F238E27FC236}">
                <a16:creationId xmlns:a16="http://schemas.microsoft.com/office/drawing/2014/main" id="{2E6DB1DC-99F9-A998-F8E9-3FB138303A85}"/>
              </a:ext>
            </a:extLst>
          </p:cNvPr>
          <p:cNvSpPr>
            <a:spLocks noGrp="1"/>
          </p:cNvSpPr>
          <p:nvPr>
            <p:ph idx="1"/>
          </p:nvPr>
        </p:nvSpPr>
        <p:spPr/>
        <p:txBody>
          <a:bodyPr>
            <a:normAutofit fontScale="77500" lnSpcReduction="20000"/>
          </a:bodyPr>
          <a:lstStyle/>
          <a:p>
            <a:pPr marL="0" indent="0">
              <a:buNone/>
            </a:pPr>
            <a:r>
              <a:rPr lang="en-US" dirty="0"/>
              <a:t>Light-weight objects often need to specify light-weight property values that are used during the binding phase to generate actual game values or bind to other objects.</a:t>
            </a:r>
          </a:p>
          <a:p>
            <a:pPr marL="0" indent="0">
              <a:buNone/>
            </a:pPr>
            <a:r>
              <a:rPr lang="en-US" dirty="0" err="1"/>
              <a:t>AngbandOS</a:t>
            </a:r>
            <a:r>
              <a:rPr lang="en-US" dirty="0"/>
              <a:t> uses a couple naming conventions for the properties that participate in this binding convention.  </a:t>
            </a:r>
          </a:p>
          <a:p>
            <a:pPr marL="514350" indent="-514350">
              <a:buAutoNum type="arabicPeriod"/>
            </a:pPr>
            <a:r>
              <a:rPr lang="en-US" dirty="0"/>
              <a:t>Light-weight properties that use a string data-type to specify the key value of another object are given a suffix of "</a:t>
            </a:r>
            <a:r>
              <a:rPr lang="en-US" dirty="0" err="1"/>
              <a:t>BindingKey</a:t>
            </a:r>
            <a:r>
              <a:rPr lang="en-US" dirty="0"/>
              <a:t>" or "</a:t>
            </a:r>
            <a:r>
              <a:rPr lang="en-US" dirty="0" err="1"/>
              <a:t>BindingKeys</a:t>
            </a:r>
            <a:r>
              <a:rPr lang="en-US" dirty="0"/>
              <a:t>" if it is an array.  (e.g. </a:t>
            </a:r>
            <a:r>
              <a:rPr lang="en-US" dirty="0" err="1"/>
              <a:t>SymbolBindingKey</a:t>
            </a:r>
            <a:r>
              <a:rPr lang="en-US" dirty="0"/>
              <a:t> – specifies the key value for as object of the data-type Symbol to bound.</a:t>
            </a:r>
          </a:p>
          <a:p>
            <a:pPr marL="514350" indent="-514350">
              <a:buAutoNum type="arabicPeriod"/>
            </a:pPr>
            <a:r>
              <a:rPr lang="en-US" dirty="0"/>
              <a:t>Light-weight properties that are used to generate a Roll are given the suffix of "Expression".  (e.g. </a:t>
            </a:r>
            <a:r>
              <a:rPr lang="en-US" dirty="0" err="1"/>
              <a:t>RollExpression</a:t>
            </a:r>
            <a:r>
              <a:rPr lang="en-US" dirty="0"/>
              <a:t>)</a:t>
            </a:r>
          </a:p>
          <a:p>
            <a:pPr marL="514350" indent="-514350">
              <a:buAutoNum type="arabicPeriod"/>
            </a:pPr>
            <a:r>
              <a:rPr lang="en-US" dirty="0"/>
              <a:t>API Object properties that are tuples will be given a suffix of "Tuple" or plural "Tuples" if it is an array.  If the tuple has elements that need to be bound, like expressions or other API Objects, a light-weight tuple property will be created and be given a suffix of "</a:t>
            </a:r>
            <a:r>
              <a:rPr lang="en-US" dirty="0" err="1"/>
              <a:t>BindingTuple</a:t>
            </a:r>
            <a:r>
              <a:rPr lang="en-US" dirty="0"/>
              <a:t>" or "</a:t>
            </a:r>
            <a:r>
              <a:rPr lang="en-US" dirty="0" err="1"/>
              <a:t>BindingTuples</a:t>
            </a:r>
            <a:r>
              <a:rPr lang="en-US"/>
              <a:t>", </a:t>
            </a:r>
            <a:r>
              <a:rPr lang="en-US" dirty="0"/>
              <a:t>if it is an array.</a:t>
            </a:r>
          </a:p>
        </p:txBody>
      </p:sp>
    </p:spTree>
    <p:extLst>
      <p:ext uri="{BB962C8B-B14F-4D97-AF65-F5344CB8AC3E}">
        <p14:creationId xmlns:p14="http://schemas.microsoft.com/office/powerpoint/2010/main" val="2122439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8008A-A924-EAFC-BE08-C2E5DD466393}"/>
              </a:ext>
            </a:extLst>
          </p:cNvPr>
          <p:cNvSpPr>
            <a:spLocks noGrp="1"/>
          </p:cNvSpPr>
          <p:nvPr>
            <p:ph type="title"/>
          </p:nvPr>
        </p:nvSpPr>
        <p:spPr/>
        <p:txBody>
          <a:bodyPr/>
          <a:lstStyle/>
          <a:p>
            <a:r>
              <a:rPr lang="en-US" dirty="0"/>
              <a:t>Binding Implementation Example</a:t>
            </a:r>
          </a:p>
        </p:txBody>
      </p:sp>
      <p:sp>
        <p:nvSpPr>
          <p:cNvPr id="3" name="Content Placeholder 2">
            <a:extLst>
              <a:ext uri="{FF2B5EF4-FFF2-40B4-BE49-F238E27FC236}">
                <a16:creationId xmlns:a16="http://schemas.microsoft.com/office/drawing/2014/main" id="{819B183C-CF60-6AB0-8CB3-0E0DF587FA80}"/>
              </a:ext>
            </a:extLst>
          </p:cNvPr>
          <p:cNvSpPr>
            <a:spLocks noGrp="1"/>
          </p:cNvSpPr>
          <p:nvPr>
            <p:ph idx="1"/>
          </p:nvPr>
        </p:nvSpPr>
        <p:spPr/>
        <p:txBody>
          <a:bodyPr>
            <a:normAutofit/>
          </a:bodyPr>
          <a:lstStyle/>
          <a:p>
            <a:pPr marL="0" indent="0">
              <a:buNone/>
            </a:pP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void</a:t>
            </a:r>
            <a:r>
              <a:rPr lang="en-US" sz="1100" dirty="0">
                <a:solidFill>
                  <a:srgbClr val="000000"/>
                </a:solidFill>
                <a:latin typeface="Cascadia Mono" panose="020B0609020000020004" pitchFamily="49" charset="0"/>
              </a:rPr>
              <a:t> Bind()</a:t>
            </a:r>
          </a:p>
          <a:p>
            <a:pPr marL="0" indent="0">
              <a:buNone/>
            </a:pPr>
            <a:r>
              <a:rPr lang="en-US"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ExecuteOnPlayerScript</a:t>
            </a:r>
            <a:r>
              <a:rPr lang="en-US" sz="1100" dirty="0">
                <a:solidFill>
                  <a:srgbClr val="000000"/>
                </a:solidFill>
                <a:latin typeface="Cascadia Mono" panose="020B0609020000020004" pitchFamily="49" charset="0"/>
              </a:rPr>
              <a:t> = </a:t>
            </a:r>
            <a:r>
              <a:rPr lang="en-US" sz="1100" dirty="0" err="1">
                <a:solidFill>
                  <a:srgbClr val="000000"/>
                </a:solidFill>
                <a:latin typeface="Cascadia Mono" panose="020B0609020000020004" pitchFamily="49" charset="0"/>
              </a:rPr>
              <a:t>Game.SingletonRepository.Get</a:t>
            </a:r>
            <a:r>
              <a:rPr lang="en-US" sz="1100" dirty="0">
                <a:solidFill>
                  <a:srgbClr val="000000"/>
                </a:solidFill>
                <a:latin typeface="Cascadia Mono" panose="020B0609020000020004" pitchFamily="49" charset="0"/>
              </a:rPr>
              <a:t>&lt;</a:t>
            </a:r>
            <a:r>
              <a:rPr lang="en-US" sz="1100" dirty="0" err="1">
                <a:solidFill>
                  <a:srgbClr val="2B91AF"/>
                </a:solidFill>
                <a:latin typeface="Cascadia Mono" panose="020B0609020000020004" pitchFamily="49" charset="0"/>
              </a:rPr>
              <a:t>IScriptMonster</a:t>
            </a:r>
            <a:r>
              <a:rPr lang="en-US" sz="1100" dirty="0">
                <a:solidFill>
                  <a:srgbClr val="000000"/>
                </a:solidFill>
                <a:latin typeface="Cascadia Mono" panose="020B0609020000020004" pitchFamily="49" charset="0"/>
              </a:rPr>
              <a:t>&gt;(</a:t>
            </a:r>
            <a:r>
              <a:rPr lang="en-US" sz="1100" dirty="0" err="1">
                <a:solidFill>
                  <a:srgbClr val="000000"/>
                </a:solidFill>
                <a:latin typeface="Cascadia Mono" panose="020B0609020000020004" pitchFamily="49" charset="0"/>
              </a:rPr>
              <a:t>ExecuteOnPlayerScriptKey</a:t>
            </a:r>
            <a:r>
              <a:rPr lang="en-US" sz="1100" dirty="0">
                <a:solidFill>
                  <a:srgbClr val="000000"/>
                </a:solidFill>
                <a:latin typeface="Cascadia Mono" panose="020B0609020000020004" pitchFamily="49" charset="0"/>
              </a:rPr>
              <a:t>);</a:t>
            </a:r>
          </a:p>
          <a:p>
            <a:pPr marL="0" indent="0">
              <a:buNone/>
            </a:pPr>
            <a:r>
              <a:rPr lang="en-US" sz="1100" dirty="0">
                <a:solidFill>
                  <a:srgbClr val="000000"/>
                </a:solidFill>
                <a:latin typeface="Cascadia Mono" panose="020B0609020000020004" pitchFamily="49" charset="0"/>
              </a:rPr>
              <a:t>}</a:t>
            </a: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a:t>
            </a:r>
            <a:r>
              <a:rPr lang="en-US" sz="1100" dirty="0">
                <a:solidFill>
                  <a:srgbClr val="808080"/>
                </a:solidFill>
                <a:latin typeface="Cascadia Mono" panose="020B0609020000020004" pitchFamily="49" charset="0"/>
              </a:rPr>
              <a:t>&lt;summary&gt;</a:t>
            </a:r>
            <a:endParaRPr lang="en-US" sz="1100" dirty="0">
              <a:solidFill>
                <a:srgbClr val="000000"/>
              </a:solidFill>
              <a:latin typeface="Cascadia Mono" panose="020B0609020000020004" pitchFamily="49" charset="0"/>
            </a:endParaRP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Returns the key for the script to run when this spell is cast on the player.  This property is used to bind the </a:t>
            </a:r>
            <a:r>
              <a:rPr lang="en-US" sz="1100" dirty="0" err="1">
                <a:solidFill>
                  <a:srgbClr val="008000"/>
                </a:solidFill>
                <a:latin typeface="Cascadia Mono" panose="020B0609020000020004" pitchFamily="49" charset="0"/>
              </a:rPr>
              <a:t>ExecuteOnPlayerScript</a:t>
            </a:r>
            <a:r>
              <a:rPr lang="en-US" sz="1100" dirty="0">
                <a:solidFill>
                  <a:srgbClr val="008000"/>
                </a:solidFill>
                <a:latin typeface="Cascadia Mono" panose="020B0609020000020004" pitchFamily="49" charset="0"/>
              </a:rPr>
              <a:t> property during the bind phase.</a:t>
            </a:r>
            <a:endParaRPr lang="en-US" sz="1100" dirty="0">
              <a:solidFill>
                <a:srgbClr val="000000"/>
              </a:solidFill>
              <a:latin typeface="Cascadia Mono" panose="020B0609020000020004" pitchFamily="49" charset="0"/>
            </a:endParaRP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a:t>
            </a:r>
            <a:r>
              <a:rPr lang="en-US" sz="1100" dirty="0">
                <a:solidFill>
                  <a:srgbClr val="808080"/>
                </a:solidFill>
                <a:latin typeface="Cascadia Mono" panose="020B0609020000020004" pitchFamily="49" charset="0"/>
              </a:rPr>
              <a:t>&lt;/summary&gt;</a:t>
            </a:r>
            <a:endParaRPr lang="en-US" sz="1100" dirty="0">
              <a:solidFill>
                <a:srgbClr val="000000"/>
              </a:solidFill>
              <a:latin typeface="Cascadia Mono" panose="020B0609020000020004" pitchFamily="49" charset="0"/>
            </a:endParaRPr>
          </a:p>
          <a:p>
            <a:pPr marL="0" indent="0">
              <a:buNone/>
            </a:pPr>
            <a:r>
              <a:rPr lang="en-US" sz="1100" dirty="0">
                <a:solidFill>
                  <a:srgbClr val="0000FF"/>
                </a:solidFill>
                <a:latin typeface="Cascadia Mono" panose="020B0609020000020004" pitchFamily="49" charset="0"/>
              </a:rPr>
              <a:t>protected</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abstract</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ExecuteOnPlayerScriptKey</a:t>
            </a:r>
            <a:r>
              <a:rPr lang="en-US" sz="1100" dirty="0">
                <a:solidFill>
                  <a:srgbClr val="000000"/>
                </a:solidFill>
                <a:latin typeface="Cascadia Mono" panose="020B0609020000020004" pitchFamily="49" charset="0"/>
              </a:rPr>
              <a:t> { </a:t>
            </a:r>
            <a:r>
              <a:rPr lang="en-US" sz="1100" dirty="0">
                <a:solidFill>
                  <a:srgbClr val="0000FF"/>
                </a:solidFill>
                <a:latin typeface="Cascadia Mono" panose="020B0609020000020004" pitchFamily="49" charset="0"/>
              </a:rPr>
              <a:t>get</a:t>
            </a:r>
            <a:r>
              <a:rPr lang="en-US" sz="1100" dirty="0">
                <a:solidFill>
                  <a:srgbClr val="000000"/>
                </a:solidFill>
                <a:latin typeface="Cascadia Mono" panose="020B0609020000020004" pitchFamily="49" charset="0"/>
              </a:rPr>
              <a:t>; }</a:t>
            </a:r>
          </a:p>
          <a:p>
            <a:pPr marL="0" indent="0">
              <a:buNone/>
            </a:pPr>
            <a:endParaRPr lang="en-US" sz="1100" dirty="0">
              <a:solidFill>
                <a:srgbClr val="000000"/>
              </a:solidFill>
              <a:latin typeface="Cascadia Mono" panose="020B0609020000020004" pitchFamily="49" charset="0"/>
            </a:endParaRP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a:t>
            </a:r>
            <a:r>
              <a:rPr lang="en-US" sz="1100" dirty="0">
                <a:solidFill>
                  <a:srgbClr val="808080"/>
                </a:solidFill>
                <a:latin typeface="Cascadia Mono" panose="020B0609020000020004" pitchFamily="49" charset="0"/>
              </a:rPr>
              <a:t>&lt;summary&gt;</a:t>
            </a:r>
            <a:endParaRPr lang="en-US" sz="1100" dirty="0">
              <a:solidFill>
                <a:srgbClr val="000000"/>
              </a:solidFill>
              <a:latin typeface="Cascadia Mono" panose="020B0609020000020004" pitchFamily="49" charset="0"/>
            </a:endParaRP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Returns the script to run when this spell is cast on the player.  This property is bound using the </a:t>
            </a:r>
            <a:r>
              <a:rPr lang="en-US" sz="1100" dirty="0" err="1">
                <a:solidFill>
                  <a:srgbClr val="008000"/>
                </a:solidFill>
                <a:latin typeface="Cascadia Mono" panose="020B0609020000020004" pitchFamily="49" charset="0"/>
              </a:rPr>
              <a:t>ExecuteOnPlayerScriptKey</a:t>
            </a:r>
            <a:r>
              <a:rPr lang="en-US" sz="1100" dirty="0">
                <a:solidFill>
                  <a:srgbClr val="008000"/>
                </a:solidFill>
                <a:latin typeface="Cascadia Mono" panose="020B0609020000020004" pitchFamily="49" charset="0"/>
              </a:rPr>
              <a:t> property during the bind phase.</a:t>
            </a:r>
            <a:endParaRPr lang="en-US" sz="1100" dirty="0">
              <a:solidFill>
                <a:srgbClr val="000000"/>
              </a:solidFill>
              <a:latin typeface="Cascadia Mono" panose="020B0609020000020004" pitchFamily="49" charset="0"/>
            </a:endParaRPr>
          </a:p>
          <a:p>
            <a:pPr marL="0" indent="0">
              <a:buNone/>
            </a:pPr>
            <a:r>
              <a:rPr lang="en-US" sz="1100" dirty="0">
                <a:solidFill>
                  <a:srgbClr val="808080"/>
                </a:solidFill>
                <a:latin typeface="Cascadia Mono" panose="020B0609020000020004" pitchFamily="49" charset="0"/>
              </a:rPr>
              <a:t>///</a:t>
            </a:r>
            <a:r>
              <a:rPr lang="en-US" sz="1100" dirty="0">
                <a:solidFill>
                  <a:srgbClr val="008000"/>
                </a:solidFill>
                <a:latin typeface="Cascadia Mono" panose="020B0609020000020004" pitchFamily="49" charset="0"/>
              </a:rPr>
              <a:t> </a:t>
            </a:r>
            <a:r>
              <a:rPr lang="en-US" sz="1100" dirty="0">
                <a:solidFill>
                  <a:srgbClr val="808080"/>
                </a:solidFill>
                <a:latin typeface="Cascadia Mono" panose="020B0609020000020004" pitchFamily="49" charset="0"/>
              </a:rPr>
              <a:t>&lt;/summary&gt;</a:t>
            </a:r>
            <a:endParaRPr lang="en-US" sz="1100" dirty="0">
              <a:solidFill>
                <a:srgbClr val="000000"/>
              </a:solidFill>
              <a:latin typeface="Cascadia Mono" panose="020B0609020000020004" pitchFamily="49" charset="0"/>
            </a:endParaRPr>
          </a:p>
          <a:p>
            <a:pPr marL="0" indent="0">
              <a:buNone/>
            </a:pP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800" dirty="0" err="1">
                <a:solidFill>
                  <a:srgbClr val="2B91AF"/>
                </a:solidFill>
                <a:latin typeface="Cascadia Mono" panose="020B0609020000020004" pitchFamily="49" charset="0"/>
              </a:rPr>
              <a:t>IScriptMonster</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ExecuteOnPlayerScript</a:t>
            </a:r>
            <a:r>
              <a:rPr lang="en-US" sz="800" dirty="0">
                <a:solidFill>
                  <a:srgbClr val="000000"/>
                </a:solidFill>
                <a:latin typeface="Cascadia Mono" panose="020B0609020000020004" pitchFamily="49" charset="0"/>
              </a:rPr>
              <a:t> { </a:t>
            </a:r>
            <a:r>
              <a:rPr lang="en-US" sz="800" dirty="0">
                <a:solidFill>
                  <a:srgbClr val="0000FF"/>
                </a:solidFill>
                <a:latin typeface="Cascadia Mono" panose="020B0609020000020004" pitchFamily="49" charset="0"/>
              </a:rPr>
              <a:t>get</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private</a:t>
            </a:r>
            <a:r>
              <a:rPr lang="en-US" sz="800" dirty="0">
                <a:solidFill>
                  <a:srgbClr val="000000"/>
                </a:solidFill>
                <a:latin typeface="Cascadia Mono" panose="020B0609020000020004" pitchFamily="49" charset="0"/>
              </a:rPr>
              <a:t> </a:t>
            </a:r>
            <a:r>
              <a:rPr lang="en-US" sz="800" dirty="0">
                <a:solidFill>
                  <a:srgbClr val="0000FF"/>
                </a:solidFill>
                <a:latin typeface="Cascadia Mono" panose="020B0609020000020004" pitchFamily="49" charset="0"/>
              </a:rPr>
              <a:t>set</a:t>
            </a:r>
            <a:r>
              <a:rPr lang="en-US" sz="800" dirty="0">
                <a:solidFill>
                  <a:srgbClr val="000000"/>
                </a:solidFill>
                <a:latin typeface="Cascadia Mono" panose="020B0609020000020004" pitchFamily="49" charset="0"/>
              </a:rPr>
              <a:t>; }</a:t>
            </a:r>
            <a:endParaRPr lang="en-US" sz="800" dirty="0"/>
          </a:p>
        </p:txBody>
      </p:sp>
    </p:spTree>
    <p:extLst>
      <p:ext uri="{BB962C8B-B14F-4D97-AF65-F5344CB8AC3E}">
        <p14:creationId xmlns:p14="http://schemas.microsoft.com/office/powerpoint/2010/main" val="1074209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675A-A7F2-6A4B-DE18-2B7A2079C63E}"/>
              </a:ext>
            </a:extLst>
          </p:cNvPr>
          <p:cNvSpPr>
            <a:spLocks noGrp="1"/>
          </p:cNvSpPr>
          <p:nvPr>
            <p:ph type="title"/>
          </p:nvPr>
        </p:nvSpPr>
        <p:spPr/>
        <p:txBody>
          <a:bodyPr/>
          <a:lstStyle/>
          <a:p>
            <a:r>
              <a:rPr lang="en-US" dirty="0"/>
              <a:t>Singleton Collection Interface Binding</a:t>
            </a:r>
          </a:p>
        </p:txBody>
      </p:sp>
      <p:sp>
        <p:nvSpPr>
          <p:cNvPr id="3" name="Content Placeholder 2">
            <a:extLst>
              <a:ext uri="{FF2B5EF4-FFF2-40B4-BE49-F238E27FC236}">
                <a16:creationId xmlns:a16="http://schemas.microsoft.com/office/drawing/2014/main" id="{0D7B1D8D-3622-8F1C-6E5C-FAB96016C7E8}"/>
              </a:ext>
            </a:extLst>
          </p:cNvPr>
          <p:cNvSpPr>
            <a:spLocks noGrp="1"/>
          </p:cNvSpPr>
          <p:nvPr>
            <p:ph idx="1"/>
          </p:nvPr>
        </p:nvSpPr>
        <p:spPr/>
        <p:txBody>
          <a:bodyPr>
            <a:normAutofit fontScale="92500"/>
          </a:bodyPr>
          <a:lstStyle/>
          <a:p>
            <a:pPr marL="0" indent="0">
              <a:buNone/>
            </a:pPr>
            <a:r>
              <a:rPr lang="en-US" dirty="0"/>
              <a:t>The two-phase load and bind phases for </a:t>
            </a:r>
            <a:r>
              <a:rPr lang="en-US" dirty="0" err="1"/>
              <a:t>AngbandOS</a:t>
            </a:r>
            <a:r>
              <a:rPr lang="en-US" dirty="0"/>
              <a:t> often need to allow binding to objects using an interface; rather than a solid class.</a:t>
            </a:r>
          </a:p>
          <a:p>
            <a:pPr marL="0" indent="0">
              <a:buNone/>
            </a:pPr>
            <a:r>
              <a:rPr lang="en-US" dirty="0"/>
              <a:t>To support this, </a:t>
            </a:r>
            <a:r>
              <a:rPr lang="en-US" dirty="0" err="1"/>
              <a:t>AngbandOS</a:t>
            </a:r>
            <a:r>
              <a:rPr lang="en-US" dirty="0"/>
              <a:t> implements a solid-class and interface registration that the </a:t>
            </a:r>
            <a:r>
              <a:rPr lang="en-US" dirty="0" err="1"/>
              <a:t>SingletonRepository.Get</a:t>
            </a:r>
            <a:r>
              <a:rPr lang="en-US" dirty="0"/>
              <a:t> method uses for finding objects during the bind phase.</a:t>
            </a:r>
          </a:p>
          <a:p>
            <a:pPr marL="0" indent="0">
              <a:buNone/>
            </a:pPr>
            <a:r>
              <a:rPr lang="en-US" dirty="0"/>
              <a:t>To add additional interfaces and support to this system, the </a:t>
            </a:r>
            <a:r>
              <a:rPr lang="en-US" dirty="0" err="1"/>
              <a:t>SingletonRepository.Load</a:t>
            </a:r>
            <a:r>
              <a:rPr lang="en-US" dirty="0"/>
              <a:t> method registers the classes and interfaces.</a:t>
            </a:r>
          </a:p>
          <a:p>
            <a:pPr marL="0" indent="0">
              <a:buNone/>
            </a:pPr>
            <a:r>
              <a:rPr lang="en-US" sz="1800" dirty="0" err="1">
                <a:solidFill>
                  <a:srgbClr val="000000"/>
                </a:solidFill>
                <a:latin typeface="Cascadia Mono" panose="020B0609020000020004" pitchFamily="49" charset="0"/>
              </a:rPr>
              <a:t>RegisterRepository</a:t>
            </a:r>
            <a:r>
              <a:rPr lang="en-US" sz="1800" dirty="0">
                <a:solidFill>
                  <a:srgbClr val="000000"/>
                </a:solidFill>
                <a:latin typeface="Cascadia Mono" panose="020B0609020000020004" pitchFamily="49" charset="0"/>
              </a:rPr>
              <a:t>&lt;</a:t>
            </a:r>
            <a:r>
              <a:rPr lang="en-US" sz="1800" dirty="0" err="1">
                <a:solidFill>
                  <a:srgbClr val="2B91AF"/>
                </a:solidFill>
                <a:latin typeface="Cascadia Mono" panose="020B0609020000020004" pitchFamily="49" charset="0"/>
              </a:rPr>
              <a:t>IBoolValue</a:t>
            </a:r>
            <a:r>
              <a:rPr lang="en-US" sz="1800" dirty="0">
                <a:solidFill>
                  <a:srgbClr val="000000"/>
                </a:solidFill>
                <a:latin typeface="Cascadia Mono" panose="020B0609020000020004" pitchFamily="49" charset="0"/>
              </a:rPr>
              <a:t>&gt;();</a:t>
            </a:r>
          </a:p>
          <a:p>
            <a:pPr marL="0" indent="0">
              <a:buNone/>
            </a:pPr>
            <a:r>
              <a:rPr lang="en-US" sz="1800" dirty="0" err="1">
                <a:solidFill>
                  <a:srgbClr val="000000"/>
                </a:solidFill>
                <a:latin typeface="Cascadia Mono" panose="020B0609020000020004" pitchFamily="49" charset="0"/>
              </a:rPr>
              <a:t>RegisterRepository</a:t>
            </a:r>
            <a:r>
              <a:rPr lang="en-US" sz="1800" dirty="0">
                <a:solidFill>
                  <a:srgbClr val="000000"/>
                </a:solidFill>
                <a:latin typeface="Cascadia Mono" panose="020B0609020000020004" pitchFamily="49" charset="0"/>
              </a:rPr>
              <a:t>&lt;</a:t>
            </a:r>
            <a:r>
              <a:rPr lang="en-US" sz="1800" dirty="0" err="1">
                <a:solidFill>
                  <a:srgbClr val="2B91AF"/>
                </a:solidFill>
                <a:latin typeface="Cascadia Mono" panose="020B0609020000020004" pitchFamily="49" charset="0"/>
              </a:rPr>
              <a:t>IIntValue</a:t>
            </a:r>
            <a:r>
              <a:rPr lang="en-US" sz="1800" dirty="0">
                <a:solidFill>
                  <a:srgbClr val="000000"/>
                </a:solidFill>
                <a:latin typeface="Cascadia Mono" panose="020B0609020000020004" pitchFamily="49" charset="0"/>
              </a:rPr>
              <a:t>&gt;();</a:t>
            </a:r>
          </a:p>
          <a:p>
            <a:pPr marL="0" indent="0">
              <a:buNone/>
            </a:pPr>
            <a:r>
              <a:rPr lang="en-US" sz="1800" dirty="0" err="1">
                <a:solidFill>
                  <a:srgbClr val="000000"/>
                </a:solidFill>
                <a:latin typeface="Cascadia Mono" panose="020B0609020000020004" pitchFamily="49" charset="0"/>
              </a:rPr>
              <a:t>RegisterRepository</a:t>
            </a:r>
            <a:r>
              <a:rPr lang="en-US" sz="1800" dirty="0">
                <a:solidFill>
                  <a:srgbClr val="000000"/>
                </a:solidFill>
                <a:latin typeface="Cascadia Mono" panose="020B0609020000020004" pitchFamily="49" charset="0"/>
              </a:rPr>
              <a:t>&lt;</a:t>
            </a:r>
            <a:r>
              <a:rPr lang="en-US" sz="1800" dirty="0">
                <a:solidFill>
                  <a:srgbClr val="2B91AF"/>
                </a:solidFill>
                <a:latin typeface="Cascadia Mono" panose="020B0609020000020004" pitchFamily="49" charset="0"/>
              </a:rPr>
              <a:t>Activation</a:t>
            </a:r>
            <a:r>
              <a:rPr lang="en-US" sz="1800" dirty="0">
                <a:solidFill>
                  <a:srgbClr val="000000"/>
                </a:solidFill>
                <a:latin typeface="Cascadia Mono" panose="020B0609020000020004" pitchFamily="49" charset="0"/>
              </a:rPr>
              <a:t>&gt;();</a:t>
            </a:r>
          </a:p>
          <a:p>
            <a:pPr marL="0" indent="0">
              <a:buNone/>
            </a:pPr>
            <a:r>
              <a:rPr lang="en-US" sz="1800" dirty="0" err="1">
                <a:solidFill>
                  <a:srgbClr val="000000"/>
                </a:solidFill>
                <a:latin typeface="Cascadia Mono" panose="020B0609020000020004" pitchFamily="49" charset="0"/>
              </a:rPr>
              <a:t>RegisterRepository</a:t>
            </a:r>
            <a:r>
              <a:rPr lang="en-US" sz="1800" dirty="0">
                <a:solidFill>
                  <a:srgbClr val="000000"/>
                </a:solidFill>
                <a:latin typeface="Cascadia Mono" panose="020B0609020000020004" pitchFamily="49" charset="0"/>
              </a:rPr>
              <a:t>&lt;</a:t>
            </a:r>
            <a:r>
              <a:rPr lang="en-US" sz="1800" dirty="0" err="1">
                <a:solidFill>
                  <a:srgbClr val="2B91AF"/>
                </a:solidFill>
                <a:latin typeface="Cascadia Mono" panose="020B0609020000020004" pitchFamily="49" charset="0"/>
              </a:rPr>
              <a:t>ActivationWeightedRandom</a:t>
            </a:r>
            <a:r>
              <a:rPr lang="en-US" sz="1800" dirty="0">
                <a:solidFill>
                  <a:srgbClr val="000000"/>
                </a:solidFill>
                <a:latin typeface="Cascadia Mono" panose="020B0609020000020004" pitchFamily="49" charset="0"/>
              </a:rPr>
              <a:t>&gt;();</a:t>
            </a:r>
          </a:p>
          <a:p>
            <a:pPr marL="0" indent="0">
              <a:buNone/>
            </a:pPr>
            <a:endParaRPr lang="en-US" dirty="0"/>
          </a:p>
        </p:txBody>
      </p:sp>
    </p:spTree>
    <p:extLst>
      <p:ext uri="{BB962C8B-B14F-4D97-AF65-F5344CB8AC3E}">
        <p14:creationId xmlns:p14="http://schemas.microsoft.com/office/powerpoint/2010/main" val="39991993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C8ED8-F0D2-307B-7D9F-8C13F8211987}"/>
              </a:ext>
            </a:extLst>
          </p:cNvPr>
          <p:cNvSpPr>
            <a:spLocks noGrp="1"/>
          </p:cNvSpPr>
          <p:nvPr>
            <p:ph type="title"/>
          </p:nvPr>
        </p:nvSpPr>
        <p:spPr/>
        <p:txBody>
          <a:bodyPr/>
          <a:lstStyle/>
          <a:p>
            <a:r>
              <a:rPr lang="en-US" dirty="0"/>
              <a:t>Action Hooks</a:t>
            </a:r>
          </a:p>
        </p:txBody>
      </p:sp>
      <p:sp>
        <p:nvSpPr>
          <p:cNvPr id="3" name="Content Placeholder 2">
            <a:extLst>
              <a:ext uri="{FF2B5EF4-FFF2-40B4-BE49-F238E27FC236}">
                <a16:creationId xmlns:a16="http://schemas.microsoft.com/office/drawing/2014/main" id="{15A92EE3-5302-DFB8-585B-CDDF07C4EF58}"/>
              </a:ext>
            </a:extLst>
          </p:cNvPr>
          <p:cNvSpPr>
            <a:spLocks noGrp="1"/>
          </p:cNvSpPr>
          <p:nvPr>
            <p:ph idx="1"/>
          </p:nvPr>
        </p:nvSpPr>
        <p:spPr/>
        <p:txBody>
          <a:bodyPr/>
          <a:lstStyle/>
          <a:p>
            <a:pPr marL="0" indent="0">
              <a:buNone/>
            </a:pPr>
            <a:r>
              <a:rPr lang="en-US" dirty="0" err="1"/>
              <a:t>AngbandOS</a:t>
            </a:r>
            <a:r>
              <a:rPr lang="en-US" dirty="0"/>
              <a:t> has predefined integration points where the action that is to be performed can be customized.  Configuring these actions will typically involve selecting another object (e.g. a script) for the appropriate functionality.  These properties are called "Action Hooks".</a:t>
            </a:r>
          </a:p>
          <a:p>
            <a:pPr marL="0" indent="0">
              <a:buNone/>
            </a:pPr>
            <a:r>
              <a:rPr lang="en-US" dirty="0"/>
              <a:t>Properties that provide a value for predefined framework functionality are called </a:t>
            </a:r>
            <a:r>
              <a:rPr lang="en-US"/>
              <a:t>Behavior Modifiers.</a:t>
            </a:r>
            <a:endParaRPr lang="en-US" dirty="0"/>
          </a:p>
        </p:txBody>
      </p:sp>
    </p:spTree>
    <p:extLst>
      <p:ext uri="{BB962C8B-B14F-4D97-AF65-F5344CB8AC3E}">
        <p14:creationId xmlns:p14="http://schemas.microsoft.com/office/powerpoint/2010/main" val="2624926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FC331-05B9-D372-C71C-FA9E25E37DE1}"/>
              </a:ext>
            </a:extLst>
          </p:cNvPr>
          <p:cNvSpPr>
            <a:spLocks noGrp="1"/>
          </p:cNvSpPr>
          <p:nvPr>
            <p:ph type="title"/>
          </p:nvPr>
        </p:nvSpPr>
        <p:spPr/>
        <p:txBody>
          <a:bodyPr/>
          <a:lstStyle/>
          <a:p>
            <a:r>
              <a:rPr lang="en-US" dirty="0"/>
              <a:t>Keystroke Driver</a:t>
            </a:r>
          </a:p>
        </p:txBody>
      </p:sp>
      <p:sp>
        <p:nvSpPr>
          <p:cNvPr id="4" name="Rectangle 3">
            <a:extLst>
              <a:ext uri="{FF2B5EF4-FFF2-40B4-BE49-F238E27FC236}">
                <a16:creationId xmlns:a16="http://schemas.microsoft.com/office/drawing/2014/main" id="{49482C1B-9828-AD0C-46ED-A9B6982A7B3A}"/>
              </a:ext>
            </a:extLst>
          </p:cNvPr>
          <p:cNvSpPr/>
          <p:nvPr/>
        </p:nvSpPr>
        <p:spPr>
          <a:xfrm>
            <a:off x="4391721" y="5705127"/>
            <a:ext cx="4063165" cy="628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ConsoleViewPort.WaitAndEnqueueKey</a:t>
            </a:r>
            <a:endParaRPr lang="en-US" dirty="0"/>
          </a:p>
        </p:txBody>
      </p:sp>
      <p:sp>
        <p:nvSpPr>
          <p:cNvPr id="5" name="Rectangle 4">
            <a:extLst>
              <a:ext uri="{FF2B5EF4-FFF2-40B4-BE49-F238E27FC236}">
                <a16:creationId xmlns:a16="http://schemas.microsoft.com/office/drawing/2014/main" id="{B864203C-C5B6-11D3-EAA9-4FCEBE0C1BEA}"/>
              </a:ext>
            </a:extLst>
          </p:cNvPr>
          <p:cNvSpPr/>
          <p:nvPr/>
        </p:nvSpPr>
        <p:spPr>
          <a:xfrm>
            <a:off x="4391722" y="4315369"/>
            <a:ext cx="4063164" cy="628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Game.GetKeypress</a:t>
            </a:r>
            <a:endParaRPr lang="en-US" dirty="0"/>
          </a:p>
        </p:txBody>
      </p:sp>
      <p:sp>
        <p:nvSpPr>
          <p:cNvPr id="6" name="Rectangle 5">
            <a:extLst>
              <a:ext uri="{FF2B5EF4-FFF2-40B4-BE49-F238E27FC236}">
                <a16:creationId xmlns:a16="http://schemas.microsoft.com/office/drawing/2014/main" id="{460621F4-F5BD-A58F-35CA-16D61FE9F5AB}"/>
              </a:ext>
            </a:extLst>
          </p:cNvPr>
          <p:cNvSpPr/>
          <p:nvPr/>
        </p:nvSpPr>
        <p:spPr>
          <a:xfrm>
            <a:off x="4391721" y="2938759"/>
            <a:ext cx="4063164" cy="628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Game.Inkey</a:t>
            </a:r>
            <a:endParaRPr lang="en-US" dirty="0"/>
          </a:p>
        </p:txBody>
      </p:sp>
      <p:sp>
        <p:nvSpPr>
          <p:cNvPr id="7" name="Rectangle 6">
            <a:extLst>
              <a:ext uri="{FF2B5EF4-FFF2-40B4-BE49-F238E27FC236}">
                <a16:creationId xmlns:a16="http://schemas.microsoft.com/office/drawing/2014/main" id="{3AA12C68-5FCE-EAD1-32E3-AD8E1FC7F373}"/>
              </a:ext>
            </a:extLst>
          </p:cNvPr>
          <p:cNvSpPr/>
          <p:nvPr/>
        </p:nvSpPr>
        <p:spPr>
          <a:xfrm>
            <a:off x="9104241" y="2938759"/>
            <a:ext cx="2249557" cy="628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_</a:t>
            </a:r>
            <a:r>
              <a:rPr lang="en-US" dirty="0" err="1"/>
              <a:t>artificialKeyBuffer</a:t>
            </a:r>
            <a:endParaRPr lang="en-US" dirty="0"/>
          </a:p>
        </p:txBody>
      </p:sp>
      <p:cxnSp>
        <p:nvCxnSpPr>
          <p:cNvPr id="9" name="Straight Arrow Connector 8">
            <a:extLst>
              <a:ext uri="{FF2B5EF4-FFF2-40B4-BE49-F238E27FC236}">
                <a16:creationId xmlns:a16="http://schemas.microsoft.com/office/drawing/2014/main" id="{710880F4-33C3-8701-1508-274956FEFBC5}"/>
              </a:ext>
            </a:extLst>
          </p:cNvPr>
          <p:cNvCxnSpPr>
            <a:cxnSpLocks/>
            <a:stCxn id="7" idx="1"/>
            <a:endCxn id="6" idx="3"/>
          </p:cNvCxnSpPr>
          <p:nvPr/>
        </p:nvCxnSpPr>
        <p:spPr>
          <a:xfrm flipH="1">
            <a:off x="8454885" y="3253142"/>
            <a:ext cx="6493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C8C75885-6259-EF1A-9736-C0F03591017B}"/>
              </a:ext>
            </a:extLst>
          </p:cNvPr>
          <p:cNvSpPr/>
          <p:nvPr/>
        </p:nvSpPr>
        <p:spPr>
          <a:xfrm>
            <a:off x="4811952" y="1640779"/>
            <a:ext cx="3222702" cy="6287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All Game Input</a:t>
            </a:r>
          </a:p>
        </p:txBody>
      </p:sp>
      <p:cxnSp>
        <p:nvCxnSpPr>
          <p:cNvPr id="10" name="Straight Arrow Connector 9">
            <a:extLst>
              <a:ext uri="{FF2B5EF4-FFF2-40B4-BE49-F238E27FC236}">
                <a16:creationId xmlns:a16="http://schemas.microsoft.com/office/drawing/2014/main" id="{E93CB2A0-10BF-5D0F-F9DC-42E3626A59B3}"/>
              </a:ext>
            </a:extLst>
          </p:cNvPr>
          <p:cNvCxnSpPr>
            <a:cxnSpLocks/>
            <a:stCxn id="6" idx="0"/>
            <a:endCxn id="3" idx="2"/>
          </p:cNvCxnSpPr>
          <p:nvPr/>
        </p:nvCxnSpPr>
        <p:spPr>
          <a:xfrm flipV="1">
            <a:off x="6423303" y="2269545"/>
            <a:ext cx="0" cy="6692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3E33658-4B2F-FE58-1CE9-4DF623B2BD4D}"/>
              </a:ext>
            </a:extLst>
          </p:cNvPr>
          <p:cNvCxnSpPr>
            <a:cxnSpLocks/>
            <a:stCxn id="5" idx="0"/>
            <a:endCxn id="6" idx="2"/>
          </p:cNvCxnSpPr>
          <p:nvPr/>
        </p:nvCxnSpPr>
        <p:spPr>
          <a:xfrm flipH="1" flipV="1">
            <a:off x="6423303" y="3567525"/>
            <a:ext cx="1" cy="7478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F10C484-75D0-9DE3-A4EC-937A156785FE}"/>
              </a:ext>
            </a:extLst>
          </p:cNvPr>
          <p:cNvCxnSpPr>
            <a:cxnSpLocks/>
            <a:stCxn id="4" idx="0"/>
            <a:endCxn id="5" idx="2"/>
          </p:cNvCxnSpPr>
          <p:nvPr/>
        </p:nvCxnSpPr>
        <p:spPr>
          <a:xfrm flipV="1">
            <a:off x="6423304" y="4944135"/>
            <a:ext cx="0" cy="7609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AEFA6FAB-8D2F-FB74-3FE3-840F2810A3D2}"/>
              </a:ext>
            </a:extLst>
          </p:cNvPr>
          <p:cNvSpPr/>
          <p:nvPr/>
        </p:nvSpPr>
        <p:spPr>
          <a:xfrm>
            <a:off x="4025590" y="5242734"/>
            <a:ext cx="6211226" cy="1250139"/>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1"/>
                </a:solidFill>
              </a:rPr>
              <a:t>Replay and Physical</a:t>
            </a:r>
          </a:p>
        </p:txBody>
      </p:sp>
      <p:sp>
        <p:nvSpPr>
          <p:cNvPr id="26" name="Rectangle 25">
            <a:extLst>
              <a:ext uri="{FF2B5EF4-FFF2-40B4-BE49-F238E27FC236}">
                <a16:creationId xmlns:a16="http://schemas.microsoft.com/office/drawing/2014/main" id="{D12635CA-FE82-FAB5-B925-341DA7C02964}"/>
              </a:ext>
            </a:extLst>
          </p:cNvPr>
          <p:cNvSpPr/>
          <p:nvPr/>
        </p:nvSpPr>
        <p:spPr>
          <a:xfrm>
            <a:off x="4025590" y="3877050"/>
            <a:ext cx="6211226" cy="1236061"/>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1"/>
                </a:solidFill>
              </a:rPr>
              <a:t>Wait and Peek</a:t>
            </a:r>
          </a:p>
        </p:txBody>
      </p:sp>
      <p:sp>
        <p:nvSpPr>
          <p:cNvPr id="32" name="Rectangle 31">
            <a:extLst>
              <a:ext uri="{FF2B5EF4-FFF2-40B4-BE49-F238E27FC236}">
                <a16:creationId xmlns:a16="http://schemas.microsoft.com/office/drawing/2014/main" id="{45F50E5C-9954-7FCE-F747-50941AB4F5BC}"/>
              </a:ext>
            </a:extLst>
          </p:cNvPr>
          <p:cNvSpPr/>
          <p:nvPr/>
        </p:nvSpPr>
        <p:spPr>
          <a:xfrm>
            <a:off x="4025589" y="2500741"/>
            <a:ext cx="7676067" cy="1236061"/>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dirty="0">
                <a:solidFill>
                  <a:schemeClr val="tx1"/>
                </a:solidFill>
              </a:rPr>
              <a:t>Keystroke Expansion and Translation</a:t>
            </a:r>
          </a:p>
        </p:txBody>
      </p:sp>
    </p:spTree>
    <p:extLst>
      <p:ext uri="{BB962C8B-B14F-4D97-AF65-F5344CB8AC3E}">
        <p14:creationId xmlns:p14="http://schemas.microsoft.com/office/powerpoint/2010/main" val="1595102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671EC-3B64-0F56-6B70-EEFCAFE9ED7C}"/>
              </a:ext>
            </a:extLst>
          </p:cNvPr>
          <p:cNvSpPr>
            <a:spLocks noGrp="1"/>
          </p:cNvSpPr>
          <p:nvPr>
            <p:ph type="title"/>
          </p:nvPr>
        </p:nvSpPr>
        <p:spPr/>
        <p:txBody>
          <a:bodyPr/>
          <a:lstStyle/>
          <a:p>
            <a:r>
              <a:rPr lang="en-US" dirty="0"/>
              <a:t>Item Characteristics</a:t>
            </a:r>
          </a:p>
        </p:txBody>
      </p:sp>
      <p:sp>
        <p:nvSpPr>
          <p:cNvPr id="5" name="TextBox 4">
            <a:extLst>
              <a:ext uri="{FF2B5EF4-FFF2-40B4-BE49-F238E27FC236}">
                <a16:creationId xmlns:a16="http://schemas.microsoft.com/office/drawing/2014/main" id="{9531B7B0-0732-178D-B451-E209ED53EC5D}"/>
              </a:ext>
            </a:extLst>
          </p:cNvPr>
          <p:cNvSpPr txBox="1"/>
          <p:nvPr/>
        </p:nvSpPr>
        <p:spPr>
          <a:xfrm>
            <a:off x="838199" y="1948070"/>
            <a:ext cx="10677939" cy="3505190"/>
          </a:xfrm>
          <a:prstGeom prst="rect">
            <a:avLst/>
          </a:prstGeom>
          <a:noFill/>
        </p:spPr>
        <p:txBody>
          <a:bodyPr wrap="square">
            <a:spAutoFit/>
          </a:bodyPr>
          <a:lstStyle/>
          <a:p>
            <a:pPr marL="0" marR="0">
              <a:lnSpc>
                <a:spcPct val="107000"/>
              </a:lnSpc>
              <a:spcAft>
                <a:spcPts val="800"/>
              </a:spcAft>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ItemCharacteristics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Maintains state (has Copy, Merge</a:t>
            </a:r>
            <a:r>
              <a:rPr lang="en-US" kern="100" dirty="0">
                <a:latin typeface="Aptos" panose="020B0004020202020204" pitchFamily="34" charset="0"/>
                <a:ea typeface="Aptos" panose="020B0004020202020204" pitchFamily="34" charset="0"/>
                <a:cs typeface="Times New Roman" panose="02020603050405020304" pitchFamily="18" charset="0"/>
              </a:rPr>
              <a:t> and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Equals)</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RandomArtifactCharacteristics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a:t>
            </a:r>
            <a:r>
              <a:rPr lang="en-US" kern="100" dirty="0">
                <a:latin typeface="Aptos" panose="020B0004020202020204" pitchFamily="34" charset="0"/>
                <a:ea typeface="Aptos" panose="020B0004020202020204" pitchFamily="34" charset="0"/>
                <a:cs typeface="Times New Roman" panose="02020603050405020304" pitchFamily="18" charset="0"/>
              </a:rPr>
              <a:t>Maintains state (has Copy and Merge, </a:t>
            </a:r>
            <a:r>
              <a:rPr lang="en-US" strike="sngStrike" kern="100" dirty="0">
                <a:latin typeface="Aptos" panose="020B0004020202020204" pitchFamily="34" charset="0"/>
                <a:ea typeface="Aptos" panose="020B0004020202020204" pitchFamily="34" charset="0"/>
                <a:cs typeface="Times New Roman" panose="02020603050405020304" pitchFamily="18" charset="0"/>
              </a:rPr>
              <a:t>Equals</a:t>
            </a:r>
            <a:r>
              <a:rPr lang="en-US" kern="100" dirty="0">
                <a:latin typeface="Aptos" panose="020B0004020202020204" pitchFamily="34" charset="0"/>
                <a:ea typeface="Aptos" panose="020B0004020202020204" pitchFamily="34" charset="0"/>
                <a:cs typeface="Times New Roman" panose="02020603050405020304" pitchFamily="18" charset="0"/>
              </a:rPr>
              <a:t>)</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dirty="0">
                <a:latin typeface="Aptos" panose="020B0004020202020204" pitchFamily="34" charset="0"/>
                <a:cs typeface="Times New Roman" panose="02020603050405020304" pitchFamily="18" charset="0"/>
              </a:rPr>
              <a:t>Item – has the missing Random properties (has Copy, </a:t>
            </a:r>
            <a:r>
              <a:rPr lang="en-US" dirty="0" err="1">
                <a:latin typeface="Aptos" panose="020B0004020202020204" pitchFamily="34" charset="0"/>
                <a:cs typeface="Times New Roman" panose="02020603050405020304" pitchFamily="18" charset="0"/>
              </a:rPr>
              <a:t>GetRealValue</a:t>
            </a:r>
            <a:r>
              <a:rPr lang="en-US" dirty="0">
                <a:latin typeface="Aptos" panose="020B0004020202020204" pitchFamily="34" charset="0"/>
                <a:cs typeface="Times New Roman" panose="02020603050405020304" pitchFamily="18" charset="0"/>
              </a:rPr>
              <a:t> merging, </a:t>
            </a:r>
            <a:r>
              <a:rPr lang="en-US" dirty="0" err="1">
                <a:latin typeface="Aptos" panose="020B0004020202020204" pitchFamily="34" charset="0"/>
                <a:cs typeface="Times New Roman" panose="02020603050405020304" pitchFamily="18" charset="0"/>
              </a:rPr>
              <a:t>IdentifyFully</a:t>
            </a:r>
            <a:r>
              <a:rPr lang="en-US" dirty="0">
                <a:latin typeface="Aptos" panose="020B0004020202020204" pitchFamily="34" charset="0"/>
                <a:cs typeface="Times New Roman" panose="02020603050405020304" pitchFamily="18" charset="0"/>
              </a:rPr>
              <a:t> merging, </a:t>
            </a:r>
            <a:r>
              <a:rPr lang="en-US" dirty="0" err="1">
                <a:latin typeface="Aptos" panose="020B0004020202020204" pitchFamily="34" charset="0"/>
                <a:cs typeface="Times New Roman" panose="02020603050405020304" pitchFamily="18" charset="0"/>
              </a:rPr>
              <a:t>AdjustDamageForMonsterStype</a:t>
            </a:r>
            <a:r>
              <a:rPr lang="en-US" dirty="0">
                <a:latin typeface="Aptos" panose="020B0004020202020204" pitchFamily="34" charset="0"/>
                <a:cs typeface="Times New Roman" panose="02020603050405020304" pitchFamily="18" charset="0"/>
              </a:rPr>
              <a:t>, </a:t>
            </a:r>
            <a:r>
              <a:rPr lang="en-US" dirty="0" err="1">
                <a:latin typeface="Aptos" panose="020B0004020202020204" pitchFamily="34" charset="0"/>
                <a:cs typeface="Times New Roman" panose="02020603050405020304" pitchFamily="18" charset="0"/>
              </a:rPr>
              <a:t>GetMergedCharacteristics</a:t>
            </a:r>
            <a:r>
              <a:rPr lang="en-US" dirty="0">
                <a:latin typeface="Aptos" panose="020B0004020202020204" pitchFamily="34" charset="0"/>
                <a:cs typeface="Times New Roman" panose="02020603050405020304" pitchFamily="18" charset="0"/>
              </a:rPr>
              <a:t>)</a:t>
            </a:r>
          </a:p>
          <a:p>
            <a:endParaRPr lang="en-US" dirty="0">
              <a:latin typeface="Aptos" panose="020B0004020202020204" pitchFamily="34" charset="0"/>
              <a:cs typeface="Times New Roman" panose="02020603050405020304" pitchFamily="18" charset="0"/>
            </a:endParaRPr>
          </a:p>
          <a:p>
            <a:r>
              <a:rPr lang="en-US" dirty="0">
                <a:latin typeface="Aptos" panose="020B0004020202020204" pitchFamily="34" charset="0"/>
                <a:cs typeface="Times New Roman" panose="02020603050405020304" pitchFamily="18" charset="0"/>
              </a:rPr>
              <a:t>Game – </a:t>
            </a:r>
            <a:r>
              <a:rPr lang="en-US" dirty="0" err="1">
                <a:latin typeface="Aptos" panose="020B0004020202020204" pitchFamily="34" charset="0"/>
                <a:cs typeface="Times New Roman" panose="02020603050405020304" pitchFamily="18" charset="0"/>
              </a:rPr>
              <a:t>GetAbilitiesAsItemFlags</a:t>
            </a:r>
            <a:endParaRPr lang="en-US" dirty="0">
              <a:latin typeface="Aptos" panose="020B0004020202020204" pitchFamily="34" charset="0"/>
              <a:cs typeface="Times New Roman" panose="02020603050405020304" pitchFamily="18" charset="0"/>
            </a:endParaRPr>
          </a:p>
          <a:p>
            <a:endParaRPr lang="en-US" dirty="0">
              <a:latin typeface="Aptos" panose="020B0004020202020204" pitchFamily="34" charset="0"/>
              <a:cs typeface="Times New Roman" panose="02020603050405020304" pitchFamily="18" charset="0"/>
            </a:endParaRPr>
          </a:p>
          <a:p>
            <a:endParaRPr lang="en-US" dirty="0">
              <a:latin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ItemAdditiveBundles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 These are immutable configuration singletons.</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p>
            <a:r>
              <a:rPr lang="en-US" sz="1800" dirty="0" err="1">
                <a:effectLst/>
                <a:latin typeface="Aptos" panose="020B0004020202020204" pitchFamily="34" charset="0"/>
                <a:ea typeface="Aptos" panose="020B0004020202020204" pitchFamily="34" charset="0"/>
                <a:cs typeface="Times New Roman" panose="02020603050405020304" pitchFamily="18" charset="0"/>
              </a:rPr>
              <a:t>FixedArtifact</a:t>
            </a:r>
            <a:r>
              <a:rPr lang="en-US" sz="1800" dirty="0">
                <a:effectLst/>
                <a:latin typeface="Aptos" panose="020B0004020202020204" pitchFamily="34" charset="0"/>
                <a:ea typeface="Aptos" panose="020B0004020202020204" pitchFamily="34" charset="0"/>
                <a:cs typeface="Times New Roman" panose="02020603050405020304" pitchFamily="18" charset="0"/>
              </a:rPr>
              <a:t> – This is an </a:t>
            </a:r>
            <a:r>
              <a:rPr lang="en-US" dirty="0">
                <a:latin typeface="Aptos" panose="020B0004020202020204" pitchFamily="34" charset="0"/>
                <a:ea typeface="Aptos" panose="020B0004020202020204" pitchFamily="34" charset="0"/>
                <a:cs typeface="Times New Roman" panose="02020603050405020304" pitchFamily="18" charset="0"/>
              </a:rPr>
              <a:t>immutable configuration singleton.</a:t>
            </a:r>
          </a:p>
          <a:p>
            <a:endParaRPr lang="en-US" dirty="0"/>
          </a:p>
        </p:txBody>
      </p:sp>
    </p:spTree>
    <p:extLst>
      <p:ext uri="{BB962C8B-B14F-4D97-AF65-F5344CB8AC3E}">
        <p14:creationId xmlns:p14="http://schemas.microsoft.com/office/powerpoint/2010/main" val="29567485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FD78-63DC-B138-7805-A670EDAE193E}"/>
              </a:ext>
            </a:extLst>
          </p:cNvPr>
          <p:cNvSpPr>
            <a:spLocks noGrp="1"/>
          </p:cNvSpPr>
          <p:nvPr>
            <p:ph type="title"/>
          </p:nvPr>
        </p:nvSpPr>
        <p:spPr/>
        <p:txBody>
          <a:bodyPr/>
          <a:lstStyle/>
          <a:p>
            <a:r>
              <a:rPr lang="en-US" dirty="0"/>
              <a:t>Tuple XML Commenting</a:t>
            </a:r>
          </a:p>
        </p:txBody>
      </p:sp>
      <p:sp>
        <p:nvSpPr>
          <p:cNvPr id="3" name="Content Placeholder 2">
            <a:extLst>
              <a:ext uri="{FF2B5EF4-FFF2-40B4-BE49-F238E27FC236}">
                <a16:creationId xmlns:a16="http://schemas.microsoft.com/office/drawing/2014/main" id="{1F0849C0-BA64-8C16-30A2-A52B38410062}"/>
              </a:ext>
            </a:extLst>
          </p:cNvPr>
          <p:cNvSpPr>
            <a:spLocks noGrp="1"/>
          </p:cNvSpPr>
          <p:nvPr>
            <p:ph idx="1"/>
          </p:nvPr>
        </p:nvSpPr>
        <p:spPr/>
        <p:txBody>
          <a:bodyPr>
            <a:normAutofit/>
          </a:bodyPr>
          <a:lstStyle/>
          <a:p>
            <a:pPr marL="0" indent="0">
              <a:buNone/>
            </a:pPr>
            <a:r>
              <a:rPr lang="en-US" dirty="0"/>
              <a:t>As of C# 9, XML comments do not support tuples.  The metadata scaffolding needs descriptions and data type definitions for each tuple element.  To support this, </a:t>
            </a:r>
            <a:r>
              <a:rPr lang="en-US" dirty="0" err="1"/>
              <a:t>AngbandOS</a:t>
            </a:r>
            <a:r>
              <a:rPr lang="en-US" dirty="0"/>
              <a:t> has a special XML comment format.</a:t>
            </a:r>
          </a:p>
          <a:p>
            <a:pPr marL="0" indent="0">
              <a:buNone/>
            </a:pP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&lt;summary&gt;</a:t>
            </a:r>
            <a:br>
              <a:rPr lang="en-US" sz="900" dirty="0">
                <a:solidFill>
                  <a:srgbClr val="80808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Returns the manifests used to stock the store.  These manifests specify which item factories the store stocks and an </a:t>
            </a:r>
            <a:r>
              <a:rPr lang="en-US" sz="900" dirty="0" err="1">
                <a:solidFill>
                  <a:srgbClr val="008000"/>
                </a:solidFill>
                <a:highlight>
                  <a:srgbClr val="FFFFFF"/>
                </a:highlight>
                <a:latin typeface="Cascadia Mono" panose="020B0609020000020004" pitchFamily="49" charset="0"/>
              </a:rPr>
              <a:t>assocated</a:t>
            </a:r>
            <a:r>
              <a:rPr lang="en-US" sz="900" dirty="0">
                <a:solidFill>
                  <a:srgbClr val="008000"/>
                </a:solidFill>
                <a:highlight>
                  <a:srgbClr val="FFFFFF"/>
                </a:highlight>
                <a:latin typeface="Cascadia Mono" panose="020B0609020000020004" pitchFamily="49" charset="0"/>
              </a:rPr>
              <a:t> distribution weight for each item factory.</a:t>
            </a:r>
            <a:br>
              <a:rPr lang="en-US" sz="900" dirty="0">
                <a:solidFill>
                  <a:srgbClr val="00800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&lt;/summary&gt;</a:t>
            </a:r>
            <a:br>
              <a:rPr lang="en-US" sz="900" dirty="0">
                <a:solidFill>
                  <a:srgbClr val="80808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&lt;returns&gt;</a:t>
            </a:r>
            <a:br>
              <a:rPr lang="en-US" sz="900" dirty="0">
                <a:solidFill>
                  <a:srgbClr val="80808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err="1">
                <a:solidFill>
                  <a:srgbClr val="008000"/>
                </a:solidFill>
                <a:highlight>
                  <a:srgbClr val="FFFFFF"/>
                </a:highlight>
                <a:latin typeface="Cascadia Mono" panose="020B0609020000020004" pitchFamily="49" charset="0"/>
              </a:rPr>
              <a:t>ItemFactoryName:description</a:t>
            </a:r>
            <a:r>
              <a:rPr lang="en-US" sz="900" dirty="0">
                <a:solidFill>
                  <a:srgbClr val="008000"/>
                </a:solidFill>
                <a:highlight>
                  <a:srgbClr val="FFFFFF"/>
                </a:highlight>
                <a:latin typeface="Cascadia Mono" panose="020B0609020000020004" pitchFamily="49" charset="0"/>
              </a:rPr>
              <a:t>: The name of the item factory.</a:t>
            </a:r>
            <a:br>
              <a:rPr lang="en-US" sz="900" dirty="0">
                <a:solidFill>
                  <a:srgbClr val="00800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err="1">
                <a:solidFill>
                  <a:srgbClr val="008000"/>
                </a:solidFill>
                <a:highlight>
                  <a:srgbClr val="FFFFFF"/>
                </a:highlight>
                <a:latin typeface="Cascadia Mono" panose="020B0609020000020004" pitchFamily="49" charset="0"/>
              </a:rPr>
              <a:t>ItemFactoryName:foreign-collection-name</a:t>
            </a:r>
            <a:r>
              <a:rPr lang="en-US" sz="900" dirty="0">
                <a:solidFill>
                  <a:srgbClr val="008000"/>
                </a:solidFill>
                <a:highlight>
                  <a:srgbClr val="FFFFFF"/>
                </a:highlight>
                <a:latin typeface="Cascadia Mono" panose="020B0609020000020004" pitchFamily="49" charset="0"/>
              </a:rPr>
              <a:t>: </a:t>
            </a:r>
            <a:r>
              <a:rPr lang="en-US" sz="900" dirty="0" err="1">
                <a:solidFill>
                  <a:srgbClr val="008000"/>
                </a:solidFill>
                <a:highlight>
                  <a:srgbClr val="FFFFFF"/>
                </a:highlight>
                <a:latin typeface="Cascadia Mono" panose="020B0609020000020004" pitchFamily="49" charset="0"/>
              </a:rPr>
              <a:t>ItemFactories</a:t>
            </a:r>
            <a:br>
              <a:rPr lang="en-US" sz="900" dirty="0">
                <a:solidFill>
                  <a:srgbClr val="00800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err="1">
                <a:solidFill>
                  <a:srgbClr val="008000"/>
                </a:solidFill>
                <a:highlight>
                  <a:srgbClr val="FFFFFF"/>
                </a:highlight>
                <a:latin typeface="Cascadia Mono" panose="020B0609020000020004" pitchFamily="49" charset="0"/>
              </a:rPr>
              <a:t>Weight:Description</a:t>
            </a:r>
            <a:r>
              <a:rPr lang="en-US" sz="900" dirty="0">
                <a:solidFill>
                  <a:srgbClr val="008000"/>
                </a:solidFill>
                <a:highlight>
                  <a:srgbClr val="FFFFFF"/>
                </a:highlight>
                <a:latin typeface="Cascadia Mono" panose="020B0609020000020004" pitchFamily="49" charset="0"/>
              </a:rPr>
              <a:t>: The associated distribution weight for the item factory.</a:t>
            </a:r>
            <a:br>
              <a:rPr lang="en-US" sz="900" dirty="0">
                <a:solidFill>
                  <a:srgbClr val="00800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a:t>
            </a:r>
            <a:r>
              <a:rPr lang="en-US" sz="900" dirty="0">
                <a:solidFill>
                  <a:srgbClr val="008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&lt;/returns&gt;</a:t>
            </a:r>
            <a:br>
              <a:rPr lang="en-US" sz="900" dirty="0">
                <a:solidFill>
                  <a:srgbClr val="808080"/>
                </a:solidFill>
                <a:highlight>
                  <a:srgbClr val="FFFFFF"/>
                </a:highlight>
                <a:latin typeface="Cascadia Mono" panose="020B0609020000020004" pitchFamily="49" charset="0"/>
              </a:rPr>
            </a:b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virtual</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a:t>
            </a:r>
            <a:r>
              <a:rPr lang="en-US" sz="900" dirty="0" err="1">
                <a:solidFill>
                  <a:srgbClr val="000000"/>
                </a:solidFill>
                <a:highlight>
                  <a:srgbClr val="FFFFFF"/>
                </a:highlight>
                <a:latin typeface="Cascadia Mono" panose="020B0609020000020004" pitchFamily="49" charset="0"/>
              </a:rPr>
              <a:t>ItemFactoryName</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Weight)[]? </a:t>
            </a:r>
            <a:r>
              <a:rPr lang="en-US" sz="900" dirty="0" err="1">
                <a:solidFill>
                  <a:srgbClr val="000000"/>
                </a:solidFill>
                <a:highlight>
                  <a:srgbClr val="FFFFFF"/>
                </a:highlight>
                <a:latin typeface="Cascadia Mono" panose="020B0609020000020004" pitchFamily="49" charset="0"/>
              </a:rPr>
              <a:t>StoreStockManifestDefinitions</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 = </a:t>
            </a:r>
            <a:r>
              <a:rPr lang="en-US" sz="900" dirty="0">
                <a:solidFill>
                  <a:srgbClr val="0000FF"/>
                </a:solidFill>
                <a:highlight>
                  <a:srgbClr val="FFFFFF"/>
                </a:highlight>
                <a:latin typeface="Cascadia Mono" panose="020B0609020000020004" pitchFamily="49" charset="0"/>
              </a:rPr>
              <a:t>null</a:t>
            </a:r>
            <a:r>
              <a:rPr lang="en-US" sz="900" dirty="0">
                <a:solidFill>
                  <a:srgbClr val="000000"/>
                </a:solidFill>
                <a:highlight>
                  <a:srgbClr val="FFFFFF"/>
                </a:highlight>
                <a:latin typeface="Cascadia Mono" panose="020B0609020000020004" pitchFamily="49" charset="0"/>
              </a:rPr>
              <a:t>;</a:t>
            </a:r>
            <a:endParaRPr lang="en-US" sz="900" dirty="0"/>
          </a:p>
        </p:txBody>
      </p:sp>
    </p:spTree>
    <p:extLst>
      <p:ext uri="{BB962C8B-B14F-4D97-AF65-F5344CB8AC3E}">
        <p14:creationId xmlns:p14="http://schemas.microsoft.com/office/powerpoint/2010/main" val="846826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56E5-2CF7-C938-BA70-E05771DE42AF}"/>
              </a:ext>
            </a:extLst>
          </p:cNvPr>
          <p:cNvSpPr>
            <a:spLocks noGrp="1"/>
          </p:cNvSpPr>
          <p:nvPr>
            <p:ph type="title"/>
          </p:nvPr>
        </p:nvSpPr>
        <p:spPr/>
        <p:txBody>
          <a:bodyPr/>
          <a:lstStyle/>
          <a:p>
            <a:r>
              <a:rPr lang="en-US" dirty="0"/>
              <a:t>Expressions</a:t>
            </a:r>
          </a:p>
        </p:txBody>
      </p:sp>
      <p:sp>
        <p:nvSpPr>
          <p:cNvPr id="4" name="Rectangle 3">
            <a:extLst>
              <a:ext uri="{FF2B5EF4-FFF2-40B4-BE49-F238E27FC236}">
                <a16:creationId xmlns:a16="http://schemas.microsoft.com/office/drawing/2014/main" id="{08C6666D-578B-420E-1F20-ACAEA9302AAA}"/>
              </a:ext>
            </a:extLst>
          </p:cNvPr>
          <p:cNvSpPr/>
          <p:nvPr/>
        </p:nvSpPr>
        <p:spPr>
          <a:xfrm>
            <a:off x="3356517" y="6091431"/>
            <a:ext cx="845633" cy="2536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Expression</a:t>
            </a:r>
          </a:p>
        </p:txBody>
      </p:sp>
      <p:sp>
        <p:nvSpPr>
          <p:cNvPr id="5" name="Rectangle 4">
            <a:extLst>
              <a:ext uri="{FF2B5EF4-FFF2-40B4-BE49-F238E27FC236}">
                <a16:creationId xmlns:a16="http://schemas.microsoft.com/office/drawing/2014/main" id="{94BAC70F-B48D-3120-4CF1-F79A6205919C}"/>
              </a:ext>
            </a:extLst>
          </p:cNvPr>
          <p:cNvSpPr/>
          <p:nvPr/>
        </p:nvSpPr>
        <p:spPr>
          <a:xfrm>
            <a:off x="821231" y="5037790"/>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Decimal Expression</a:t>
            </a:r>
          </a:p>
        </p:txBody>
      </p:sp>
      <p:sp>
        <p:nvSpPr>
          <p:cNvPr id="6" name="Rectangle 5">
            <a:extLst>
              <a:ext uri="{FF2B5EF4-FFF2-40B4-BE49-F238E27FC236}">
                <a16:creationId xmlns:a16="http://schemas.microsoft.com/office/drawing/2014/main" id="{456B5B0A-8973-0456-C76D-944692B00E0E}"/>
              </a:ext>
            </a:extLst>
          </p:cNvPr>
          <p:cNvSpPr/>
          <p:nvPr/>
        </p:nvSpPr>
        <p:spPr>
          <a:xfrm>
            <a:off x="3953684" y="5061537"/>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Identifier Expression</a:t>
            </a:r>
          </a:p>
        </p:txBody>
      </p:sp>
      <p:sp>
        <p:nvSpPr>
          <p:cNvPr id="7" name="Rectangle 6">
            <a:extLst>
              <a:ext uri="{FF2B5EF4-FFF2-40B4-BE49-F238E27FC236}">
                <a16:creationId xmlns:a16="http://schemas.microsoft.com/office/drawing/2014/main" id="{2DB5EA65-3D68-6E90-3479-A0751E8AE2D6}"/>
              </a:ext>
            </a:extLst>
          </p:cNvPr>
          <p:cNvSpPr/>
          <p:nvPr/>
        </p:nvSpPr>
        <p:spPr>
          <a:xfrm>
            <a:off x="5023847" y="5028642"/>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Integer Expression</a:t>
            </a:r>
          </a:p>
        </p:txBody>
      </p:sp>
      <p:sp>
        <p:nvSpPr>
          <p:cNvPr id="8" name="Rectangle 7">
            <a:extLst>
              <a:ext uri="{FF2B5EF4-FFF2-40B4-BE49-F238E27FC236}">
                <a16:creationId xmlns:a16="http://schemas.microsoft.com/office/drawing/2014/main" id="{4BC114AE-2729-9B7A-1645-C935341A3820}"/>
              </a:ext>
            </a:extLst>
          </p:cNvPr>
          <p:cNvSpPr/>
          <p:nvPr/>
        </p:nvSpPr>
        <p:spPr>
          <a:xfrm>
            <a:off x="6060447" y="5026077"/>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Infix Expression</a:t>
            </a:r>
          </a:p>
        </p:txBody>
      </p:sp>
      <p:sp>
        <p:nvSpPr>
          <p:cNvPr id="9" name="Rectangle 8">
            <a:extLst>
              <a:ext uri="{FF2B5EF4-FFF2-40B4-BE49-F238E27FC236}">
                <a16:creationId xmlns:a16="http://schemas.microsoft.com/office/drawing/2014/main" id="{7B2E223F-2240-B153-62E3-8FED57945624}"/>
              </a:ext>
            </a:extLst>
          </p:cNvPr>
          <p:cNvSpPr/>
          <p:nvPr/>
        </p:nvSpPr>
        <p:spPr>
          <a:xfrm>
            <a:off x="2883521" y="5037786"/>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Parenthesis Expression</a:t>
            </a:r>
          </a:p>
        </p:txBody>
      </p:sp>
      <p:sp>
        <p:nvSpPr>
          <p:cNvPr id="10" name="Rectangle 9">
            <a:extLst>
              <a:ext uri="{FF2B5EF4-FFF2-40B4-BE49-F238E27FC236}">
                <a16:creationId xmlns:a16="http://schemas.microsoft.com/office/drawing/2014/main" id="{49E08E24-4560-8B9F-2522-4D6638C95DC7}"/>
              </a:ext>
            </a:extLst>
          </p:cNvPr>
          <p:cNvSpPr/>
          <p:nvPr/>
        </p:nvSpPr>
        <p:spPr>
          <a:xfrm>
            <a:off x="1857831" y="5037788"/>
            <a:ext cx="895813"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Boolean </a:t>
            </a:r>
          </a:p>
          <a:p>
            <a:pPr algn="ctr"/>
            <a:r>
              <a:rPr lang="en-US" sz="1000" dirty="0"/>
              <a:t>Expression</a:t>
            </a:r>
          </a:p>
        </p:txBody>
      </p:sp>
      <p:cxnSp>
        <p:nvCxnSpPr>
          <p:cNvPr id="35" name="Connector: Elbow 34">
            <a:extLst>
              <a:ext uri="{FF2B5EF4-FFF2-40B4-BE49-F238E27FC236}">
                <a16:creationId xmlns:a16="http://schemas.microsoft.com/office/drawing/2014/main" id="{D140A1A9-55D7-997F-DF40-27A094A1687E}"/>
              </a:ext>
            </a:extLst>
          </p:cNvPr>
          <p:cNvCxnSpPr>
            <a:cxnSpLocks/>
            <a:stCxn id="5" idx="2"/>
            <a:endCxn id="4" idx="0"/>
          </p:cNvCxnSpPr>
          <p:nvPr/>
        </p:nvCxnSpPr>
        <p:spPr>
          <a:xfrm rot="16200000" flipH="1">
            <a:off x="2178119" y="4490216"/>
            <a:ext cx="692234" cy="251019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Connector: Elbow 35">
            <a:extLst>
              <a:ext uri="{FF2B5EF4-FFF2-40B4-BE49-F238E27FC236}">
                <a16:creationId xmlns:a16="http://schemas.microsoft.com/office/drawing/2014/main" id="{0C598C3F-3E5A-2D4D-C798-5E5B3F54E816}"/>
              </a:ext>
            </a:extLst>
          </p:cNvPr>
          <p:cNvCxnSpPr>
            <a:cxnSpLocks/>
            <a:stCxn id="10" idx="2"/>
            <a:endCxn id="4" idx="0"/>
          </p:cNvCxnSpPr>
          <p:nvPr/>
        </p:nvCxnSpPr>
        <p:spPr>
          <a:xfrm rot="16200000" flipH="1">
            <a:off x="2696418" y="5008515"/>
            <a:ext cx="692236" cy="147359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Connector: Elbow 38">
            <a:extLst>
              <a:ext uri="{FF2B5EF4-FFF2-40B4-BE49-F238E27FC236}">
                <a16:creationId xmlns:a16="http://schemas.microsoft.com/office/drawing/2014/main" id="{0CD0685F-4145-8B9A-2D50-88191AF8CDF0}"/>
              </a:ext>
            </a:extLst>
          </p:cNvPr>
          <p:cNvCxnSpPr>
            <a:cxnSpLocks/>
            <a:stCxn id="9" idx="2"/>
            <a:endCxn id="4" idx="0"/>
          </p:cNvCxnSpPr>
          <p:nvPr/>
        </p:nvCxnSpPr>
        <p:spPr>
          <a:xfrm rot="16200000" flipH="1">
            <a:off x="3209262" y="5521359"/>
            <a:ext cx="692238" cy="44790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26A155E2-4E51-68E4-BC35-DBDFC8421104}"/>
              </a:ext>
            </a:extLst>
          </p:cNvPr>
          <p:cNvCxnSpPr>
            <a:cxnSpLocks/>
            <a:stCxn id="8" idx="2"/>
            <a:endCxn id="4" idx="0"/>
          </p:cNvCxnSpPr>
          <p:nvPr/>
        </p:nvCxnSpPr>
        <p:spPr>
          <a:xfrm rot="5400000">
            <a:off x="4791871" y="4374947"/>
            <a:ext cx="703947" cy="27290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onnector: Elbow 44">
            <a:extLst>
              <a:ext uri="{FF2B5EF4-FFF2-40B4-BE49-F238E27FC236}">
                <a16:creationId xmlns:a16="http://schemas.microsoft.com/office/drawing/2014/main" id="{838FA0FD-1ED6-4B6E-0A8B-BE3B8F08BC0A}"/>
              </a:ext>
            </a:extLst>
          </p:cNvPr>
          <p:cNvCxnSpPr>
            <a:cxnSpLocks/>
            <a:stCxn id="7" idx="2"/>
            <a:endCxn id="4" idx="0"/>
          </p:cNvCxnSpPr>
          <p:nvPr/>
        </p:nvCxnSpPr>
        <p:spPr>
          <a:xfrm rot="5400000">
            <a:off x="4274853" y="4894530"/>
            <a:ext cx="701382" cy="16924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E34265AA-8022-4F9E-81DA-F8F9F1A7F92D}"/>
              </a:ext>
            </a:extLst>
          </p:cNvPr>
          <p:cNvCxnSpPr>
            <a:cxnSpLocks/>
            <a:stCxn id="6" idx="2"/>
            <a:endCxn id="4" idx="0"/>
          </p:cNvCxnSpPr>
          <p:nvPr/>
        </p:nvCxnSpPr>
        <p:spPr>
          <a:xfrm rot="5400000">
            <a:off x="3756220" y="5446059"/>
            <a:ext cx="668487" cy="622257"/>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B8DFD506-1BE8-92B3-F56C-FA6AEC2CE2D9}"/>
              </a:ext>
            </a:extLst>
          </p:cNvPr>
          <p:cNvSpPr/>
          <p:nvPr/>
        </p:nvSpPr>
        <p:spPr>
          <a:xfrm>
            <a:off x="5023847" y="3593766"/>
            <a:ext cx="1094678"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Division</a:t>
            </a:r>
          </a:p>
          <a:p>
            <a:pPr algn="ctr"/>
            <a:r>
              <a:rPr lang="en-US" sz="1000" dirty="0"/>
              <a:t>Infix Expression</a:t>
            </a:r>
          </a:p>
        </p:txBody>
      </p:sp>
      <p:sp>
        <p:nvSpPr>
          <p:cNvPr id="52" name="Rectangle 51">
            <a:extLst>
              <a:ext uri="{FF2B5EF4-FFF2-40B4-BE49-F238E27FC236}">
                <a16:creationId xmlns:a16="http://schemas.microsoft.com/office/drawing/2014/main" id="{F542236B-8A9A-0309-508C-0A55FE896BC7}"/>
              </a:ext>
            </a:extLst>
          </p:cNvPr>
          <p:cNvSpPr/>
          <p:nvPr/>
        </p:nvSpPr>
        <p:spPr>
          <a:xfrm>
            <a:off x="6193443" y="3593766"/>
            <a:ext cx="1094678"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Equals</a:t>
            </a:r>
          </a:p>
          <a:p>
            <a:pPr algn="ctr"/>
            <a:r>
              <a:rPr lang="en-US" sz="1000" dirty="0"/>
              <a:t>Infix Expression</a:t>
            </a:r>
          </a:p>
        </p:txBody>
      </p:sp>
      <p:sp>
        <p:nvSpPr>
          <p:cNvPr id="53" name="Rectangle 52">
            <a:extLst>
              <a:ext uri="{FF2B5EF4-FFF2-40B4-BE49-F238E27FC236}">
                <a16:creationId xmlns:a16="http://schemas.microsoft.com/office/drawing/2014/main" id="{FB653DE6-1E7C-F3F9-A2D9-639986D379BB}"/>
              </a:ext>
            </a:extLst>
          </p:cNvPr>
          <p:cNvSpPr/>
          <p:nvPr/>
        </p:nvSpPr>
        <p:spPr>
          <a:xfrm>
            <a:off x="7363039" y="3599051"/>
            <a:ext cx="1094678"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Multiplication</a:t>
            </a:r>
          </a:p>
          <a:p>
            <a:pPr algn="ctr"/>
            <a:r>
              <a:rPr lang="en-US" sz="1000" dirty="0"/>
              <a:t>Infix Expression</a:t>
            </a:r>
          </a:p>
        </p:txBody>
      </p:sp>
      <p:sp>
        <p:nvSpPr>
          <p:cNvPr id="54" name="Rectangle 53">
            <a:extLst>
              <a:ext uri="{FF2B5EF4-FFF2-40B4-BE49-F238E27FC236}">
                <a16:creationId xmlns:a16="http://schemas.microsoft.com/office/drawing/2014/main" id="{B2E075CE-E96D-1067-D565-363848C5B64F}"/>
              </a:ext>
            </a:extLst>
          </p:cNvPr>
          <p:cNvSpPr/>
          <p:nvPr/>
        </p:nvSpPr>
        <p:spPr>
          <a:xfrm>
            <a:off x="3854251" y="3593767"/>
            <a:ext cx="1094678"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Addition</a:t>
            </a:r>
          </a:p>
          <a:p>
            <a:pPr algn="ctr"/>
            <a:r>
              <a:rPr lang="en-US" sz="1000" dirty="0"/>
              <a:t>Infix Expression</a:t>
            </a:r>
          </a:p>
        </p:txBody>
      </p:sp>
      <p:sp>
        <p:nvSpPr>
          <p:cNvPr id="55" name="Rectangle 54">
            <a:extLst>
              <a:ext uri="{FF2B5EF4-FFF2-40B4-BE49-F238E27FC236}">
                <a16:creationId xmlns:a16="http://schemas.microsoft.com/office/drawing/2014/main" id="{5C3E49D5-67E2-FC13-67B1-67DC0AF63A6F}"/>
              </a:ext>
            </a:extLst>
          </p:cNvPr>
          <p:cNvSpPr/>
          <p:nvPr/>
        </p:nvSpPr>
        <p:spPr>
          <a:xfrm>
            <a:off x="8532635" y="3610203"/>
            <a:ext cx="1094678" cy="3614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Subtraction</a:t>
            </a:r>
          </a:p>
          <a:p>
            <a:pPr algn="ctr"/>
            <a:r>
              <a:rPr lang="en-US" sz="1000" dirty="0"/>
              <a:t>Infix Expression</a:t>
            </a:r>
          </a:p>
        </p:txBody>
      </p:sp>
      <p:cxnSp>
        <p:nvCxnSpPr>
          <p:cNvPr id="90" name="Connector: Elbow 89">
            <a:extLst>
              <a:ext uri="{FF2B5EF4-FFF2-40B4-BE49-F238E27FC236}">
                <a16:creationId xmlns:a16="http://schemas.microsoft.com/office/drawing/2014/main" id="{A755ED8B-DAC9-BEF0-2A64-AFD3355670DB}"/>
              </a:ext>
            </a:extLst>
          </p:cNvPr>
          <p:cNvCxnSpPr>
            <a:stCxn id="54" idx="2"/>
            <a:endCxn id="8" idx="0"/>
          </p:cNvCxnSpPr>
          <p:nvPr/>
        </p:nvCxnSpPr>
        <p:spPr>
          <a:xfrm rot="16200000" flipH="1">
            <a:off x="4919521" y="3437243"/>
            <a:ext cx="1070903" cy="210676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Connector: Elbow 90">
            <a:extLst>
              <a:ext uri="{FF2B5EF4-FFF2-40B4-BE49-F238E27FC236}">
                <a16:creationId xmlns:a16="http://schemas.microsoft.com/office/drawing/2014/main" id="{94C263F1-DCC7-8716-24C2-797FCBD06D82}"/>
              </a:ext>
            </a:extLst>
          </p:cNvPr>
          <p:cNvCxnSpPr>
            <a:cxnSpLocks/>
            <a:stCxn id="51" idx="2"/>
            <a:endCxn id="8" idx="0"/>
          </p:cNvCxnSpPr>
          <p:nvPr/>
        </p:nvCxnSpPr>
        <p:spPr>
          <a:xfrm rot="16200000" flipH="1">
            <a:off x="5504318" y="4022041"/>
            <a:ext cx="1070904" cy="93716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9900C957-7E51-BA0D-4AA6-1EE9FD46F03B}"/>
              </a:ext>
            </a:extLst>
          </p:cNvPr>
          <p:cNvCxnSpPr>
            <a:cxnSpLocks/>
            <a:stCxn id="52" idx="2"/>
            <a:endCxn id="8" idx="0"/>
          </p:cNvCxnSpPr>
          <p:nvPr/>
        </p:nvCxnSpPr>
        <p:spPr>
          <a:xfrm rot="5400000">
            <a:off x="6089116" y="4374411"/>
            <a:ext cx="1070904" cy="23242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7" name="Connector: Elbow 96">
            <a:extLst>
              <a:ext uri="{FF2B5EF4-FFF2-40B4-BE49-F238E27FC236}">
                <a16:creationId xmlns:a16="http://schemas.microsoft.com/office/drawing/2014/main" id="{879AA4AE-890C-762F-EEF9-3B0493AA21FF}"/>
              </a:ext>
            </a:extLst>
          </p:cNvPr>
          <p:cNvCxnSpPr>
            <a:cxnSpLocks/>
            <a:stCxn id="53" idx="2"/>
            <a:endCxn id="8" idx="0"/>
          </p:cNvCxnSpPr>
          <p:nvPr/>
        </p:nvCxnSpPr>
        <p:spPr>
          <a:xfrm rot="5400000">
            <a:off x="6676557" y="3792255"/>
            <a:ext cx="1065619" cy="140202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B2D3615A-925F-14D8-8289-4150B297450F}"/>
              </a:ext>
            </a:extLst>
          </p:cNvPr>
          <p:cNvCxnSpPr>
            <a:cxnSpLocks/>
            <a:stCxn id="55" idx="2"/>
            <a:endCxn id="8" idx="0"/>
          </p:cNvCxnSpPr>
          <p:nvPr/>
        </p:nvCxnSpPr>
        <p:spPr>
          <a:xfrm rot="5400000">
            <a:off x="7266931" y="3213033"/>
            <a:ext cx="1054467" cy="257162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2833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41B3-95FC-3E88-4520-AADC1DEFA7B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016F07-138E-654C-976B-9CFEB21FDCA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1187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36970</TotalTime>
  <Words>3898</Words>
  <Application>Microsoft Office PowerPoint</Application>
  <PresentationFormat>Widescreen</PresentationFormat>
  <Paragraphs>396</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Aptos</vt:lpstr>
      <vt:lpstr>Aptos Display</vt:lpstr>
      <vt:lpstr>Arial</vt:lpstr>
      <vt:lpstr>Cascadia Mono</vt:lpstr>
      <vt:lpstr>Courier New</vt:lpstr>
      <vt:lpstr>Office Theme</vt:lpstr>
      <vt:lpstr>AngbandOS</vt:lpstr>
      <vt:lpstr>Table of Contents</vt:lpstr>
      <vt:lpstr>Game Serialization and Deserialization</vt:lpstr>
      <vt:lpstr>Game Serialization</vt:lpstr>
      <vt:lpstr>Game Deserialization Description</vt:lpstr>
      <vt:lpstr>Game Deserialization Algorithm</vt:lpstr>
      <vt:lpstr>Serialization</vt:lpstr>
      <vt:lpstr>Singleton Repository Serialization</vt:lpstr>
      <vt:lpstr>Serialization</vt:lpstr>
      <vt:lpstr>Deserialization Completeness</vt:lpstr>
      <vt:lpstr>Deserialization Walkthrough</vt:lpstr>
      <vt:lpstr>Singletons Configured vs System</vt:lpstr>
      <vt:lpstr>Game State Restore</vt:lpstr>
      <vt:lpstr>New Game Construction and Play</vt:lpstr>
      <vt:lpstr>Game Restore</vt:lpstr>
      <vt:lpstr>Game Replay</vt:lpstr>
      <vt:lpstr>Web Topology Active and Saved Game Listings and In-Progress with Spectators</vt:lpstr>
      <vt:lpstr>Web User Initiate and Play New Game</vt:lpstr>
      <vt:lpstr>Core Framework</vt:lpstr>
      <vt:lpstr>Declarative Configuration</vt:lpstr>
      <vt:lpstr>Game Packs vs Generics</vt:lpstr>
      <vt:lpstr>Configuration Objects</vt:lpstr>
      <vt:lpstr>Singletons Load and Bind Description</vt:lpstr>
      <vt:lpstr>Singletons Load and Bind Algorithm</vt:lpstr>
      <vt:lpstr>Singletons Load Phase</vt:lpstr>
      <vt:lpstr>Singletons Bind Phase</vt:lpstr>
      <vt:lpstr>Object Property Design and Binding</vt:lpstr>
      <vt:lpstr>Core API Class Diagram</vt:lpstr>
      <vt:lpstr>API Objects</vt:lpstr>
      <vt:lpstr>API Object Example</vt:lpstr>
      <vt:lpstr>Light-Weight Supported Data Types</vt:lpstr>
      <vt:lpstr>Generic Objects</vt:lpstr>
      <vt:lpstr>Generic Object Example</vt:lpstr>
      <vt:lpstr>API Object Serialization</vt:lpstr>
      <vt:lpstr>Game Pack Objects</vt:lpstr>
      <vt:lpstr>Game Pack Object Example</vt:lpstr>
      <vt:lpstr>Binding Implementation</vt:lpstr>
      <vt:lpstr>Binding Naming Convention</vt:lpstr>
      <vt:lpstr>Binding Implementation Example</vt:lpstr>
      <vt:lpstr>Singleton Collection Interface Binding</vt:lpstr>
      <vt:lpstr>Action Hooks</vt:lpstr>
      <vt:lpstr>Keystroke Driver</vt:lpstr>
      <vt:lpstr>Item Characteristics</vt:lpstr>
      <vt:lpstr>Tuple XML Commenting</vt:lpstr>
      <vt:lpstr>Expressions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Johnston</dc:creator>
  <cp:lastModifiedBy>Marc Johnston</cp:lastModifiedBy>
  <cp:revision>31</cp:revision>
  <dcterms:created xsi:type="dcterms:W3CDTF">2024-11-13T17:40:27Z</dcterms:created>
  <dcterms:modified xsi:type="dcterms:W3CDTF">2026-05-28T19:47:50Z</dcterms:modified>
</cp:coreProperties>
</file>