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6" r:id="rId3"/>
    <p:sldId id="300" r:id="rId4"/>
    <p:sldId id="299" r:id="rId5"/>
    <p:sldId id="297" r:id="rId6"/>
    <p:sldId id="298" r:id="rId7"/>
    <p:sldId id="294" r:id="rId8"/>
    <p:sldId id="291" r:id="rId9"/>
    <p:sldId id="292" r:id="rId10"/>
    <p:sldId id="293" r:id="rId11"/>
    <p:sldId id="301" r:id="rId12"/>
    <p:sldId id="295" r:id="rId13"/>
    <p:sldId id="302" r:id="rId14"/>
    <p:sldId id="303" r:id="rId15"/>
    <p:sldId id="304" r:id="rId16"/>
    <p:sldId id="305" r:id="rId17"/>
    <p:sldId id="306" r:id="rId18"/>
    <p:sldId id="30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1" autoAdjust="0"/>
    <p:restoredTop sz="94660"/>
  </p:normalViewPr>
  <p:slideViewPr>
    <p:cSldViewPr snapToGrid="0">
      <p:cViewPr varScale="1">
        <p:scale>
          <a:sx n="86" d="100"/>
          <a:sy n="86" d="100"/>
        </p:scale>
        <p:origin x="32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8D19-3612-714A-BC24-84CCB45541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9CC3FC-47EE-4027-4FDB-7612ED6F36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9B9450-A297-51D9-5E9B-5F5D14814B58}"/>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76748A45-7475-F7F2-19FF-A0D65F50A2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16D31D-D785-5BB3-8BE5-5B3B211144E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492185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480EC-6D8F-5538-D354-F4E268B810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B6428B-FB78-D534-B6B6-CC18A0732B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2BD11-5115-B8EE-24F1-3E50BAC64555}"/>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EE4AEF3B-82F1-EBEC-ED69-35FF7CDC8E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A77C3D-9037-54B0-CBFC-A226E3729C2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383918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77957-6B20-FCE4-ECF4-938A8D14F4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6DD34A-0B86-3F2B-717C-7325424F60E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D73C4E-8EBB-AC72-05DF-1C2E62E1BCAB}"/>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37DB21FA-0811-8DF0-A3C0-793A478FF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2CBB24-534B-6BA0-C034-035190658D7D}"/>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35234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0EF6E-2F24-9A81-9BC0-6DB61F6CD1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FD4D7-D3EA-1AD7-5228-8E06F8003C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1D5C06-7046-8744-0C81-24A6AC38A0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C2E714-0F33-C102-F6C7-5B6D7049BD85}"/>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6" name="Footer Placeholder 5">
            <a:extLst>
              <a:ext uri="{FF2B5EF4-FFF2-40B4-BE49-F238E27FC236}">
                <a16:creationId xmlns:a16="http://schemas.microsoft.com/office/drawing/2014/main" id="{A77F82EC-D1AA-9736-9DEE-EAE00B736D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280980-EE8B-D984-AE40-9AD00792AD06}"/>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167575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88CD-B512-1D50-3F4E-4C1EC263C2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963DAE-FC77-AC3C-3EAC-823863CAB4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66BEAB-3E99-96E5-63E5-416A8E5670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B0236E-3850-26D6-EA7C-35248D7D5E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CA7B27-E088-DC10-DAE9-FF0B774384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A478AF-ECDE-8B4D-07EF-2A486F46FE83}"/>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8" name="Footer Placeholder 7">
            <a:extLst>
              <a:ext uri="{FF2B5EF4-FFF2-40B4-BE49-F238E27FC236}">
                <a16:creationId xmlns:a16="http://schemas.microsoft.com/office/drawing/2014/main" id="{7E252E81-F8B9-B776-99EB-C4CCDA224A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5E38C4-BF86-DA59-8B6A-CFF01E57FA6B}"/>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2584627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03FC6-2AAD-BF64-EDAE-5CA05F09BF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0C47D2-0833-135D-5951-B0F6F7DA009C}"/>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4" name="Footer Placeholder 3">
            <a:extLst>
              <a:ext uri="{FF2B5EF4-FFF2-40B4-BE49-F238E27FC236}">
                <a16:creationId xmlns:a16="http://schemas.microsoft.com/office/drawing/2014/main" id="{AE9E90B6-D310-2046-C981-5167BD2DC7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3A879E-F943-965C-8EBC-30D224ED70C5}"/>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51670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776C2-B238-AC94-BAE8-868A30ABDB8A}"/>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3" name="Footer Placeholder 2">
            <a:extLst>
              <a:ext uri="{FF2B5EF4-FFF2-40B4-BE49-F238E27FC236}">
                <a16:creationId xmlns:a16="http://schemas.microsoft.com/office/drawing/2014/main" id="{9917F76F-D890-5CDD-D45A-E2B17D25F7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A5A1B-434D-6158-0D7B-09CE358F31D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22519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7A30-EE4C-D80E-01A2-391FF930ED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6F3070-F233-CDCA-CA08-21C3A1FA83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A4AAD5-020E-B4AF-43E3-566A08DE0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CE78EB-F4A9-6B16-4CCD-D57A539FED05}"/>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6" name="Footer Placeholder 5">
            <a:extLst>
              <a:ext uri="{FF2B5EF4-FFF2-40B4-BE49-F238E27FC236}">
                <a16:creationId xmlns:a16="http://schemas.microsoft.com/office/drawing/2014/main" id="{C56B1FA7-9B48-1064-289B-11B060B02C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4F4C08-F976-D9D0-ADB3-5D1CC4757DB9}"/>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079088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70DDA-4AD6-3D7D-29F4-F99DCD2125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67E530-5F15-1434-AB2E-C9FD21E1B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B63532-C1C5-7F0D-BC1C-DB4BB4F7D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D6949-253A-2A56-0EFE-5CA07F09F304}"/>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6" name="Footer Placeholder 5">
            <a:extLst>
              <a:ext uri="{FF2B5EF4-FFF2-40B4-BE49-F238E27FC236}">
                <a16:creationId xmlns:a16="http://schemas.microsoft.com/office/drawing/2014/main" id="{4D43FBAC-F193-FF2C-AA8A-17A6437021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5D54B-E449-D4E8-64F4-90201E1BD023}"/>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976973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52B5C-4432-B98F-E401-21DAB4212A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7ABDA3-DF67-CD0D-AD9C-6378A06328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65A15-C94D-DA90-5A28-1041D301E7BC}"/>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37E521C1-760E-56D1-8587-63223CDBB1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8AF201-9495-DC82-66F9-8EC37189A6EA}"/>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3471503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FF027-144E-7A30-D6AF-F2313E8ED3A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82914E-9281-B0FD-E0E6-B26FE0DC2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5406BE-FC54-5317-5ACC-30D89CFD1EF9}"/>
              </a:ext>
            </a:extLst>
          </p:cNvPr>
          <p:cNvSpPr>
            <a:spLocks noGrp="1"/>
          </p:cNvSpPr>
          <p:nvPr>
            <p:ph type="dt" sz="half" idx="10"/>
          </p:nvPr>
        </p:nvSpPr>
        <p:spPr/>
        <p:txBody>
          <a:body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84B13FA2-3E2A-FD92-781C-FD32BA4030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03189F-0E9A-7BBF-6E63-16CED80BFC7C}"/>
              </a:ext>
            </a:extLst>
          </p:cNvPr>
          <p:cNvSpPr>
            <a:spLocks noGrp="1"/>
          </p:cNvSpPr>
          <p:nvPr>
            <p:ph type="sldNum" sz="quarter" idx="12"/>
          </p:nvPr>
        </p:nvSpPr>
        <p:spPr/>
        <p:txBody>
          <a:bodyPr/>
          <a:lstStyle/>
          <a:p>
            <a:fld id="{F073EFE6-D448-490A-80C1-D66688983415}" type="slidenum">
              <a:rPr lang="en-US" smtClean="0"/>
              <a:t>‹#›</a:t>
            </a:fld>
            <a:endParaRPr lang="en-US"/>
          </a:p>
        </p:txBody>
      </p:sp>
    </p:spTree>
    <p:extLst>
      <p:ext uri="{BB962C8B-B14F-4D97-AF65-F5344CB8AC3E}">
        <p14:creationId xmlns:p14="http://schemas.microsoft.com/office/powerpoint/2010/main" val="1421538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DBA1D-653B-0153-F61C-233C49D359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E2AA50-5304-79D6-B12F-A1C2C239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6A733-63D3-468C-3683-31383551A0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AEA4B1-7707-49BB-9265-EAC029350772}" type="datetimeFigureOut">
              <a:rPr lang="en-US" smtClean="0"/>
              <a:t>7/28/2026</a:t>
            </a:fld>
            <a:endParaRPr lang="en-US"/>
          </a:p>
        </p:txBody>
      </p:sp>
      <p:sp>
        <p:nvSpPr>
          <p:cNvPr id="5" name="Footer Placeholder 4">
            <a:extLst>
              <a:ext uri="{FF2B5EF4-FFF2-40B4-BE49-F238E27FC236}">
                <a16:creationId xmlns:a16="http://schemas.microsoft.com/office/drawing/2014/main" id="{7F1AB5F5-F923-C24A-D267-87957CAAB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652A14-3071-A21E-18B0-DA5D5B35F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73EFE6-D448-490A-80C1-D66688983415}" type="slidenum">
              <a:rPr lang="en-US" smtClean="0"/>
              <a:t>‹#›</a:t>
            </a:fld>
            <a:endParaRPr lang="en-US"/>
          </a:p>
        </p:txBody>
      </p:sp>
    </p:spTree>
    <p:extLst>
      <p:ext uri="{BB962C8B-B14F-4D97-AF65-F5344CB8AC3E}">
        <p14:creationId xmlns:p14="http://schemas.microsoft.com/office/powerpoint/2010/main" val="2125706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EC7D4-1732-8825-6CC4-B3379616313C}"/>
              </a:ext>
            </a:extLst>
          </p:cNvPr>
          <p:cNvSpPr>
            <a:spLocks noGrp="1"/>
          </p:cNvSpPr>
          <p:nvPr>
            <p:ph type="ctrTitle"/>
          </p:nvPr>
        </p:nvSpPr>
        <p:spPr/>
        <p:txBody>
          <a:bodyPr/>
          <a:lstStyle/>
          <a:p>
            <a:r>
              <a:rPr lang="en-US" dirty="0" err="1"/>
              <a:t>AngbandOS</a:t>
            </a:r>
            <a:endParaRPr lang="en-US" dirty="0"/>
          </a:p>
        </p:txBody>
      </p:sp>
      <p:sp>
        <p:nvSpPr>
          <p:cNvPr id="3" name="Subtitle 2">
            <a:extLst>
              <a:ext uri="{FF2B5EF4-FFF2-40B4-BE49-F238E27FC236}">
                <a16:creationId xmlns:a16="http://schemas.microsoft.com/office/drawing/2014/main" id="{62CC47FB-0408-FE7E-5AD4-F2BB64CEA75F}"/>
              </a:ext>
            </a:extLst>
          </p:cNvPr>
          <p:cNvSpPr>
            <a:spLocks noGrp="1"/>
          </p:cNvSpPr>
          <p:nvPr>
            <p:ph type="subTitle" idx="1"/>
          </p:nvPr>
        </p:nvSpPr>
        <p:spPr/>
        <p:txBody>
          <a:bodyPr/>
          <a:lstStyle/>
          <a:p>
            <a:r>
              <a:rPr lang="en-US" dirty="0"/>
              <a:t>Serialization and Deserialization with the Game State Bag for Game</a:t>
            </a:r>
          </a:p>
        </p:txBody>
      </p:sp>
    </p:spTree>
    <p:extLst>
      <p:ext uri="{BB962C8B-B14F-4D97-AF65-F5344CB8AC3E}">
        <p14:creationId xmlns:p14="http://schemas.microsoft.com/office/powerpoint/2010/main" val="339161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35B3-2622-C8C8-7770-9CCF136BE32D}"/>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BF2CE6FA-F335-6457-9EB8-D6FE5A5913C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73918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011F6-CFA7-EED8-ED8B-D87D6FF738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002E4-CC99-E96A-1223-6D8A8AF34511}"/>
              </a:ext>
            </a:extLst>
          </p:cNvPr>
          <p:cNvSpPr>
            <a:spLocks noGrp="1"/>
          </p:cNvSpPr>
          <p:nvPr>
            <p:ph type="title"/>
          </p:nvPr>
        </p:nvSpPr>
        <p:spPr/>
        <p:txBody>
          <a:bodyPr/>
          <a:lstStyle/>
          <a:p>
            <a:r>
              <a:rPr lang="en-US" dirty="0"/>
              <a:t>Game Serialization and Deserialization</a:t>
            </a:r>
          </a:p>
        </p:txBody>
      </p:sp>
      <p:sp>
        <p:nvSpPr>
          <p:cNvPr id="3" name="Content Placeholder 2">
            <a:extLst>
              <a:ext uri="{FF2B5EF4-FFF2-40B4-BE49-F238E27FC236}">
                <a16:creationId xmlns:a16="http://schemas.microsoft.com/office/drawing/2014/main" id="{22B2D5D8-0907-EC0F-6EBC-2BFD8CF1E06E}"/>
              </a:ext>
            </a:extLst>
          </p:cNvPr>
          <p:cNvSpPr>
            <a:spLocks noGrp="1"/>
          </p:cNvSpPr>
          <p:nvPr>
            <p:ph idx="1"/>
          </p:nvPr>
        </p:nvSpPr>
        <p:spPr/>
        <p:txBody>
          <a:bodyPr/>
          <a:lstStyle/>
          <a:p>
            <a:pPr marL="0" indent="0">
              <a:buNone/>
            </a:pPr>
            <a:r>
              <a:rPr lang="en-US" dirty="0"/>
              <a:t>To serialize and deserialize the game state, a hybrid approach is needed because singletons and the game objects are created by the game.  Those objects need to be hydrated—they cannot be created by the deserialization process.  There are various additional objects that will need to be created and hydrated by the deserialization process (e.g. monsters, items).</a:t>
            </a:r>
          </a:p>
        </p:txBody>
      </p:sp>
    </p:spTree>
    <p:extLst>
      <p:ext uri="{BB962C8B-B14F-4D97-AF65-F5344CB8AC3E}">
        <p14:creationId xmlns:p14="http://schemas.microsoft.com/office/powerpoint/2010/main" val="2105725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FE6D-FEDB-53F5-D0BE-82F6646D2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3EBBA-17A3-CDF3-A2BA-84760F391549}"/>
              </a:ext>
            </a:extLst>
          </p:cNvPr>
          <p:cNvSpPr>
            <a:spLocks noGrp="1"/>
          </p:cNvSpPr>
          <p:nvPr>
            <p:ph type="title"/>
          </p:nvPr>
        </p:nvSpPr>
        <p:spPr/>
        <p:txBody>
          <a:bodyPr/>
          <a:lstStyle/>
          <a:p>
            <a:r>
              <a:rPr lang="en-US" dirty="0"/>
              <a:t>Game Serialization</a:t>
            </a:r>
          </a:p>
        </p:txBody>
      </p:sp>
      <p:sp>
        <p:nvSpPr>
          <p:cNvPr id="3" name="Content Placeholder 2">
            <a:extLst>
              <a:ext uri="{FF2B5EF4-FFF2-40B4-BE49-F238E27FC236}">
                <a16:creationId xmlns:a16="http://schemas.microsoft.com/office/drawing/2014/main" id="{8254D637-3DB2-F82F-AC55-ABCBA59D285D}"/>
              </a:ext>
            </a:extLst>
          </p:cNvPr>
          <p:cNvSpPr>
            <a:spLocks noGrp="1"/>
          </p:cNvSpPr>
          <p:nvPr>
            <p:ph idx="1"/>
          </p:nvPr>
        </p:nvSpPr>
        <p:spPr/>
        <p:txBody>
          <a:bodyPr>
            <a:normAutofit fontScale="85000" lnSpcReduction="20000"/>
          </a:bodyPr>
          <a:lstStyle/>
          <a:p>
            <a:pPr marL="0" indent="0">
              <a:buNone/>
            </a:pPr>
            <a:r>
              <a:rPr lang="en-US" dirty="0"/>
              <a:t>Game serialization is performed by traversing a supplied object for fields.  Properties are ignored.  To prevent a field from being serialized, simply make it a property.</a:t>
            </a:r>
          </a:p>
          <a:p>
            <a:pPr marL="0" indent="0">
              <a:buNone/>
            </a:pPr>
            <a:r>
              <a:rPr lang="en-US" dirty="0"/>
              <a:t>To serialize a game, two objects are serialized.  </a:t>
            </a:r>
          </a:p>
          <a:p>
            <a:r>
              <a:rPr lang="en-US" dirty="0"/>
              <a:t>The Game Object and the</a:t>
            </a:r>
          </a:p>
          <a:p>
            <a:r>
              <a:rPr lang="en-US" dirty="0"/>
              <a:t>Singleton Repository</a:t>
            </a:r>
          </a:p>
          <a:p>
            <a:pPr marL="0" indent="0">
              <a:buNone/>
            </a:pPr>
            <a:r>
              <a:rPr lang="en-US" dirty="0"/>
              <a:t>The game object declares the singleton repository as a property to prevent it from being serialized.</a:t>
            </a:r>
          </a:p>
          <a:p>
            <a:pPr marL="0" indent="0">
              <a:buNone/>
            </a:pPr>
            <a:r>
              <a:rPr lang="en-US" i="1" dirty="0">
                <a:highlight>
                  <a:srgbClr val="FFFF00"/>
                </a:highlight>
              </a:rPr>
              <a:t>Because properties are ignored, there is an issue where a property may have state data that is ignored.  Also, interfaces can only be implemented with properties.  The Attribute has an Index property that needs to be rehydrated.  If the game configuration is loaded in a different order, the read only attribute sets will </a:t>
            </a:r>
            <a:r>
              <a:rPr lang="en-US" i="1">
                <a:highlight>
                  <a:srgbClr val="FFFF00"/>
                </a:highlight>
              </a:rPr>
              <a:t>be confused.</a:t>
            </a:r>
            <a:endParaRPr lang="en-US" i="1" dirty="0">
              <a:highlight>
                <a:srgbClr val="FFFF00"/>
              </a:highlight>
            </a:endParaRPr>
          </a:p>
        </p:txBody>
      </p:sp>
    </p:spTree>
    <p:extLst>
      <p:ext uri="{BB962C8B-B14F-4D97-AF65-F5344CB8AC3E}">
        <p14:creationId xmlns:p14="http://schemas.microsoft.com/office/powerpoint/2010/main" val="700361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74F1C-DB1A-C5FB-1A94-FCC840F86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B27C7-6F06-22C4-9569-5E403AA531C4}"/>
              </a:ext>
            </a:extLst>
          </p:cNvPr>
          <p:cNvSpPr>
            <a:spLocks noGrp="1"/>
          </p:cNvSpPr>
          <p:nvPr>
            <p:ph type="title"/>
          </p:nvPr>
        </p:nvSpPr>
        <p:spPr/>
        <p:txBody>
          <a:bodyPr/>
          <a:lstStyle/>
          <a:p>
            <a:r>
              <a:rPr lang="en-US" dirty="0"/>
              <a:t>Game Deserialization Description</a:t>
            </a:r>
          </a:p>
        </p:txBody>
      </p:sp>
      <p:sp>
        <p:nvSpPr>
          <p:cNvPr id="3" name="Content Placeholder 2">
            <a:extLst>
              <a:ext uri="{FF2B5EF4-FFF2-40B4-BE49-F238E27FC236}">
                <a16:creationId xmlns:a16="http://schemas.microsoft.com/office/drawing/2014/main" id="{2852F0E9-4A06-FF8E-8C99-97210FA13693}"/>
              </a:ext>
            </a:extLst>
          </p:cNvPr>
          <p:cNvSpPr>
            <a:spLocks noGrp="1"/>
          </p:cNvSpPr>
          <p:nvPr>
            <p:ph idx="1"/>
          </p:nvPr>
        </p:nvSpPr>
        <p:spPr/>
        <p:txBody>
          <a:bodyPr>
            <a:normAutofit fontScale="92500" lnSpcReduction="20000"/>
          </a:bodyPr>
          <a:lstStyle/>
          <a:p>
            <a:pPr marL="0" indent="0">
              <a:buNone/>
            </a:pPr>
            <a:r>
              <a:rPr lang="en-US" dirty="0"/>
              <a:t>Game deserialization is performed by:</a:t>
            </a:r>
          </a:p>
          <a:p>
            <a:pPr marL="0" indent="0">
              <a:buNone/>
            </a:pPr>
            <a:r>
              <a:rPr lang="en-US" dirty="0"/>
              <a:t>Singletons utilize a two phase approach for load and bind.  This accommodates singletons that reference other singletons.  That referencing process is performed during the bind phase.  The load phase ensured all singletons exist.  Most of those references will be performed during the bind phase and will not be included in the game state, but it is possible that singletons will reference game objects and other singletons using state data.  For this reason, the deserialization will also require a two phase approach—we cannot generate a singleton while a singleton is restoring.  If a singleton references a game object, it can be created safely.  When the game object needs that reference, the </a:t>
            </a:r>
            <a:r>
              <a:rPr lang="en-US" dirty="0" err="1"/>
              <a:t>deserializer</a:t>
            </a:r>
            <a:r>
              <a:rPr lang="en-US" dirty="0"/>
              <a:t> will pass the reference to the created object.  Game state will never have references to the game object.</a:t>
            </a:r>
          </a:p>
        </p:txBody>
      </p:sp>
    </p:spTree>
    <p:extLst>
      <p:ext uri="{BB962C8B-B14F-4D97-AF65-F5344CB8AC3E}">
        <p14:creationId xmlns:p14="http://schemas.microsoft.com/office/powerpoint/2010/main" val="55793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8266F-98EA-00B9-0E43-EE442D6159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9C7CC-FB7C-969A-7F49-9318ACACBC45}"/>
              </a:ext>
            </a:extLst>
          </p:cNvPr>
          <p:cNvSpPr>
            <a:spLocks noGrp="1"/>
          </p:cNvSpPr>
          <p:nvPr>
            <p:ph type="title"/>
          </p:nvPr>
        </p:nvSpPr>
        <p:spPr/>
        <p:txBody>
          <a:bodyPr/>
          <a:lstStyle/>
          <a:p>
            <a:r>
              <a:rPr lang="en-US" dirty="0"/>
              <a:t>Game Deserialization Algorithm</a:t>
            </a:r>
          </a:p>
        </p:txBody>
      </p:sp>
      <p:sp>
        <p:nvSpPr>
          <p:cNvPr id="3" name="Content Placeholder 2">
            <a:extLst>
              <a:ext uri="{FF2B5EF4-FFF2-40B4-BE49-F238E27FC236}">
                <a16:creationId xmlns:a16="http://schemas.microsoft.com/office/drawing/2014/main" id="{EF663618-232A-26B6-86DA-9DE7C4E2D7AC}"/>
              </a:ext>
            </a:extLst>
          </p:cNvPr>
          <p:cNvSpPr>
            <a:spLocks noGrp="1"/>
          </p:cNvSpPr>
          <p:nvPr>
            <p:ph idx="1"/>
          </p:nvPr>
        </p:nvSpPr>
        <p:spPr/>
        <p:txBody>
          <a:bodyPr>
            <a:normAutofit fontScale="92500" lnSpcReduction="10000"/>
          </a:bodyPr>
          <a:lstStyle/>
          <a:p>
            <a:pPr marL="0" indent="0">
              <a:buNone/>
            </a:pPr>
            <a:r>
              <a:rPr lang="en-US" dirty="0"/>
              <a:t>Game deserialization is performed by:</a:t>
            </a:r>
          </a:p>
          <a:p>
            <a:pPr marL="514350" indent="-514350">
              <a:buAutoNum type="arabicPeriod"/>
            </a:pPr>
            <a:r>
              <a:rPr lang="en-US" dirty="0"/>
              <a:t>Load - Singleton repository load is performed via the configuration.  Objects that are created fulfill the object id to reference dictionary for the </a:t>
            </a:r>
            <a:r>
              <a:rPr lang="en-US" dirty="0" err="1"/>
              <a:t>json</a:t>
            </a:r>
            <a:r>
              <a:rPr lang="en-US" dirty="0"/>
              <a:t> deserialization.  This requires a lookup on the dictionary </a:t>
            </a:r>
            <a:r>
              <a:rPr lang="en-US" dirty="0" err="1"/>
              <a:t>json</a:t>
            </a:r>
            <a:r>
              <a:rPr lang="en-US" dirty="0"/>
              <a:t> bag for the matching singleton.  Once the load is complete, if there are any extra bags in the </a:t>
            </a:r>
            <a:r>
              <a:rPr lang="en-US" dirty="0" err="1"/>
              <a:t>json</a:t>
            </a:r>
            <a:r>
              <a:rPr lang="en-US" dirty="0"/>
              <a:t>, then there is a mismatch of game to </a:t>
            </a:r>
            <a:r>
              <a:rPr lang="en-US" dirty="0" err="1"/>
              <a:t>json</a:t>
            </a:r>
            <a:r>
              <a:rPr lang="en-US" dirty="0"/>
              <a:t>.  If a singleton doesn't have a matching bag, again, there is a mismatch of the game to the </a:t>
            </a:r>
            <a:r>
              <a:rPr lang="en-US" dirty="0" err="1"/>
              <a:t>json</a:t>
            </a:r>
            <a:r>
              <a:rPr lang="en-US" dirty="0"/>
              <a:t>.</a:t>
            </a:r>
          </a:p>
          <a:p>
            <a:pPr marL="514350" indent="-514350">
              <a:buAutoNum type="arabicPeriod"/>
            </a:pPr>
            <a:r>
              <a:rPr lang="en-US" dirty="0"/>
              <a:t>Bind - Singleton repository bind is performed for the loaded singletons.  The </a:t>
            </a:r>
            <a:r>
              <a:rPr lang="en-US" dirty="0" err="1"/>
              <a:t>json</a:t>
            </a:r>
            <a:r>
              <a:rPr lang="en-US" dirty="0"/>
              <a:t> bag is passed to the singleton bind method for restore.  Verification can also be performed by matching the object fields with the values in the </a:t>
            </a:r>
            <a:r>
              <a:rPr lang="en-US" dirty="0" err="1"/>
              <a:t>json</a:t>
            </a:r>
            <a:r>
              <a:rPr lang="en-US" dirty="0"/>
              <a:t> bag.</a:t>
            </a:r>
          </a:p>
        </p:txBody>
      </p:sp>
    </p:spTree>
    <p:extLst>
      <p:ext uri="{BB962C8B-B14F-4D97-AF65-F5344CB8AC3E}">
        <p14:creationId xmlns:p14="http://schemas.microsoft.com/office/powerpoint/2010/main" val="92568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6ADAE-BC40-65F6-C300-D4D00E669F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0C7C2-B85C-61BC-82BB-FD0616A183C8}"/>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0E6F257-C232-9620-E567-F2EFC2E26F9F}"/>
              </a:ext>
            </a:extLst>
          </p:cNvPr>
          <p:cNvSpPr>
            <a:spLocks noGrp="1"/>
          </p:cNvSpPr>
          <p:nvPr>
            <p:ph idx="1"/>
          </p:nvPr>
        </p:nvSpPr>
        <p:spPr/>
        <p:txBody>
          <a:bodyPr/>
          <a:lstStyle/>
          <a:p>
            <a:pPr marL="0" indent="0">
              <a:buNone/>
            </a:pPr>
            <a:r>
              <a:rPr lang="en-US" dirty="0"/>
              <a:t>Due to polymorphism in the game, serialization is designed to traverse the inheritance tree and using reflection to find all fields for serialization.</a:t>
            </a:r>
          </a:p>
          <a:p>
            <a:pPr marL="0" indent="0">
              <a:buNone/>
            </a:pPr>
            <a:r>
              <a:rPr lang="en-US" dirty="0"/>
              <a:t>During deserialization the game state bag should be passed to each </a:t>
            </a:r>
            <a:r>
              <a:rPr lang="en-US" dirty="0" err="1"/>
              <a:t>base.ctor</a:t>
            </a:r>
            <a:r>
              <a:rPr lang="en-US"/>
              <a:t>.</a:t>
            </a:r>
            <a:endParaRPr lang="en-US" dirty="0"/>
          </a:p>
        </p:txBody>
      </p:sp>
    </p:spTree>
    <p:extLst>
      <p:ext uri="{BB962C8B-B14F-4D97-AF65-F5344CB8AC3E}">
        <p14:creationId xmlns:p14="http://schemas.microsoft.com/office/powerpoint/2010/main" val="3332660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FFD7-09FF-5530-D775-58313F11F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C62D4-0263-C933-F627-5AC7DFFA038B}"/>
              </a:ext>
            </a:extLst>
          </p:cNvPr>
          <p:cNvSpPr>
            <a:spLocks noGrp="1"/>
          </p:cNvSpPr>
          <p:nvPr>
            <p:ph type="title"/>
          </p:nvPr>
        </p:nvSpPr>
        <p:spPr/>
        <p:txBody>
          <a:bodyPr/>
          <a:lstStyle/>
          <a:p>
            <a:r>
              <a:rPr lang="en-US" dirty="0"/>
              <a:t>Singleton Repository Serialization</a:t>
            </a:r>
          </a:p>
        </p:txBody>
      </p:sp>
      <p:sp>
        <p:nvSpPr>
          <p:cNvPr id="3" name="Content Placeholder 2">
            <a:extLst>
              <a:ext uri="{FF2B5EF4-FFF2-40B4-BE49-F238E27FC236}">
                <a16:creationId xmlns:a16="http://schemas.microsoft.com/office/drawing/2014/main" id="{F8A308AD-3190-E5DC-5B4C-6E438CD5DB2A}"/>
              </a:ext>
            </a:extLst>
          </p:cNvPr>
          <p:cNvSpPr>
            <a:spLocks noGrp="1"/>
          </p:cNvSpPr>
          <p:nvPr>
            <p:ph idx="1"/>
          </p:nvPr>
        </p:nvSpPr>
        <p:spPr/>
        <p:txBody>
          <a:bodyPr>
            <a:normAutofit fontScale="92500" lnSpcReduction="10000"/>
          </a:bodyPr>
          <a:lstStyle/>
          <a:p>
            <a:pPr marL="0" indent="0">
              <a:buNone/>
            </a:pPr>
            <a:r>
              <a:rPr lang="en-US" dirty="0"/>
              <a:t>The singleton repository has a public serialize method that returns a </a:t>
            </a:r>
            <a:r>
              <a:rPr lang="en-US" dirty="0" err="1"/>
              <a:t>DictionaryGameStateBag</a:t>
            </a:r>
            <a:r>
              <a:rPr lang="en-US" dirty="0"/>
              <a:t>.  The key is the unique </a:t>
            </a:r>
            <a:r>
              <a:rPr lang="en-US" dirty="0" err="1"/>
              <a:t>IGetKey</a:t>
            </a:r>
            <a:r>
              <a:rPr lang="en-US" dirty="0"/>
              <a:t> key for each singleton.  The value is the </a:t>
            </a:r>
            <a:r>
              <a:rPr lang="en-US" dirty="0" err="1"/>
              <a:t>GameStateBag</a:t>
            </a:r>
            <a:r>
              <a:rPr lang="en-US" dirty="0"/>
              <a:t>.  During deserialization, a lookup in the </a:t>
            </a:r>
            <a:r>
              <a:rPr lang="en-US" dirty="0" err="1"/>
              <a:t>DictionaryGameStateBag</a:t>
            </a:r>
            <a:r>
              <a:rPr lang="en-US" dirty="0"/>
              <a:t> is performed for the appropriate </a:t>
            </a:r>
            <a:r>
              <a:rPr lang="en-US" dirty="0" err="1"/>
              <a:t>GameStateBag</a:t>
            </a:r>
            <a:r>
              <a:rPr lang="en-US" dirty="0"/>
              <a:t> by key which is then sent to the constructor with the configuration entity.</a:t>
            </a:r>
          </a:p>
          <a:p>
            <a:pPr marL="0" indent="0">
              <a:buNone/>
            </a:pPr>
            <a:r>
              <a:rPr lang="en-US" dirty="0"/>
              <a:t>For this process to work, </a:t>
            </a:r>
            <a:r>
              <a:rPr lang="en-US" dirty="0" err="1"/>
              <a:t>GameConfiguration</a:t>
            </a:r>
            <a:r>
              <a:rPr lang="en-US" dirty="0"/>
              <a:t> objects must inherit from the </a:t>
            </a:r>
            <a:r>
              <a:rPr lang="en-US" dirty="0" err="1"/>
              <a:t>IGetKeyGameConfiguration</a:t>
            </a:r>
            <a:r>
              <a:rPr lang="en-US" dirty="0"/>
              <a:t>.  This ensures the configuration entity exposes the string Key property that is needed.</a:t>
            </a:r>
          </a:p>
          <a:p>
            <a:pPr marL="0" indent="0">
              <a:buNone/>
            </a:pPr>
            <a:r>
              <a:rPr lang="en-US" dirty="0"/>
              <a:t>For composite types, the </a:t>
            </a:r>
            <a:r>
              <a:rPr lang="en-US" dirty="0" err="1"/>
              <a:t>GameConfiguration</a:t>
            </a:r>
            <a:r>
              <a:rPr lang="en-US" dirty="0"/>
              <a:t> will implement a function like:</a:t>
            </a:r>
          </a:p>
          <a:p>
            <a:pPr marL="0" indent="0">
              <a:buNone/>
            </a:pPr>
            <a:r>
              <a:rPr lang="en-US" sz="1500" dirty="0">
                <a:latin typeface="Courier New" panose="02070309020205020404" pitchFamily="49" charset="0"/>
                <a:cs typeface="Courier New" panose="02070309020205020404" pitchFamily="49" charset="0"/>
              </a:rPr>
              <a:t> public string? Key =&gt; $"{</a:t>
            </a:r>
            <a:r>
              <a:rPr lang="en-US" sz="1500" dirty="0" err="1">
                <a:latin typeface="Courier New" panose="02070309020205020404" pitchFamily="49" charset="0"/>
                <a:cs typeface="Courier New" panose="02070309020205020404" pitchFamily="49" charset="0"/>
              </a:rPr>
              <a:t>RealmBindingKey</a:t>
            </a:r>
            <a:r>
              <a:rPr lang="en-US" sz="1500" dirty="0">
                <a:latin typeface="Courier New" panose="02070309020205020404" pitchFamily="49" charset="0"/>
                <a:cs typeface="Courier New" panose="02070309020205020404" pitchFamily="49" charset="0"/>
              </a:rPr>
              <a:t>}-{</a:t>
            </a:r>
            <a:r>
              <a:rPr lang="en-US" sz="1500" dirty="0" err="1">
                <a:latin typeface="Courier New" panose="02070309020205020404" pitchFamily="49" charset="0"/>
                <a:cs typeface="Courier New" panose="02070309020205020404" pitchFamily="49" charset="0"/>
              </a:rPr>
              <a:t>CharacterClassBindingKey</a:t>
            </a:r>
            <a:r>
              <a:rPr lang="en-US" sz="15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72241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652AA-E394-2851-F66D-F153A0C45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E9915-B6CB-2964-DB9D-586D8C7B2EA4}"/>
              </a:ext>
            </a:extLst>
          </p:cNvPr>
          <p:cNvSpPr>
            <a:spLocks noGrp="1"/>
          </p:cNvSpPr>
          <p:nvPr>
            <p:ph type="title"/>
          </p:nvPr>
        </p:nvSpPr>
        <p:spPr/>
        <p:txBody>
          <a:bodyPr/>
          <a:lstStyle/>
          <a:p>
            <a:r>
              <a:rPr lang="en-US" dirty="0"/>
              <a:t>Serialization</a:t>
            </a:r>
          </a:p>
        </p:txBody>
      </p:sp>
      <p:sp>
        <p:nvSpPr>
          <p:cNvPr id="3" name="Content Placeholder 2">
            <a:extLst>
              <a:ext uri="{FF2B5EF4-FFF2-40B4-BE49-F238E27FC236}">
                <a16:creationId xmlns:a16="http://schemas.microsoft.com/office/drawing/2014/main" id="{C882FEE0-7033-AD71-69B1-8EC86BCBFBF8}"/>
              </a:ext>
            </a:extLst>
          </p:cNvPr>
          <p:cNvSpPr>
            <a:spLocks noGrp="1"/>
          </p:cNvSpPr>
          <p:nvPr>
            <p:ph idx="1"/>
          </p:nvPr>
        </p:nvSpPr>
        <p:spPr/>
        <p:txBody>
          <a:bodyPr>
            <a:normAutofit fontScale="92500" lnSpcReduction="10000"/>
          </a:bodyPr>
          <a:lstStyle/>
          <a:p>
            <a:pPr marL="0" indent="0">
              <a:buNone/>
            </a:pPr>
            <a:r>
              <a:rPr lang="en-US" dirty="0"/>
              <a:t>When the singleton repository is serialized, it enumerates all of the singleton for serialization.  If a singleton references a singleton that wasn't already serialized (further down the enumeration), the object reference details will be serialized with that earlier singleton.  The Spell singleton exhibits this behavior with the Realm singleton.  When the </a:t>
            </a:r>
            <a:r>
              <a:rPr lang="en-US" dirty="0" err="1"/>
              <a:t>SingletonRepository</a:t>
            </a:r>
            <a:r>
              <a:rPr lang="en-US" dirty="0"/>
              <a:t> is deserialized, the Spell singleton (earlier in the enumeration) only consumes the </a:t>
            </a:r>
            <a:r>
              <a:rPr lang="en-US" dirty="0" err="1"/>
              <a:t>ObjectId</a:t>
            </a:r>
            <a:r>
              <a:rPr lang="en-US" dirty="0"/>
              <a:t> from the object reference because the Realm object will have already been loaded during the 2-phase load and bind approach—but the Realm object will not have been bound.  When the </a:t>
            </a:r>
            <a:r>
              <a:rPr lang="en-US" dirty="0" err="1"/>
              <a:t>SingletonRepository</a:t>
            </a:r>
            <a:r>
              <a:rPr lang="en-US" dirty="0"/>
              <a:t> does encounter the Realm object for binding, only a Reference game state bag exists, with no binding properties.  To resolve this issue, the </a:t>
            </a:r>
            <a:r>
              <a:rPr lang="en-US" dirty="0" err="1"/>
              <a:t>ObjectIdToReference</a:t>
            </a:r>
            <a:r>
              <a:rPr lang="en-US" dirty="0"/>
              <a:t> dictionary tracks not only the object, but the game state bag that was used</a:t>
            </a:r>
          </a:p>
        </p:txBody>
      </p:sp>
    </p:spTree>
    <p:extLst>
      <p:ext uri="{BB962C8B-B14F-4D97-AF65-F5344CB8AC3E}">
        <p14:creationId xmlns:p14="http://schemas.microsoft.com/office/powerpoint/2010/main" val="1258926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758F-580D-F80D-C32E-CABB73C42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7CEED-31B3-F92C-BA0C-C1CF8D5EBA63}"/>
              </a:ext>
            </a:extLst>
          </p:cNvPr>
          <p:cNvSpPr>
            <a:spLocks noGrp="1"/>
          </p:cNvSpPr>
          <p:nvPr>
            <p:ph type="title"/>
          </p:nvPr>
        </p:nvSpPr>
        <p:spPr/>
        <p:txBody>
          <a:bodyPr/>
          <a:lstStyle/>
          <a:p>
            <a:r>
              <a:rPr lang="en-US" dirty="0"/>
              <a:t>Deserialization Completeness</a:t>
            </a:r>
          </a:p>
        </p:txBody>
      </p:sp>
      <p:sp>
        <p:nvSpPr>
          <p:cNvPr id="3" name="Content Placeholder 2">
            <a:extLst>
              <a:ext uri="{FF2B5EF4-FFF2-40B4-BE49-F238E27FC236}">
                <a16:creationId xmlns:a16="http://schemas.microsoft.com/office/drawing/2014/main" id="{CFF47554-8D79-8474-A105-59CFD9087AF7}"/>
              </a:ext>
            </a:extLst>
          </p:cNvPr>
          <p:cNvSpPr>
            <a:spLocks noGrp="1"/>
          </p:cNvSpPr>
          <p:nvPr>
            <p:ph idx="1"/>
          </p:nvPr>
        </p:nvSpPr>
        <p:spPr/>
        <p:txBody>
          <a:bodyPr/>
          <a:lstStyle/>
          <a:p>
            <a:pPr marL="0" indent="0">
              <a:buNone/>
            </a:pPr>
            <a:r>
              <a:rPr lang="en-US" dirty="0"/>
              <a:t>During deserialization of the singleton repository, if field values are present, they are sent to the constructor.  If the constructor doesn't accept the </a:t>
            </a:r>
            <a:r>
              <a:rPr lang="en-US" dirty="0" err="1"/>
              <a:t>GameStateBag</a:t>
            </a:r>
            <a:r>
              <a:rPr lang="en-US" dirty="0"/>
              <a:t> because it isn't defined, the game throws.  To perform completeness, if any </a:t>
            </a:r>
            <a:r>
              <a:rPr lang="en-US" dirty="0" err="1"/>
              <a:t>GameStateBags</a:t>
            </a:r>
            <a:r>
              <a:rPr lang="en-US" dirty="0"/>
              <a:t> are left over after deserialization, the game will throw.  This ensures games line up with game configurations. </a:t>
            </a:r>
          </a:p>
          <a:p>
            <a:pPr marL="0" indent="0">
              <a:buNone/>
            </a:pPr>
            <a:r>
              <a:rPr lang="en-US" dirty="0"/>
              <a:t>Also, for completeness, during debug mode, the game will check the fields to ensure they were set according to their value.  If the check fails, the game will throw at run-time.</a:t>
            </a:r>
          </a:p>
        </p:txBody>
      </p:sp>
    </p:spTree>
    <p:extLst>
      <p:ext uri="{BB962C8B-B14F-4D97-AF65-F5344CB8AC3E}">
        <p14:creationId xmlns:p14="http://schemas.microsoft.com/office/powerpoint/2010/main" val="1641145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98530-E49D-BBD5-514D-8FC85CC15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CF99-9A13-1B49-FCD7-AC70E43D64CD}"/>
              </a:ext>
            </a:extLst>
          </p:cNvPr>
          <p:cNvSpPr>
            <a:spLocks noGrp="1"/>
          </p:cNvSpPr>
          <p:nvPr>
            <p:ph type="title"/>
          </p:nvPr>
        </p:nvSpPr>
        <p:spPr/>
        <p:txBody>
          <a:bodyPr/>
          <a:lstStyle/>
          <a:p>
            <a:r>
              <a:rPr lang="en-US" dirty="0"/>
              <a:t>Deserialization Walkthrough</a:t>
            </a:r>
          </a:p>
        </p:txBody>
      </p:sp>
      <p:sp>
        <p:nvSpPr>
          <p:cNvPr id="3" name="Content Placeholder 2">
            <a:extLst>
              <a:ext uri="{FF2B5EF4-FFF2-40B4-BE49-F238E27FC236}">
                <a16:creationId xmlns:a16="http://schemas.microsoft.com/office/drawing/2014/main" id="{5535A037-258D-FBD8-D806-4FB6B1A935A6}"/>
              </a:ext>
            </a:extLst>
          </p:cNvPr>
          <p:cNvSpPr>
            <a:spLocks noGrp="1"/>
          </p:cNvSpPr>
          <p:nvPr>
            <p:ph idx="1"/>
          </p:nvPr>
        </p:nvSpPr>
        <p:spPr/>
        <p:txBody>
          <a:bodyPr/>
          <a:lstStyle/>
          <a:p>
            <a:pPr marL="514350" indent="-514350">
              <a:buAutoNum type="arabicPeriod"/>
            </a:pPr>
            <a:r>
              <a:rPr lang="en-US" dirty="0"/>
              <a:t>The singletons are loaded.  The game state bag for the singleton is loaded using the </a:t>
            </a:r>
            <a:r>
              <a:rPr lang="en-US" dirty="0" err="1"/>
              <a:t>GetKey</a:t>
            </a:r>
            <a:r>
              <a:rPr lang="en-US" dirty="0"/>
              <a:t>.  It is either a reference or object game state bag.  The object id is retrieved and the </a:t>
            </a:r>
            <a:r>
              <a:rPr lang="en-US" dirty="0" err="1"/>
              <a:t>ObjectIdToReference</a:t>
            </a:r>
            <a:r>
              <a:rPr lang="en-US" dirty="0"/>
              <a:t> is created using the associated </a:t>
            </a:r>
            <a:r>
              <a:rPr lang="en-US" dirty="0" err="1"/>
              <a:t>ObjectId</a:t>
            </a:r>
            <a:r>
              <a:rPr lang="en-US" dirty="0"/>
              <a:t>.  If it was an object, the associated game state bag is tracked.  If it was a reference, a null is used for the game state bag.</a:t>
            </a:r>
          </a:p>
          <a:p>
            <a:pPr marL="514350" indent="-514350">
              <a:buAutoNum type="arabicPeriod"/>
            </a:pPr>
            <a:r>
              <a:rPr lang="en-US" dirty="0"/>
              <a:t>The singletons are bound.  </a:t>
            </a:r>
          </a:p>
        </p:txBody>
      </p:sp>
    </p:spTree>
    <p:extLst>
      <p:ext uri="{BB962C8B-B14F-4D97-AF65-F5344CB8AC3E}">
        <p14:creationId xmlns:p14="http://schemas.microsoft.com/office/powerpoint/2010/main" val="4002311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EBA8F-C364-FFFF-D769-A862206F8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32DBC-A1A9-10FC-FF46-01D335CCC331}"/>
              </a:ext>
            </a:extLst>
          </p:cNvPr>
          <p:cNvSpPr>
            <a:spLocks noGrp="1"/>
          </p:cNvSpPr>
          <p:nvPr>
            <p:ph type="title"/>
          </p:nvPr>
        </p:nvSpPr>
        <p:spPr/>
        <p:txBody>
          <a:bodyPr/>
          <a:lstStyle/>
          <a:p>
            <a:r>
              <a:rPr lang="en-US" dirty="0"/>
              <a:t>Game State Restore</a:t>
            </a:r>
          </a:p>
        </p:txBody>
      </p:sp>
      <p:graphicFrame>
        <p:nvGraphicFramePr>
          <p:cNvPr id="4" name="Content Placeholder 3">
            <a:extLst>
              <a:ext uri="{FF2B5EF4-FFF2-40B4-BE49-F238E27FC236}">
                <a16:creationId xmlns:a16="http://schemas.microsoft.com/office/drawing/2014/main" id="{1B93933C-AF87-66BF-9FD3-A18BDC454906}"/>
              </a:ext>
            </a:extLst>
          </p:cNvPr>
          <p:cNvGraphicFramePr>
            <a:graphicFrameLocks noGrp="1"/>
          </p:cNvGraphicFramePr>
          <p:nvPr>
            <p:ph idx="1"/>
            <p:extLst>
              <p:ext uri="{D42A27DB-BD31-4B8C-83A1-F6EECF244321}">
                <p14:modId xmlns:p14="http://schemas.microsoft.com/office/powerpoint/2010/main" val="107444241"/>
              </p:ext>
            </p:extLst>
          </p:nvPr>
        </p:nvGraphicFramePr>
        <p:xfrm>
          <a:off x="838200" y="1443355"/>
          <a:ext cx="10335770" cy="4196080"/>
        </p:xfrm>
        <a:graphic>
          <a:graphicData uri="http://schemas.openxmlformats.org/drawingml/2006/table">
            <a:tbl>
              <a:tblPr firstRow="1" bandRow="1">
                <a:tableStyleId>{5C22544A-7EE6-4342-B048-85BDC9FD1C3A}</a:tableStyleId>
              </a:tblPr>
              <a:tblGrid>
                <a:gridCol w="411051">
                  <a:extLst>
                    <a:ext uri="{9D8B030D-6E8A-4147-A177-3AD203B41FA5}">
                      <a16:colId xmlns:a16="http://schemas.microsoft.com/office/drawing/2014/main" val="1396872552"/>
                    </a:ext>
                  </a:extLst>
                </a:gridCol>
                <a:gridCol w="3723257">
                  <a:extLst>
                    <a:ext uri="{9D8B030D-6E8A-4147-A177-3AD203B41FA5}">
                      <a16:colId xmlns:a16="http://schemas.microsoft.com/office/drawing/2014/main" val="2563132097"/>
                    </a:ext>
                  </a:extLst>
                </a:gridCol>
                <a:gridCol w="2067154">
                  <a:extLst>
                    <a:ext uri="{9D8B030D-6E8A-4147-A177-3AD203B41FA5}">
                      <a16:colId xmlns:a16="http://schemas.microsoft.com/office/drawing/2014/main" val="2127284323"/>
                    </a:ext>
                  </a:extLst>
                </a:gridCol>
                <a:gridCol w="2067154">
                  <a:extLst>
                    <a:ext uri="{9D8B030D-6E8A-4147-A177-3AD203B41FA5}">
                      <a16:colId xmlns:a16="http://schemas.microsoft.com/office/drawing/2014/main" val="3181158166"/>
                    </a:ext>
                  </a:extLst>
                </a:gridCol>
                <a:gridCol w="2067154">
                  <a:extLst>
                    <a:ext uri="{9D8B030D-6E8A-4147-A177-3AD203B41FA5}">
                      <a16:colId xmlns:a16="http://schemas.microsoft.com/office/drawing/2014/main" val="1527060730"/>
                    </a:ext>
                  </a:extLst>
                </a:gridCol>
              </a:tblGrid>
              <a:tr h="370840">
                <a:tc>
                  <a:txBody>
                    <a:bodyPr/>
                    <a:lstStyle/>
                    <a:p>
                      <a:r>
                        <a:rPr lang="en-US" sz="1600" dirty="0"/>
                        <a:t>#</a:t>
                      </a:r>
                    </a:p>
                  </a:txBody>
                  <a:tcPr/>
                </a:tc>
                <a:tc>
                  <a:txBody>
                    <a:bodyPr/>
                    <a:lstStyle/>
                    <a:p>
                      <a:r>
                        <a:rPr lang="en-US" sz="1600" dirty="0"/>
                        <a:t>Game (New or Restore)</a:t>
                      </a:r>
                    </a:p>
                  </a:txBody>
                  <a:tcPr/>
                </a:tc>
                <a:tc>
                  <a:txBody>
                    <a:bodyPr/>
                    <a:lstStyle/>
                    <a:p>
                      <a:r>
                        <a:rPr lang="en-US" sz="1600" dirty="0"/>
                        <a:t>Singleton Game State Available</a:t>
                      </a:r>
                    </a:p>
                  </a:txBody>
                  <a:tcPr/>
                </a:tc>
                <a:tc>
                  <a:txBody>
                    <a:bodyPr/>
                    <a:lstStyle/>
                    <a:p>
                      <a:r>
                        <a:rPr lang="en-US" sz="1600" dirty="0"/>
                        <a:t>Singleton Constructor with </a:t>
                      </a:r>
                      <a:r>
                        <a:rPr lang="en-US" sz="1600" dirty="0" err="1"/>
                        <a:t>GameStateBag</a:t>
                      </a:r>
                      <a:r>
                        <a:rPr lang="en-US" sz="1600" dirty="0"/>
                        <a:t> Parameter Present</a:t>
                      </a:r>
                    </a:p>
                  </a:txBody>
                  <a:tcPr/>
                </a:tc>
                <a:tc>
                  <a:txBody>
                    <a:bodyPr/>
                    <a:lstStyle/>
                    <a:p>
                      <a:r>
                        <a:rPr lang="en-US" sz="1600" dirty="0"/>
                        <a:t>Description</a:t>
                      </a:r>
                    </a:p>
                  </a:txBody>
                  <a:tcPr/>
                </a:tc>
                <a:extLst>
                  <a:ext uri="{0D108BD9-81ED-4DB2-BD59-A6C34878D82A}">
                    <a16:rowId xmlns:a16="http://schemas.microsoft.com/office/drawing/2014/main" val="1218958297"/>
                  </a:ext>
                </a:extLst>
              </a:tr>
              <a:tr h="370840">
                <a:tc>
                  <a:txBody>
                    <a:bodyPr/>
                    <a:lstStyle/>
                    <a:p>
                      <a:r>
                        <a:rPr lang="en-US" sz="1600" dirty="0"/>
                        <a:t>1</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502510563"/>
                  </a:ext>
                </a:extLst>
              </a:tr>
              <a:tr h="370840">
                <a:tc>
                  <a:txBody>
                    <a:bodyPr/>
                    <a:lstStyle/>
                    <a:p>
                      <a:r>
                        <a:rPr lang="en-US" sz="1600" dirty="0"/>
                        <a:t>2</a:t>
                      </a:r>
                    </a:p>
                  </a:txBody>
                  <a:tcPr/>
                </a:tc>
                <a:tc>
                  <a:txBody>
                    <a:bodyPr/>
                    <a:lstStyle/>
                    <a:p>
                      <a:r>
                        <a:rPr lang="en-US" sz="1600" dirty="0"/>
                        <a:t>New</a:t>
                      </a:r>
                    </a:p>
                  </a:txBody>
                  <a:tcPr/>
                </a:tc>
                <a:tc>
                  <a:txBody>
                    <a:bodyPr/>
                    <a:lstStyle/>
                    <a:p>
                      <a:r>
                        <a:rPr lang="en-US" sz="1600" dirty="0"/>
                        <a:t>Not applicable</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643232313"/>
                  </a:ext>
                </a:extLst>
              </a:tr>
              <a:tr h="370840">
                <a:tc>
                  <a:txBody>
                    <a:bodyPr/>
                    <a:lstStyle/>
                    <a:p>
                      <a:r>
                        <a:rPr lang="en-US" sz="1600" dirty="0"/>
                        <a:t>3</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No</a:t>
                      </a:r>
                    </a:p>
                  </a:txBody>
                  <a:tcPr/>
                </a:tc>
                <a:tc>
                  <a:txBody>
                    <a:bodyPr/>
                    <a:lstStyle/>
                    <a:p>
                      <a:r>
                        <a:rPr lang="en-US" sz="1600" dirty="0"/>
                        <a:t>Valid</a:t>
                      </a:r>
                    </a:p>
                  </a:txBody>
                  <a:tcPr/>
                </a:tc>
                <a:extLst>
                  <a:ext uri="{0D108BD9-81ED-4DB2-BD59-A6C34878D82A}">
                    <a16:rowId xmlns:a16="http://schemas.microsoft.com/office/drawing/2014/main" val="2378525842"/>
                  </a:ext>
                </a:extLst>
              </a:tr>
              <a:tr h="370840">
                <a:tc>
                  <a:txBody>
                    <a:bodyPr/>
                    <a:lstStyle/>
                    <a:p>
                      <a:r>
                        <a:rPr lang="en-US" sz="1600" dirty="0"/>
                        <a:t>4</a:t>
                      </a:r>
                    </a:p>
                  </a:txBody>
                  <a:tcPr/>
                </a:tc>
                <a:tc>
                  <a:txBody>
                    <a:bodyPr/>
                    <a:lstStyle/>
                    <a:p>
                      <a:r>
                        <a:rPr lang="en-US" sz="1600" dirty="0"/>
                        <a:t>Restore</a:t>
                      </a:r>
                    </a:p>
                  </a:txBody>
                  <a:tcPr/>
                </a:tc>
                <a:tc>
                  <a:txBody>
                    <a:bodyPr/>
                    <a:lstStyle/>
                    <a:p>
                      <a:r>
                        <a:rPr lang="en-US" sz="1600" dirty="0"/>
                        <a:t>No</a:t>
                      </a:r>
                    </a:p>
                  </a:txBody>
                  <a:tcPr/>
                </a:tc>
                <a:tc>
                  <a:txBody>
                    <a:bodyPr/>
                    <a:lstStyle/>
                    <a:p>
                      <a:r>
                        <a:rPr lang="en-US" sz="1600" dirty="0"/>
                        <a:t>Yes</a:t>
                      </a:r>
                    </a:p>
                  </a:txBody>
                  <a:tcPr/>
                </a:tc>
                <a:tc>
                  <a:txBody>
                    <a:bodyPr/>
                    <a:lstStyle/>
                    <a:p>
                      <a:r>
                        <a:rPr lang="en-US" sz="1600" dirty="0"/>
                        <a:t>Invalid (singleton is expecting game state)</a:t>
                      </a:r>
                    </a:p>
                  </a:txBody>
                  <a:tcPr/>
                </a:tc>
                <a:extLst>
                  <a:ext uri="{0D108BD9-81ED-4DB2-BD59-A6C34878D82A}">
                    <a16:rowId xmlns:a16="http://schemas.microsoft.com/office/drawing/2014/main" val="328052946"/>
                  </a:ext>
                </a:extLst>
              </a:tr>
              <a:tr h="370840">
                <a:tc>
                  <a:txBody>
                    <a:bodyPr/>
                    <a:lstStyle/>
                    <a:p>
                      <a:r>
                        <a:rPr lang="en-US" sz="1600" dirty="0"/>
                        <a:t>5</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No</a:t>
                      </a:r>
                    </a:p>
                  </a:txBody>
                  <a:tcPr/>
                </a:tc>
                <a:tc>
                  <a:txBody>
                    <a:bodyPr/>
                    <a:lstStyle/>
                    <a:p>
                      <a:r>
                        <a:rPr lang="en-US" sz="1600" dirty="0"/>
                        <a:t>Invalid (singleton is not expecting available game state)</a:t>
                      </a:r>
                    </a:p>
                  </a:txBody>
                  <a:tcPr/>
                </a:tc>
                <a:extLst>
                  <a:ext uri="{0D108BD9-81ED-4DB2-BD59-A6C34878D82A}">
                    <a16:rowId xmlns:a16="http://schemas.microsoft.com/office/drawing/2014/main" val="1842280624"/>
                  </a:ext>
                </a:extLst>
              </a:tr>
              <a:tr h="370840">
                <a:tc>
                  <a:txBody>
                    <a:bodyPr/>
                    <a:lstStyle/>
                    <a:p>
                      <a:r>
                        <a:rPr lang="en-US" sz="1600" dirty="0"/>
                        <a:t>6</a:t>
                      </a:r>
                    </a:p>
                  </a:txBody>
                  <a:tcPr/>
                </a:tc>
                <a:tc>
                  <a:txBody>
                    <a:bodyPr/>
                    <a:lstStyle/>
                    <a:p>
                      <a:r>
                        <a:rPr lang="en-US" sz="1600" dirty="0"/>
                        <a:t>Restore</a:t>
                      </a:r>
                    </a:p>
                  </a:txBody>
                  <a:tcPr/>
                </a:tc>
                <a:tc>
                  <a:txBody>
                    <a:bodyPr/>
                    <a:lstStyle/>
                    <a:p>
                      <a:r>
                        <a:rPr lang="en-US" sz="1600" dirty="0"/>
                        <a:t>Yes</a:t>
                      </a:r>
                    </a:p>
                  </a:txBody>
                  <a:tcPr/>
                </a:tc>
                <a:tc>
                  <a:txBody>
                    <a:bodyPr/>
                    <a:lstStyle/>
                    <a:p>
                      <a:r>
                        <a:rPr lang="en-US" sz="1600" dirty="0"/>
                        <a:t>Yes</a:t>
                      </a:r>
                    </a:p>
                  </a:txBody>
                  <a:tcPr/>
                </a:tc>
                <a:tc>
                  <a:txBody>
                    <a:bodyPr/>
                    <a:lstStyle/>
                    <a:p>
                      <a:r>
                        <a:rPr lang="en-US" sz="1600" dirty="0"/>
                        <a:t>Valid</a:t>
                      </a:r>
                    </a:p>
                  </a:txBody>
                  <a:tcPr/>
                </a:tc>
                <a:extLst>
                  <a:ext uri="{0D108BD9-81ED-4DB2-BD59-A6C34878D82A}">
                    <a16:rowId xmlns:a16="http://schemas.microsoft.com/office/drawing/2014/main" val="2166924739"/>
                  </a:ext>
                </a:extLst>
              </a:tr>
            </a:tbl>
          </a:graphicData>
        </a:graphic>
      </p:graphicFrame>
    </p:spTree>
    <p:extLst>
      <p:ext uri="{BB962C8B-B14F-4D97-AF65-F5344CB8AC3E}">
        <p14:creationId xmlns:p14="http://schemas.microsoft.com/office/powerpoint/2010/main" val="84225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01794-73B3-4B0E-C999-6AF18FEBB8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16A06-2289-6AF4-4861-D03FA585572C}"/>
              </a:ext>
            </a:extLst>
          </p:cNvPr>
          <p:cNvSpPr>
            <a:spLocks noGrp="1"/>
          </p:cNvSpPr>
          <p:nvPr>
            <p:ph type="title"/>
          </p:nvPr>
        </p:nvSpPr>
        <p:spPr/>
        <p:txBody>
          <a:bodyPr/>
          <a:lstStyle/>
          <a:p>
            <a:r>
              <a:rPr lang="en-US"/>
              <a:t>Serialization Signatures (</a:t>
            </a:r>
            <a:r>
              <a:rPr lang="en-US" dirty="0"/>
              <a:t>part 1) - Interface</a:t>
            </a:r>
          </a:p>
        </p:txBody>
      </p:sp>
      <p:sp>
        <p:nvSpPr>
          <p:cNvPr id="5" name="Content Placeholder 4">
            <a:extLst>
              <a:ext uri="{FF2B5EF4-FFF2-40B4-BE49-F238E27FC236}">
                <a16:creationId xmlns:a16="http://schemas.microsoft.com/office/drawing/2014/main" id="{4DF028AF-018F-0502-464E-7709BA31605E}"/>
              </a:ext>
            </a:extLst>
          </p:cNvPr>
          <p:cNvSpPr>
            <a:spLocks noGrp="1"/>
          </p:cNvSpPr>
          <p:nvPr>
            <p:ph idx="1"/>
          </p:nvPr>
        </p:nvSpPr>
        <p:spPr>
          <a:xfrm>
            <a:off x="838200" y="1690688"/>
            <a:ext cx="10515600" cy="4448855"/>
          </a:xfrm>
        </p:spPr>
        <p:txBody>
          <a:bodyPr/>
          <a:lstStyle/>
          <a:p>
            <a:pPr marL="0" indent="0">
              <a:buNone/>
            </a:pPr>
            <a:r>
              <a:rPr lang="en-US" sz="1800" dirty="0">
                <a:solidFill>
                  <a:srgbClr val="0000FF"/>
                </a:solidFill>
                <a:highlight>
                  <a:srgbClr val="FFFFFF"/>
                </a:highlight>
                <a:latin typeface="Cascadia Mono" panose="020B0609020000020004" pitchFamily="49" charset="0"/>
              </a:rPr>
              <a:t>internal</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sealed</a:t>
            </a:r>
            <a:r>
              <a:rPr lang="en-US" sz="1800" dirty="0">
                <a:solidFill>
                  <a:srgbClr val="000000"/>
                </a:solidFill>
                <a:highlight>
                  <a:srgbClr val="FFFFFF"/>
                </a:highlight>
                <a:latin typeface="Cascadia Mono" panose="020B0609020000020004" pitchFamily="49" charset="0"/>
              </a:rPr>
              <a:t> </a:t>
            </a:r>
            <a:r>
              <a:rPr lang="en-US" sz="1800" dirty="0">
                <a:solidFill>
                  <a:srgbClr val="0000FF"/>
                </a:solidFill>
                <a:highlight>
                  <a:srgbClr val="FFFFFF"/>
                </a:highlight>
                <a:latin typeface="Cascadia Mono" panose="020B0609020000020004" pitchFamily="49" charset="0"/>
              </a:rPr>
              <a:t>class</a:t>
            </a:r>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MonsterRace</a:t>
            </a:r>
            <a:r>
              <a:rPr lang="en-US" sz="1800" dirty="0">
                <a:solidFill>
                  <a:srgbClr val="000000"/>
                </a:solidFill>
                <a:highlight>
                  <a:srgbClr val="FFFFFF"/>
                </a:highlight>
                <a:latin typeface="Cascadia Mono" panose="020B0609020000020004" pitchFamily="49" charset="0"/>
              </a:rPr>
              <a:t> : </a:t>
            </a:r>
            <a:r>
              <a:rPr lang="en-US" sz="1800" dirty="0" err="1">
                <a:solidFill>
                  <a:srgbClr val="2B91AF"/>
                </a:solidFill>
                <a:highlight>
                  <a:srgbClr val="FFFFFF"/>
                </a:highlight>
                <a:latin typeface="Cascadia Mono" panose="020B0609020000020004" pitchFamily="49" charset="0"/>
              </a:rPr>
              <a:t>IGameSerialize</a:t>
            </a:r>
            <a:endParaRPr lang="en-US" sz="1800" dirty="0"/>
          </a:p>
          <a:p>
            <a:pPr marL="0" indent="0">
              <a:buNone/>
            </a:pPr>
            <a:endParaRPr lang="en-US" dirty="0"/>
          </a:p>
          <a:p>
            <a:pPr marL="0" indent="0">
              <a:buNone/>
            </a:pPr>
            <a:r>
              <a:rPr lang="en-US" dirty="0"/>
              <a:t>Add the </a:t>
            </a:r>
            <a:r>
              <a:rPr lang="en-US" dirty="0" err="1"/>
              <a:t>IGameSerialize</a:t>
            </a:r>
            <a:r>
              <a:rPr lang="en-US" dirty="0"/>
              <a:t> interface to the class interface definitions</a:t>
            </a:r>
          </a:p>
        </p:txBody>
      </p:sp>
    </p:spTree>
    <p:extLst>
      <p:ext uri="{BB962C8B-B14F-4D97-AF65-F5344CB8AC3E}">
        <p14:creationId xmlns:p14="http://schemas.microsoft.com/office/powerpoint/2010/main" val="2815945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8FCDB-C51A-0160-D86E-268904674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3BB0E-362B-6D9B-C0C0-177112C14138}"/>
              </a:ext>
            </a:extLst>
          </p:cNvPr>
          <p:cNvSpPr>
            <a:spLocks noGrp="1"/>
          </p:cNvSpPr>
          <p:nvPr>
            <p:ph type="title"/>
          </p:nvPr>
        </p:nvSpPr>
        <p:spPr/>
        <p:txBody>
          <a:bodyPr/>
          <a:lstStyle/>
          <a:p>
            <a:r>
              <a:rPr lang="en-US" dirty="0"/>
              <a:t>Serialization Signatures (part 2) – Serialize Method</a:t>
            </a:r>
          </a:p>
        </p:txBody>
      </p:sp>
      <p:sp>
        <p:nvSpPr>
          <p:cNvPr id="5" name="Content Placeholder 4">
            <a:extLst>
              <a:ext uri="{FF2B5EF4-FFF2-40B4-BE49-F238E27FC236}">
                <a16:creationId xmlns:a16="http://schemas.microsoft.com/office/drawing/2014/main" id="{5ED39E43-E6AB-C8E0-3313-DCCE62B94DA7}"/>
              </a:ext>
            </a:extLst>
          </p:cNvPr>
          <p:cNvSpPr>
            <a:spLocks noGrp="1"/>
          </p:cNvSpPr>
          <p:nvPr>
            <p:ph idx="1"/>
          </p:nvPr>
        </p:nvSpPr>
        <p:spPr>
          <a:xfrm>
            <a:off x="838200" y="3863624"/>
            <a:ext cx="10515600" cy="2275919"/>
          </a:xfrm>
        </p:spPr>
        <p:txBody>
          <a:bodyPr>
            <a:normAutofit fontScale="70000" lnSpcReduction="20000"/>
          </a:bodyPr>
          <a:lstStyle/>
          <a:p>
            <a:pPr marL="514350" indent="-514350">
              <a:buAutoNum type="arabicPeriod"/>
            </a:pPr>
            <a:r>
              <a:rPr lang="en-US" dirty="0"/>
              <a:t>Implement the Serialize method.</a:t>
            </a:r>
          </a:p>
          <a:p>
            <a:pPr marL="514350" indent="-514350">
              <a:buAutoNum type="arabicPeriod"/>
            </a:pPr>
            <a:r>
              <a:rPr lang="en-US" dirty="0"/>
              <a:t>Return a new </a:t>
            </a:r>
            <a:r>
              <a:rPr lang="en-US" dirty="0" err="1"/>
              <a:t>DictionaryGameStateBag</a:t>
            </a:r>
            <a:r>
              <a:rPr lang="en-US" dirty="0"/>
              <a:t>.</a:t>
            </a:r>
          </a:p>
          <a:p>
            <a:pPr marL="514350" indent="-514350">
              <a:buAutoNum type="arabicPeriod"/>
            </a:pPr>
            <a:r>
              <a:rPr lang="en-US" dirty="0"/>
              <a:t>Add a single parameter for each field.  State data should be declared as fields not properties.  This is a coding requirement but should be consistent throughout the code base.</a:t>
            </a:r>
          </a:p>
          <a:p>
            <a:pPr marL="514350" indent="-514350">
              <a:buAutoNum type="arabicPeriod"/>
            </a:pPr>
            <a:r>
              <a:rPr lang="en-US" dirty="0"/>
              <a:t>Each parameter needs to be a tuple of the field name a </a:t>
            </a:r>
            <a:r>
              <a:rPr lang="en-US" dirty="0" err="1"/>
              <a:t>SaveGameState</a:t>
            </a:r>
            <a:r>
              <a:rPr lang="en-US" dirty="0"/>
              <a:t>.  Use the </a:t>
            </a:r>
            <a:r>
              <a:rPr lang="en-US" dirty="0" err="1"/>
              <a:t>SaveGameState.CreateGameStateBag</a:t>
            </a:r>
            <a:r>
              <a:rPr lang="en-US" dirty="0"/>
              <a:t> or </a:t>
            </a:r>
            <a:r>
              <a:rPr lang="en-US" dirty="0" err="1"/>
              <a:t>SaveGameState.CreateDerivedGameStateBag</a:t>
            </a:r>
            <a:r>
              <a:rPr lang="en-US" dirty="0"/>
              <a:t> method to create the </a:t>
            </a:r>
            <a:r>
              <a:rPr lang="en-US" dirty="0" err="1"/>
              <a:t>SaveGameState</a:t>
            </a:r>
            <a:r>
              <a:rPr lang="en-US" dirty="0"/>
              <a:t> object.</a:t>
            </a:r>
          </a:p>
        </p:txBody>
      </p:sp>
      <p:pic>
        <p:nvPicPr>
          <p:cNvPr id="7" name="Picture 6">
            <a:extLst>
              <a:ext uri="{FF2B5EF4-FFF2-40B4-BE49-F238E27FC236}">
                <a16:creationId xmlns:a16="http://schemas.microsoft.com/office/drawing/2014/main" id="{B63FFD44-A6FC-C916-A0E4-6C65ACF9BE1B}"/>
              </a:ext>
            </a:extLst>
          </p:cNvPr>
          <p:cNvPicPr>
            <a:picLocks noChangeAspect="1"/>
          </p:cNvPicPr>
          <p:nvPr/>
        </p:nvPicPr>
        <p:blipFill>
          <a:blip r:embed="rId2"/>
          <a:stretch>
            <a:fillRect/>
          </a:stretch>
        </p:blipFill>
        <p:spPr>
          <a:xfrm>
            <a:off x="838200" y="1690688"/>
            <a:ext cx="8191500" cy="1981200"/>
          </a:xfrm>
          <a:prstGeom prst="rect">
            <a:avLst/>
          </a:prstGeom>
        </p:spPr>
      </p:pic>
    </p:spTree>
    <p:extLst>
      <p:ext uri="{BB962C8B-B14F-4D97-AF65-F5344CB8AC3E}">
        <p14:creationId xmlns:p14="http://schemas.microsoft.com/office/powerpoint/2010/main" val="441152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E39B8-3722-E070-6D02-43480BC0B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DCC21-72B5-32A3-2AC7-59351FFB237B}"/>
              </a:ext>
            </a:extLst>
          </p:cNvPr>
          <p:cNvSpPr>
            <a:spLocks noGrp="1"/>
          </p:cNvSpPr>
          <p:nvPr>
            <p:ph type="title"/>
          </p:nvPr>
        </p:nvSpPr>
        <p:spPr/>
        <p:txBody>
          <a:bodyPr/>
          <a:lstStyle/>
          <a:p>
            <a:r>
              <a:rPr lang="en-US" dirty="0"/>
              <a:t>Serialization Signatures (part 3) – Reference of Unknown/Dynamic Types</a:t>
            </a:r>
          </a:p>
        </p:txBody>
      </p:sp>
      <p:sp>
        <p:nvSpPr>
          <p:cNvPr id="5" name="Content Placeholder 4">
            <a:extLst>
              <a:ext uri="{FF2B5EF4-FFF2-40B4-BE49-F238E27FC236}">
                <a16:creationId xmlns:a16="http://schemas.microsoft.com/office/drawing/2014/main" id="{F034C977-1556-455E-3799-04F64B81472A}"/>
              </a:ext>
            </a:extLst>
          </p:cNvPr>
          <p:cNvSpPr>
            <a:spLocks noGrp="1"/>
          </p:cNvSpPr>
          <p:nvPr>
            <p:ph idx="1"/>
          </p:nvPr>
        </p:nvSpPr>
        <p:spPr>
          <a:xfrm>
            <a:off x="838200" y="1690688"/>
            <a:ext cx="10515600" cy="4448855"/>
          </a:xfrm>
        </p:spPr>
        <p:txBody>
          <a:bodyPr>
            <a:normAutofit/>
          </a:bodyPr>
          <a:lstStyle/>
          <a:p>
            <a:r>
              <a:rPr lang="en-US" sz="1800" dirty="0"/>
              <a:t>The following signature is used to serialize a reference object that was not already serialized and the type of the object being serialized can be one of many types.  This is a special case scenario that the </a:t>
            </a:r>
            <a:r>
              <a:rPr lang="en-US" sz="1800" dirty="0" err="1"/>
              <a:t>SingletonRepository</a:t>
            </a:r>
            <a:r>
              <a:rPr lang="en-US" sz="1800" dirty="0"/>
              <a:t> uses.  </a:t>
            </a:r>
          </a:p>
          <a:p>
            <a:r>
              <a:rPr lang="en-US" sz="1800" dirty="0"/>
              <a:t>Serialization of derived types typically follows a different pattern because there is usually a small number of fixed derived types, but the </a:t>
            </a:r>
            <a:r>
              <a:rPr lang="en-US" sz="1800" dirty="0" err="1"/>
              <a:t>SingletonRepository</a:t>
            </a:r>
            <a:r>
              <a:rPr lang="en-US" sz="1800" dirty="0"/>
              <a:t> needs to supports an large number of derived types.  The derived types is limited to 255 types due to the usage of byte? </a:t>
            </a:r>
            <a:r>
              <a:rPr lang="en-US" sz="1800" dirty="0" err="1"/>
              <a:t>derivedTypeId</a:t>
            </a:r>
            <a:r>
              <a:rPr lang="en-US" sz="1800" dirty="0"/>
              <a:t>.</a:t>
            </a:r>
          </a:p>
          <a:p>
            <a:pPr marL="0" indent="0">
              <a:buNone/>
            </a:pPr>
            <a:r>
              <a:rPr lang="en-US" sz="1200" dirty="0" err="1">
                <a:solidFill>
                  <a:srgbClr val="2B91AF"/>
                </a:solidFill>
                <a:highlight>
                  <a:srgbClr val="FFFFFF"/>
                </a:highlight>
                <a:latin typeface="Cascadia Mono" panose="020B0609020000020004" pitchFamily="49" charset="0"/>
              </a:rPr>
              <a:t>GameStateBag</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singletonGameStateBag</a:t>
            </a:r>
            <a:r>
              <a:rPr lang="en-US" sz="1200" dirty="0">
                <a:solidFill>
                  <a:srgbClr val="000000"/>
                </a:solidFill>
                <a:highlight>
                  <a:srgbClr val="FFFFFF"/>
                </a:highlight>
                <a:latin typeface="Cascadia Mono" panose="020B0609020000020004" pitchFamily="49" charset="0"/>
              </a:rPr>
              <a:t> = </a:t>
            </a:r>
            <a:r>
              <a:rPr lang="en-US" sz="1200" dirty="0" err="1">
                <a:solidFill>
                  <a:srgbClr val="000000"/>
                </a:solidFill>
                <a:highlight>
                  <a:srgbClr val="FFFFFF"/>
                </a:highlight>
                <a:latin typeface="Cascadia Mono" panose="020B0609020000020004" pitchFamily="49" charset="0"/>
              </a:rPr>
              <a:t>saveGameState.CreateDerivedGameStateBag</a:t>
            </a:r>
            <a:r>
              <a:rPr lang="en-US" sz="1200" dirty="0">
                <a:solidFill>
                  <a:srgbClr val="000000"/>
                </a:solidFill>
                <a:highlight>
                  <a:srgbClr val="FFFFFF"/>
                </a:highlight>
                <a:latin typeface="Cascadia Mono" panose="020B0609020000020004" pitchFamily="49" charset="0"/>
              </a:rPr>
              <a:t>(singleton);</a:t>
            </a:r>
            <a:endParaRPr lang="en-US" sz="1200" dirty="0"/>
          </a:p>
          <a:p>
            <a:pPr marL="0" indent="0">
              <a:buNone/>
            </a:pPr>
            <a:endParaRPr lang="en-US" sz="1200" dirty="0"/>
          </a:p>
        </p:txBody>
      </p:sp>
    </p:spTree>
    <p:extLst>
      <p:ext uri="{BB962C8B-B14F-4D97-AF65-F5344CB8AC3E}">
        <p14:creationId xmlns:p14="http://schemas.microsoft.com/office/powerpoint/2010/main" val="2838445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74B34-20E4-6775-A06A-2370F386F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2E4A3-2910-EF02-2F4D-308B61DD6C7B}"/>
              </a:ext>
            </a:extLst>
          </p:cNvPr>
          <p:cNvSpPr>
            <a:spLocks noGrp="1"/>
          </p:cNvSpPr>
          <p:nvPr>
            <p:ph type="title"/>
          </p:nvPr>
        </p:nvSpPr>
        <p:spPr/>
        <p:txBody>
          <a:bodyPr/>
          <a:lstStyle/>
          <a:p>
            <a:r>
              <a:rPr lang="en-US" dirty="0"/>
              <a:t>Serialization Signatures (part 3) – Reference of  Serialized Types</a:t>
            </a:r>
          </a:p>
        </p:txBody>
      </p:sp>
      <p:sp>
        <p:nvSpPr>
          <p:cNvPr id="5" name="Content Placeholder 4">
            <a:extLst>
              <a:ext uri="{FF2B5EF4-FFF2-40B4-BE49-F238E27FC236}">
                <a16:creationId xmlns:a16="http://schemas.microsoft.com/office/drawing/2014/main" id="{8E24ACAD-3F9A-432B-800A-89EF1D764735}"/>
              </a:ext>
            </a:extLst>
          </p:cNvPr>
          <p:cNvSpPr>
            <a:spLocks noGrp="1"/>
          </p:cNvSpPr>
          <p:nvPr>
            <p:ph idx="1"/>
          </p:nvPr>
        </p:nvSpPr>
        <p:spPr>
          <a:xfrm>
            <a:off x="838200" y="1690688"/>
            <a:ext cx="10515600" cy="4448855"/>
          </a:xfrm>
        </p:spPr>
        <p:txBody>
          <a:bodyPr>
            <a:normAutofit/>
          </a:bodyPr>
          <a:lstStyle/>
          <a:p>
            <a:r>
              <a:rPr lang="en-US" sz="1800" dirty="0"/>
              <a:t>The following signature is used to serialize a reference object that was already serialized and no support for constructing a new reference is available. The signature for this scenario is similar to the serialization for many unknown types on the previous slide, but an additional parameter is being used to ensure the pre-serialization and throw if the object wasn't already serialized.</a:t>
            </a:r>
          </a:p>
          <a:p>
            <a:pPr marL="0" indent="0">
              <a:buNone/>
            </a:pPr>
            <a:r>
              <a:rPr lang="en-US" sz="1200" dirty="0">
                <a:solidFill>
                  <a:srgbClr val="000000"/>
                </a:solidFill>
                <a:highlight>
                  <a:srgbClr val="FFFFFF"/>
                </a:highlight>
                <a:latin typeface="Cascadia Mono" panose="020B0609020000020004" pitchFamily="49" charset="0"/>
              </a:rPr>
              <a:t>(</a:t>
            </a:r>
            <a:r>
              <a:rPr lang="en-US" sz="1200" dirty="0" err="1">
                <a:solidFill>
                  <a:srgbClr val="0000FF"/>
                </a:solidFill>
                <a:highlight>
                  <a:srgbClr val="FFFFFF"/>
                </a:highlight>
                <a:latin typeface="Cascadia Mono" panose="020B0609020000020004" pitchFamily="49" charset="0"/>
              </a:rPr>
              <a:t>nameof</a:t>
            </a:r>
            <a:r>
              <a:rPr lang="en-US" sz="1200" dirty="0">
                <a:solidFill>
                  <a:srgbClr val="000000"/>
                </a:solidFill>
                <a:highlight>
                  <a:srgbClr val="FFFFFF"/>
                </a:highlight>
                <a:latin typeface="Cascadia Mono" panose="020B0609020000020004" pitchFamily="49" charset="0"/>
              </a:rPr>
              <a:t>(Attribute), </a:t>
            </a:r>
            <a:r>
              <a:rPr lang="en-US" sz="1200" dirty="0" err="1">
                <a:solidFill>
                  <a:srgbClr val="000000"/>
                </a:solidFill>
                <a:highlight>
                  <a:srgbClr val="FFFFFF"/>
                </a:highlight>
                <a:latin typeface="Cascadia Mono" panose="020B0609020000020004" pitchFamily="49" charset="0"/>
              </a:rPr>
              <a:t>saveGameState.CreateDerivedGameStateBag</a:t>
            </a:r>
            <a:r>
              <a:rPr lang="en-US" sz="1200" dirty="0">
                <a:solidFill>
                  <a:srgbClr val="000000"/>
                </a:solidFill>
                <a:highlight>
                  <a:srgbClr val="FFFFFF"/>
                </a:highlight>
                <a:latin typeface="Cascadia Mono" panose="020B0609020000020004" pitchFamily="49" charset="0"/>
              </a:rPr>
              <a:t>(Attribute, </a:t>
            </a:r>
            <a:r>
              <a:rPr lang="en-US" sz="1200" dirty="0">
                <a:solidFill>
                  <a:srgbClr val="0000FF"/>
                </a:solidFill>
                <a:highlight>
                  <a:srgbClr val="FFFFFF"/>
                </a:highlight>
                <a:latin typeface="Cascadia Mono" panose="020B0609020000020004" pitchFamily="49" charset="0"/>
              </a:rPr>
              <a:t>false</a:t>
            </a:r>
            <a:r>
              <a:rPr lang="en-US" sz="1200" dirty="0">
                <a:solidFill>
                  <a:srgbClr val="000000"/>
                </a:solidFill>
                <a:highlight>
                  <a:srgbClr val="FFFFFF"/>
                </a:highlight>
                <a:latin typeface="Cascadia Mono" panose="020B0609020000020004" pitchFamily="49" charset="0"/>
              </a:rPr>
              <a:t>))</a:t>
            </a:r>
            <a:endParaRPr lang="en-US" sz="1200" dirty="0"/>
          </a:p>
          <a:p>
            <a:r>
              <a:rPr lang="en-US" sz="1800" dirty="0"/>
              <a:t>This is also a special case where </a:t>
            </a:r>
            <a:r>
              <a:rPr lang="en-US" sz="1800" dirty="0" err="1"/>
              <a:t>EffectiveAttributeSet</a:t>
            </a:r>
            <a:r>
              <a:rPr lang="en-US" sz="1800" dirty="0"/>
              <a:t> is the only object utilizing this feature.</a:t>
            </a:r>
          </a:p>
          <a:p>
            <a:pPr marL="0" indent="0">
              <a:buNone/>
            </a:pPr>
            <a:r>
              <a:rPr lang="en-US" sz="1200" dirty="0">
                <a:solidFill>
                  <a:srgbClr val="000000"/>
                </a:solidFill>
                <a:highlight>
                  <a:srgbClr val="FFFFFF"/>
                </a:highlight>
                <a:latin typeface="Cascadia Mono" panose="020B0609020000020004" pitchFamily="49" charset="0"/>
              </a:rPr>
              <a:t>(</a:t>
            </a:r>
            <a:r>
              <a:rPr lang="en-US" sz="1200" dirty="0" err="1">
                <a:solidFill>
                  <a:srgbClr val="0000FF"/>
                </a:solidFill>
                <a:highlight>
                  <a:srgbClr val="FFFFFF"/>
                </a:highlight>
                <a:latin typeface="Cascadia Mono" panose="020B0609020000020004" pitchFamily="49" charset="0"/>
              </a:rPr>
              <a:t>nameof</a:t>
            </a:r>
            <a:r>
              <a:rPr lang="en-US" sz="1200" dirty="0">
                <a:solidFill>
                  <a:srgbClr val="000000"/>
                </a:solidFill>
                <a:highlight>
                  <a:srgbClr val="FFFFFF"/>
                </a:highlight>
                <a:latin typeface="Cascadia Mono" panose="020B0609020000020004" pitchFamily="49" charset="0"/>
              </a:rPr>
              <a:t>(Knowledge), </a:t>
            </a:r>
            <a:r>
              <a:rPr lang="en-US" sz="1200" dirty="0" err="1">
                <a:solidFill>
                  <a:srgbClr val="000000"/>
                </a:solidFill>
                <a:highlight>
                  <a:srgbClr val="FFFFFF"/>
                </a:highlight>
                <a:latin typeface="Cascadia Mono" panose="020B0609020000020004" pitchFamily="49" charset="0"/>
              </a:rPr>
              <a:t>saveGameState.CreateDerivedGameStateBag</a:t>
            </a:r>
            <a:r>
              <a:rPr lang="en-US" sz="1200" dirty="0">
                <a:solidFill>
                  <a:srgbClr val="000000"/>
                </a:solidFill>
                <a:highlight>
                  <a:srgbClr val="FFFFFF"/>
                </a:highlight>
                <a:latin typeface="Cascadia Mono" panose="020B0609020000020004" pitchFamily="49" charset="0"/>
              </a:rPr>
              <a:t>(Knowledge,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MonsterKnowledge</a:t>
            </a:r>
            <a:r>
              <a:rPr lang="en-US" sz="1200" dirty="0">
                <a:solidFill>
                  <a:srgbClr val="000000"/>
                </a:solidFill>
                <a:highlight>
                  <a:srgbClr val="FFFFFF"/>
                </a:highlight>
                <a:latin typeface="Cascadia Mono" panose="020B0609020000020004" pitchFamily="49" charset="0"/>
              </a:rPr>
              <a:t>)))</a:t>
            </a:r>
            <a:endParaRPr lang="en-US" sz="1200" dirty="0"/>
          </a:p>
        </p:txBody>
      </p:sp>
    </p:spTree>
    <p:extLst>
      <p:ext uri="{BB962C8B-B14F-4D97-AF65-F5344CB8AC3E}">
        <p14:creationId xmlns:p14="http://schemas.microsoft.com/office/powerpoint/2010/main" val="1149202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03080-C7D6-D28A-5C2B-06C413EC7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F16D0-F213-6E17-98FC-A45AF58B7BC1}"/>
              </a:ext>
            </a:extLst>
          </p:cNvPr>
          <p:cNvSpPr>
            <a:spLocks noGrp="1"/>
          </p:cNvSpPr>
          <p:nvPr>
            <p:ph type="title"/>
          </p:nvPr>
        </p:nvSpPr>
        <p:spPr/>
        <p:txBody>
          <a:bodyPr/>
          <a:lstStyle/>
          <a:p>
            <a:r>
              <a:rPr lang="en-US" dirty="0"/>
              <a:t>Serialization Signatures (part 5) – Reference of  Non-Derived/Sealed Types</a:t>
            </a:r>
          </a:p>
        </p:txBody>
      </p:sp>
      <p:sp>
        <p:nvSpPr>
          <p:cNvPr id="5" name="Content Placeholder 4">
            <a:extLst>
              <a:ext uri="{FF2B5EF4-FFF2-40B4-BE49-F238E27FC236}">
                <a16:creationId xmlns:a16="http://schemas.microsoft.com/office/drawing/2014/main" id="{A18C56AF-4390-7BA5-3B77-D0319AA0053F}"/>
              </a:ext>
            </a:extLst>
          </p:cNvPr>
          <p:cNvSpPr>
            <a:spLocks noGrp="1"/>
          </p:cNvSpPr>
          <p:nvPr>
            <p:ph idx="1"/>
          </p:nvPr>
        </p:nvSpPr>
        <p:spPr>
          <a:xfrm>
            <a:off x="838200" y="1690688"/>
            <a:ext cx="10515600" cy="4448855"/>
          </a:xfrm>
        </p:spPr>
        <p:txBody>
          <a:bodyPr>
            <a:normAutofit/>
          </a:bodyPr>
          <a:lstStyle/>
          <a:p>
            <a:r>
              <a:rPr lang="en-US" sz="1800" dirty="0"/>
              <a:t>The following signature is used for typical serialization for non-derived/sealed types.</a:t>
            </a:r>
          </a:p>
          <a:p>
            <a:pPr marL="0" indent="0">
              <a:buNone/>
            </a:pPr>
            <a:r>
              <a:rPr lang="en-US" sz="1200" dirty="0">
                <a:solidFill>
                  <a:srgbClr val="000000"/>
                </a:solidFill>
                <a:highlight>
                  <a:srgbClr val="FFFFFF"/>
                </a:highlight>
                <a:latin typeface="Cascadia Mono" panose="020B0609020000020004" pitchFamily="49" charset="0"/>
              </a:rPr>
              <a:t>(</a:t>
            </a:r>
            <a:r>
              <a:rPr lang="en-US" sz="1200" dirty="0" err="1">
                <a:solidFill>
                  <a:srgbClr val="0000FF"/>
                </a:solidFill>
                <a:highlight>
                  <a:srgbClr val="FFFFFF"/>
                </a:highlight>
                <a:latin typeface="Cascadia Mono" panose="020B0609020000020004" pitchFamily="49" charset="0"/>
              </a:rPr>
              <a:t>nameof</a:t>
            </a:r>
            <a:r>
              <a:rPr lang="en-US" sz="1200" dirty="0">
                <a:solidFill>
                  <a:srgbClr val="000000"/>
                </a:solidFill>
                <a:highlight>
                  <a:srgbClr val="FFFFFF"/>
                </a:highlight>
                <a:latin typeface="Cascadia Mono" panose="020B0609020000020004" pitchFamily="49" charset="0"/>
              </a:rPr>
              <a:t>(Knowledge), </a:t>
            </a:r>
            <a:r>
              <a:rPr lang="en-US" sz="1200" dirty="0" err="1">
                <a:solidFill>
                  <a:srgbClr val="000000"/>
                </a:solidFill>
                <a:highlight>
                  <a:srgbClr val="FFFFFF"/>
                </a:highlight>
                <a:latin typeface="Cascadia Mono" panose="020B0609020000020004" pitchFamily="49" charset="0"/>
              </a:rPr>
              <a:t>saveGameState.CreateDerivedGameStateBag</a:t>
            </a:r>
            <a:r>
              <a:rPr lang="en-US" sz="1200" dirty="0">
                <a:solidFill>
                  <a:srgbClr val="000000"/>
                </a:solidFill>
                <a:highlight>
                  <a:srgbClr val="FFFFFF"/>
                </a:highlight>
                <a:latin typeface="Cascadia Mono" panose="020B0609020000020004" pitchFamily="49" charset="0"/>
              </a:rPr>
              <a:t>(Knowledge,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MonsterKnowledge</a:t>
            </a:r>
            <a:r>
              <a:rPr lang="en-US" sz="1200" dirty="0">
                <a:solidFill>
                  <a:srgbClr val="000000"/>
                </a:solidFill>
                <a:highlight>
                  <a:srgbClr val="FFFFFF"/>
                </a:highlight>
                <a:latin typeface="Cascadia Mono" panose="020B0609020000020004" pitchFamily="49" charset="0"/>
              </a:rPr>
              <a:t>)))</a:t>
            </a:r>
            <a:endParaRPr lang="en-US" sz="1200" dirty="0"/>
          </a:p>
          <a:p>
            <a:r>
              <a:rPr lang="en-US" sz="1800" dirty="0"/>
              <a:t>Most objects being serialized in the game will use this signature.</a:t>
            </a:r>
          </a:p>
          <a:p>
            <a:r>
              <a:rPr lang="en-US" sz="1800" dirty="0"/>
              <a:t>The type being serialized cannot have derived types.</a:t>
            </a:r>
          </a:p>
          <a:p>
            <a:pPr marL="0" indent="0">
              <a:buNone/>
            </a:pPr>
            <a:endParaRPr lang="en-US" sz="1200" dirty="0"/>
          </a:p>
        </p:txBody>
      </p:sp>
    </p:spTree>
    <p:extLst>
      <p:ext uri="{BB962C8B-B14F-4D97-AF65-F5344CB8AC3E}">
        <p14:creationId xmlns:p14="http://schemas.microsoft.com/office/powerpoint/2010/main" val="733377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91EC1-73F1-BFAD-DD05-78983522C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38B9F-9795-1091-9C60-C690F5256400}"/>
              </a:ext>
            </a:extLst>
          </p:cNvPr>
          <p:cNvSpPr>
            <a:spLocks noGrp="1"/>
          </p:cNvSpPr>
          <p:nvPr>
            <p:ph type="title"/>
          </p:nvPr>
        </p:nvSpPr>
        <p:spPr/>
        <p:txBody>
          <a:bodyPr/>
          <a:lstStyle/>
          <a:p>
            <a:r>
              <a:rPr lang="en-US" dirty="0"/>
              <a:t>Serialization Signatures (part 6) – Reference of  </a:t>
            </a:r>
            <a:r>
              <a:rPr lang="en-US" dirty="0" err="1"/>
              <a:t>Dervied</a:t>
            </a:r>
            <a:r>
              <a:rPr lang="en-US" dirty="0"/>
              <a:t> Types</a:t>
            </a:r>
          </a:p>
        </p:txBody>
      </p:sp>
      <p:sp>
        <p:nvSpPr>
          <p:cNvPr id="5" name="Content Placeholder 4">
            <a:extLst>
              <a:ext uri="{FF2B5EF4-FFF2-40B4-BE49-F238E27FC236}">
                <a16:creationId xmlns:a16="http://schemas.microsoft.com/office/drawing/2014/main" id="{CEA18BF5-A29F-DFEE-6E19-17504CE3CF65}"/>
              </a:ext>
            </a:extLst>
          </p:cNvPr>
          <p:cNvSpPr>
            <a:spLocks noGrp="1"/>
          </p:cNvSpPr>
          <p:nvPr>
            <p:ph idx="1"/>
          </p:nvPr>
        </p:nvSpPr>
        <p:spPr>
          <a:xfrm>
            <a:off x="838200" y="1690688"/>
            <a:ext cx="10515600" cy="4448855"/>
          </a:xfrm>
        </p:spPr>
        <p:txBody>
          <a:bodyPr>
            <a:normAutofit/>
          </a:bodyPr>
          <a:lstStyle/>
          <a:p>
            <a:r>
              <a:rPr lang="en-US" sz="1800" dirty="0"/>
              <a:t>The following signature is used to serialize a type that has derived types.</a:t>
            </a:r>
          </a:p>
          <a:p>
            <a:pPr marL="0" indent="0">
              <a:buNone/>
            </a:pPr>
            <a:r>
              <a:rPr lang="en-US" sz="1200" dirty="0">
                <a:solidFill>
                  <a:srgbClr val="000000"/>
                </a:solidFill>
                <a:highlight>
                  <a:srgbClr val="FFFFFF"/>
                </a:highlight>
                <a:latin typeface="Cascadia Mono" panose="020B0609020000020004" pitchFamily="49" charset="0"/>
              </a:rPr>
              <a:t>(</a:t>
            </a:r>
            <a:r>
              <a:rPr lang="en-US" sz="1200" dirty="0" err="1">
                <a:solidFill>
                  <a:srgbClr val="0000FF"/>
                </a:solidFill>
                <a:highlight>
                  <a:srgbClr val="FFFFFF"/>
                </a:highlight>
                <a:latin typeface="Cascadia Mono" panose="020B0609020000020004" pitchFamily="49" charset="0"/>
              </a:rPr>
              <a:t>nameof</a:t>
            </a:r>
            <a:r>
              <a:rPr lang="en-US" sz="1200" dirty="0">
                <a:solidFill>
                  <a:srgbClr val="000000"/>
                </a:solidFill>
                <a:highlight>
                  <a:srgbClr val="FFFFFF"/>
                </a:highlight>
                <a:latin typeface="Cascadia Mono" panose="020B0609020000020004" pitchFamily="49" charset="0"/>
              </a:rPr>
              <a:t>(</a:t>
            </a:r>
            <a:r>
              <a:rPr lang="en-US" sz="1200" dirty="0" err="1">
                <a:solidFill>
                  <a:srgbClr val="000000"/>
                </a:solidFill>
                <a:highlight>
                  <a:srgbClr val="FFFFFF"/>
                </a:highlight>
                <a:latin typeface="Cascadia Mono" panose="020B0609020000020004" pitchFamily="49" charset="0"/>
              </a:rPr>
              <a:t>RSpells</a:t>
            </a:r>
            <a:r>
              <a:rPr lang="en-US" sz="1200" dirty="0">
                <a:solidFill>
                  <a:srgbClr val="000000"/>
                </a:solidFill>
                <a:highlight>
                  <a:srgbClr val="FFFFFF"/>
                </a:highlight>
                <a:latin typeface="Cascadia Mono" panose="020B0609020000020004" pitchFamily="49" charset="0"/>
              </a:rPr>
              <a:t>), </a:t>
            </a:r>
            <a:r>
              <a:rPr lang="en-US" sz="1200" dirty="0" err="1">
                <a:solidFill>
                  <a:srgbClr val="000000"/>
                </a:solidFill>
                <a:highlight>
                  <a:srgbClr val="FFFFFF"/>
                </a:highlight>
                <a:latin typeface="Cascadia Mono" panose="020B0609020000020004" pitchFamily="49" charset="0"/>
              </a:rPr>
              <a:t>saveGameState.CreateDerivedGameStateBag</a:t>
            </a:r>
            <a:r>
              <a:rPr lang="en-US" sz="1200" dirty="0">
                <a:solidFill>
                  <a:srgbClr val="000000"/>
                </a:solidFill>
                <a:highlight>
                  <a:srgbClr val="FFFFFF"/>
                </a:highlight>
                <a:latin typeface="Cascadia Mono" panose="020B0609020000020004" pitchFamily="49" charset="0"/>
              </a:rPr>
              <a:t>(</a:t>
            </a:r>
            <a:r>
              <a:rPr lang="en-US" sz="1200" dirty="0" err="1">
                <a:solidFill>
                  <a:srgbClr val="000000"/>
                </a:solidFill>
                <a:highlight>
                  <a:srgbClr val="FFFFFF"/>
                </a:highlight>
                <a:latin typeface="Cascadia Mono" panose="020B0609020000020004" pitchFamily="49" charset="0"/>
              </a:rPr>
              <a:t>RSpells</a:t>
            </a:r>
            <a:r>
              <a:rPr lang="en-US" sz="1200" dirty="0">
                <a:solidFill>
                  <a:srgbClr val="000000"/>
                </a:solidFill>
                <a:highlight>
                  <a:srgbClr val="FFFFFF"/>
                </a:highlight>
                <a:latin typeface="Cascadia Mono" panose="020B0609020000020004" pitchFamily="49" charset="0"/>
              </a:rPr>
              <a:t>,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CauseWoundsMonsterSpell</a:t>
            </a:r>
            <a:r>
              <a:rPr lang="en-US" sz="1200" dirty="0">
                <a:solidFill>
                  <a:srgbClr val="000000"/>
                </a:solidFill>
                <a:highlight>
                  <a:srgbClr val="FFFFFF"/>
                </a:highlight>
                <a:latin typeface="Cascadia Mono" panose="020B0609020000020004" pitchFamily="49" charset="0"/>
              </a:rPr>
              <a:t>),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ProjectileMonsterSpell</a:t>
            </a:r>
            <a:r>
              <a:rPr lang="en-US" sz="1200" dirty="0">
                <a:solidFill>
                  <a:srgbClr val="000000"/>
                </a:solidFill>
                <a:highlight>
                  <a:srgbClr val="FFFFFF"/>
                </a:highlight>
                <a:latin typeface="Cascadia Mono" panose="020B0609020000020004" pitchFamily="49" charset="0"/>
              </a:rPr>
              <a:t>),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ScriptMonsterSpell</a:t>
            </a:r>
            <a:r>
              <a:rPr lang="en-US" sz="1200" dirty="0">
                <a:solidFill>
                  <a:srgbClr val="000000"/>
                </a:solidFill>
                <a:highlight>
                  <a:srgbClr val="FFFFFF"/>
                </a:highlight>
                <a:latin typeface="Cascadia Mono" panose="020B0609020000020004" pitchFamily="49" charset="0"/>
              </a:rPr>
              <a:t>), </a:t>
            </a:r>
            <a:r>
              <a:rPr lang="en-US" sz="1200" dirty="0" err="1">
                <a:solidFill>
                  <a:srgbClr val="0000FF"/>
                </a:solidFill>
                <a:highlight>
                  <a:srgbClr val="FFFFFF"/>
                </a:highlight>
                <a:latin typeface="Cascadia Mono" panose="020B0609020000020004" pitchFamily="49" charset="0"/>
              </a:rPr>
              <a:t>typeof</a:t>
            </a:r>
            <a:r>
              <a:rPr lang="en-US" sz="1200" dirty="0">
                <a:solidFill>
                  <a:srgbClr val="000000"/>
                </a:solidFill>
                <a:highlight>
                  <a:srgbClr val="FFFFFF"/>
                </a:highlight>
                <a:latin typeface="Cascadia Mono" panose="020B0609020000020004" pitchFamily="49" charset="0"/>
              </a:rPr>
              <a:t>(</a:t>
            </a:r>
            <a:r>
              <a:rPr lang="en-US" sz="1200" dirty="0" err="1">
                <a:solidFill>
                  <a:srgbClr val="2B91AF"/>
                </a:solidFill>
                <a:highlight>
                  <a:srgbClr val="FFFFFF"/>
                </a:highlight>
                <a:latin typeface="Cascadia Mono" panose="020B0609020000020004" pitchFamily="49" charset="0"/>
              </a:rPr>
              <a:t>SummonMonsterSpell</a:t>
            </a:r>
            <a:r>
              <a:rPr lang="en-US" sz="1200" dirty="0">
                <a:solidFill>
                  <a:srgbClr val="000000"/>
                </a:solidFill>
                <a:highlight>
                  <a:srgbClr val="FFFFFF"/>
                </a:highlight>
                <a:latin typeface="Cascadia Mono" panose="020B0609020000020004" pitchFamily="49" charset="0"/>
              </a:rPr>
              <a:t>))),</a:t>
            </a:r>
            <a:endParaRPr lang="en-US" sz="1200" dirty="0">
              <a:highlight>
                <a:srgbClr val="FFFFFF"/>
              </a:highlight>
            </a:endParaRPr>
          </a:p>
          <a:p>
            <a:r>
              <a:rPr lang="en-US" sz="1800" dirty="0"/>
              <a:t>The type for each derived type must be supplied as parameters.</a:t>
            </a:r>
          </a:p>
          <a:p>
            <a:r>
              <a:rPr lang="en-US" sz="1800" dirty="0"/>
              <a:t>The </a:t>
            </a:r>
            <a:r>
              <a:rPr lang="en-US" sz="1800" dirty="0" err="1"/>
              <a:t>CreateDerivedGameStateBag</a:t>
            </a:r>
            <a:r>
              <a:rPr lang="en-US" sz="1800" dirty="0"/>
              <a:t> encodes a byte (limited to 255 derived types) that is used to track which derived type was serialized.  This byte is then used during the deserialization to construct the proper derived type.</a:t>
            </a:r>
          </a:p>
          <a:p>
            <a:pPr marL="0" indent="0">
              <a:buNone/>
            </a:pPr>
            <a:endParaRPr lang="en-US" sz="1200" dirty="0"/>
          </a:p>
        </p:txBody>
      </p:sp>
    </p:spTree>
    <p:extLst>
      <p:ext uri="{BB962C8B-B14F-4D97-AF65-F5344CB8AC3E}">
        <p14:creationId xmlns:p14="http://schemas.microsoft.com/office/powerpoint/2010/main" val="66189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37118</TotalTime>
  <Words>1566</Words>
  <Application>Microsoft Office PowerPoint</Application>
  <PresentationFormat>Widescreen</PresentationFormat>
  <Paragraphs>99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Cascadia Mono</vt:lpstr>
      <vt:lpstr>Courier New</vt:lpstr>
      <vt:lpstr>Office Theme</vt:lpstr>
      <vt:lpstr>AngbandOS</vt:lpstr>
      <vt:lpstr>Table of Contents</vt:lpstr>
      <vt:lpstr>Game Serialization and Deserialization</vt:lpstr>
      <vt:lpstr>Game Serialization</vt:lpstr>
      <vt:lpstr>Game Deserialization Description</vt:lpstr>
      <vt:lpstr>Game Deserialization Algorithm</vt:lpstr>
      <vt:lpstr>Serialization</vt:lpstr>
      <vt:lpstr>Singleton Repository Serialization</vt:lpstr>
      <vt:lpstr>Serialization</vt:lpstr>
      <vt:lpstr>Deserialization Completeness</vt:lpstr>
      <vt:lpstr>Deserialization Walkthrough</vt:lpstr>
      <vt:lpstr>Game State Restore</vt:lpstr>
      <vt:lpstr>Serialization Signatures (part 1) - Interface</vt:lpstr>
      <vt:lpstr>Serialization Signatures (part 2) – Serialize Method</vt:lpstr>
      <vt:lpstr>Serialization Signatures (part 3) – Reference of Unknown/Dynamic Types</vt:lpstr>
      <vt:lpstr>Serialization Signatures (part 3) – Reference of  Serialized Types</vt:lpstr>
      <vt:lpstr>Serialization Signatures (part 5) – Reference of  Non-Derived/Sealed Types</vt:lpstr>
      <vt:lpstr>Serialization Signatures (part 6) – Reference of  Dervied Types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Johnston</dc:creator>
  <cp:lastModifiedBy>Marc Johnston</cp:lastModifiedBy>
  <cp:revision>39</cp:revision>
  <dcterms:created xsi:type="dcterms:W3CDTF">2024-11-13T17:40:27Z</dcterms:created>
  <dcterms:modified xsi:type="dcterms:W3CDTF">2026-07-28T13:33:44Z</dcterms:modified>
</cp:coreProperties>
</file>